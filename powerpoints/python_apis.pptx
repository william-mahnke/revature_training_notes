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90" r:id="rId1"/>
  </p:sldMasterIdLst>
  <p:notesMasterIdLst>
    <p:notesMasterId r:id="rId27"/>
  </p:notesMasterIdLst>
  <p:handoutMasterIdLst>
    <p:handoutMasterId r:id="rId28"/>
  </p:handoutMasterIdLst>
  <p:sldIdLst>
    <p:sldId id="256" r:id="rId2"/>
    <p:sldId id="257" r:id="rId3"/>
    <p:sldId id="417" r:id="rId4"/>
    <p:sldId id="376" r:id="rId5"/>
    <p:sldId id="443" r:id="rId6"/>
    <p:sldId id="444" r:id="rId7"/>
    <p:sldId id="445" r:id="rId8"/>
    <p:sldId id="446" r:id="rId9"/>
    <p:sldId id="447" r:id="rId10"/>
    <p:sldId id="420" r:id="rId11"/>
    <p:sldId id="421" r:id="rId12"/>
    <p:sldId id="451" r:id="rId13"/>
    <p:sldId id="422" r:id="rId14"/>
    <p:sldId id="455" r:id="rId15"/>
    <p:sldId id="456" r:id="rId16"/>
    <p:sldId id="457" r:id="rId17"/>
    <p:sldId id="458" r:id="rId18"/>
    <p:sldId id="454" r:id="rId19"/>
    <p:sldId id="452" r:id="rId20"/>
    <p:sldId id="459" r:id="rId21"/>
    <p:sldId id="423" r:id="rId22"/>
    <p:sldId id="418" r:id="rId23"/>
    <p:sldId id="419" r:id="rId24"/>
    <p:sldId id="449" r:id="rId25"/>
    <p:sldId id="453" r:id="rId26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 userDrawn="1">
          <p15:clr>
            <a:srgbClr val="A4A3A4"/>
          </p15:clr>
        </p15:guide>
        <p15:guide id="2" pos="2282" userDrawn="1">
          <p15:clr>
            <a:srgbClr val="A4A3A4"/>
          </p15:clr>
        </p15:guide>
        <p15:guide id="3" orient="horz" pos="2928" userDrawn="1">
          <p15:clr>
            <a:srgbClr val="A4A3A4"/>
          </p15:clr>
        </p15:guide>
        <p15:guide id="4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regg" initials="G" lastIdx="13" clrIdx="0"/>
  <p:cmAuthor id="1" name="Tatiana" initials="T" lastIdx="1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474C55"/>
    <a:srgbClr val="669A91"/>
    <a:srgbClr val="9171A7"/>
    <a:srgbClr val="CCCC00"/>
    <a:srgbClr val="B07750"/>
    <a:srgbClr val="AC545C"/>
    <a:srgbClr val="33CCCC"/>
    <a:srgbClr val="9966FF"/>
    <a:srgbClr val="6168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6389" autoAdjust="0"/>
  </p:normalViewPr>
  <p:slideViewPr>
    <p:cSldViewPr snapToGrid="0">
      <p:cViewPr varScale="1">
        <p:scale>
          <a:sx n="59" d="100"/>
          <a:sy n="59" d="100"/>
        </p:scale>
        <p:origin x="1740" y="72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outlineViewPr>
    <p:cViewPr>
      <p:scale>
        <a:sx n="33" d="100"/>
        <a:sy n="33" d="100"/>
      </p:scale>
      <p:origin x="0" y="-890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3504" y="-48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CA869C63-99CE-7C40-A7E9-3930C61B23AB}" type="datetimeFigureOut">
              <a:t>6/18/2026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155B6EDB-6C4A-2346-91D8-76F2620B19F2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52477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E3E59D94-626A-4CE8-9932-5221A04BF234}" type="datetimeFigureOut">
              <a:rPr lang="en-US" smtClean="0"/>
              <a:t>6/18/2026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59" tIns="46579" rIns="93159" bIns="4657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59" tIns="46579" rIns="93159" bIns="4657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043CB7BC-4AFB-4847-AC93-5F4E37C870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9140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3CB7BC-4AFB-4847-AC93-5F4E37C870A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8755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3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6" b="1379"/>
          <a:stretch/>
        </p:blipFill>
        <p:spPr>
          <a:xfrm flipV="1">
            <a:off x="0" y="0"/>
            <a:ext cx="9144000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99" b="6701"/>
          <a:stretch/>
        </p:blipFill>
        <p:spPr>
          <a:xfrm flipV="1">
            <a:off x="0" y="1740436"/>
            <a:ext cx="9144000" cy="15022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2890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0989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70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01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64444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22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708408" y="153883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351116" y="154035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4708408" y="409915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9"/>
          </p:nvPr>
        </p:nvSpPr>
        <p:spPr>
          <a:xfrm>
            <a:off x="351116" y="410067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5267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Content Placeholder 45"/>
          <p:cNvSpPr>
            <a:spLocks noGrp="1"/>
          </p:cNvSpPr>
          <p:nvPr>
            <p:ph sz="quarter" idx="13"/>
          </p:nvPr>
        </p:nvSpPr>
        <p:spPr>
          <a:xfrm>
            <a:off x="157163" y="133350"/>
            <a:ext cx="8826500" cy="59515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681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6413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martArt Placeholder 2"/>
          <p:cNvSpPr>
            <a:spLocks noGrp="1"/>
          </p:cNvSpPr>
          <p:nvPr>
            <p:ph type="dgm" sz="quarter" idx="13"/>
          </p:nvPr>
        </p:nvSpPr>
        <p:spPr>
          <a:xfrm>
            <a:off x="133350" y="125413"/>
            <a:ext cx="8850313" cy="6008687"/>
          </a:xfrm>
        </p:spPr>
        <p:txBody>
          <a:bodyPr/>
          <a:lstStyle/>
          <a:p>
            <a:r>
              <a:rPr lang="en-US"/>
              <a:t>Click icon to add SmartArt graphic</a:t>
            </a:r>
          </a:p>
        </p:txBody>
      </p:sp>
    </p:spTree>
    <p:extLst>
      <p:ext uri="{BB962C8B-B14F-4D97-AF65-F5344CB8AC3E}">
        <p14:creationId xmlns:p14="http://schemas.microsoft.com/office/powerpoint/2010/main" val="299856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6251171"/>
            <a:ext cx="9144000" cy="6068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65" y="6367323"/>
            <a:ext cx="1260213" cy="39476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0010" y="1097280"/>
            <a:ext cx="8383980" cy="491012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251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flipV="1">
            <a:off x="0" y="1219200"/>
            <a:ext cx="9144000" cy="563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38531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119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4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0"/>
          <p:cNvSpPr txBox="1">
            <a:spLocks noGrp="1"/>
          </p:cNvSpPr>
          <p:nvPr>
            <p:ph type="body" idx="1"/>
          </p:nvPr>
        </p:nvSpPr>
        <p:spPr>
          <a:xfrm>
            <a:off x="157163" y="133350"/>
            <a:ext cx="8826500" cy="595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90149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preserve="1" userDrawn="1">
  <p:cSld name="Section_Title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3E5519-BCE2-45F2-2CB8-0E6D0DAEE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664" y="2816925"/>
            <a:ext cx="6222671" cy="1224150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619CA9B-AF8F-87A7-664B-F95C0134414C}"/>
              </a:ext>
            </a:extLst>
          </p:cNvPr>
          <p:cNvGrpSpPr/>
          <p:nvPr userDrawn="1"/>
        </p:nvGrpSpPr>
        <p:grpSpPr>
          <a:xfrm>
            <a:off x="6681759" y="0"/>
            <a:ext cx="2462241" cy="773113"/>
            <a:chOff x="7264458" y="365740"/>
            <a:chExt cx="1553307" cy="487719"/>
          </a:xfrm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2A9D49A4-C029-2001-5A0F-3F2082CAD22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89A9B437-540E-333F-9B54-390C0EE615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645A3999-205C-7640-E332-1C3336AC3C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B55F5EA6-ACB4-F73B-8708-83192579DB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F2B4DF57-055A-A5B3-F9EA-D5A8751833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2D5EF9E0-0962-BE13-EA0D-E37FC7AD86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EB24C6E3-9AC5-E695-8BED-7BE61A5CB6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47756FA6-C29B-BFEB-7653-543BD807F2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38A89EE8-B866-AAED-26C2-BE18B4FBF0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5DB3E0E0-34C3-52AE-7CD3-F1AB984B26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F6622341-E269-B3DE-12CB-68A866A7FB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62B18E42-6F06-C998-AC7F-4559FE8283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9889642E-9A28-1238-56CF-BB1CC02E4B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DB97D7BD-2CAD-CF0D-7625-C390C88021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51BD1B0C-B2D3-C1B8-799E-D42AB3B0AA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403D9FBC-D098-4A6C-D21D-AD6C28E57C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01D3E76D-1730-AFA4-D967-418E4B74EA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23">
              <a:extLst>
                <a:ext uri="{FF2B5EF4-FFF2-40B4-BE49-F238E27FC236}">
                  <a16:creationId xmlns:a16="http://schemas.microsoft.com/office/drawing/2014/main" id="{912810A0-76DC-7E83-8BFC-C1A4F60F8D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13258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/>
          <p:cNvGrpSpPr/>
          <p:nvPr userDrawn="1"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Freeform 6"/>
            <p:cNvSpPr>
              <a:spLocks noEditPoints="1"/>
            </p:cNvSpPr>
            <p:nvPr userDrawn="1"/>
          </p:nvSpPr>
          <p:spPr bwMode="auto">
            <a:xfrm>
              <a:off x="166688" y="-1244600"/>
              <a:ext cx="876300" cy="850900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7"/>
            <p:cNvSpPr>
              <a:spLocks/>
            </p:cNvSpPr>
            <p:nvPr userDrawn="1"/>
          </p:nvSpPr>
          <p:spPr bwMode="auto">
            <a:xfrm>
              <a:off x="1258888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8"/>
            <p:cNvSpPr>
              <a:spLocks/>
            </p:cNvSpPr>
            <p:nvPr userDrawn="1"/>
          </p:nvSpPr>
          <p:spPr bwMode="auto">
            <a:xfrm>
              <a:off x="2219326" y="-1244600"/>
              <a:ext cx="906463" cy="850900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9"/>
            <p:cNvSpPr>
              <a:spLocks noEditPoints="1"/>
            </p:cNvSpPr>
            <p:nvPr userDrawn="1"/>
          </p:nvSpPr>
          <p:spPr bwMode="auto">
            <a:xfrm>
              <a:off x="3125788" y="-1244600"/>
              <a:ext cx="1017588" cy="850900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0"/>
            <p:cNvSpPr>
              <a:spLocks/>
            </p:cNvSpPr>
            <p:nvPr userDrawn="1"/>
          </p:nvSpPr>
          <p:spPr bwMode="auto">
            <a:xfrm>
              <a:off x="4106863" y="-1244600"/>
              <a:ext cx="928688" cy="850900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1"/>
            <p:cNvSpPr>
              <a:spLocks/>
            </p:cNvSpPr>
            <p:nvPr userDrawn="1"/>
          </p:nvSpPr>
          <p:spPr bwMode="auto">
            <a:xfrm>
              <a:off x="5214938" y="-1244600"/>
              <a:ext cx="906463" cy="873125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2"/>
            <p:cNvSpPr>
              <a:spLocks noEditPoints="1"/>
            </p:cNvSpPr>
            <p:nvPr userDrawn="1"/>
          </p:nvSpPr>
          <p:spPr bwMode="auto">
            <a:xfrm>
              <a:off x="6384926" y="-1244600"/>
              <a:ext cx="873125" cy="850900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3"/>
            <p:cNvSpPr>
              <a:spLocks/>
            </p:cNvSpPr>
            <p:nvPr userDrawn="1"/>
          </p:nvSpPr>
          <p:spPr bwMode="auto">
            <a:xfrm>
              <a:off x="7477126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4"/>
            <p:cNvSpPr>
              <a:spLocks/>
            </p:cNvSpPr>
            <p:nvPr userDrawn="1"/>
          </p:nvSpPr>
          <p:spPr bwMode="auto">
            <a:xfrm>
              <a:off x="3233738" y="-1751013"/>
              <a:ext cx="152400" cy="146050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5"/>
            <p:cNvSpPr>
              <a:spLocks/>
            </p:cNvSpPr>
            <p:nvPr userDrawn="1"/>
          </p:nvSpPr>
          <p:spPr bwMode="auto">
            <a:xfrm>
              <a:off x="3719513" y="-2219325"/>
              <a:ext cx="219075" cy="263525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6"/>
            <p:cNvSpPr>
              <a:spLocks/>
            </p:cNvSpPr>
            <p:nvPr userDrawn="1"/>
          </p:nvSpPr>
          <p:spPr bwMode="auto">
            <a:xfrm>
              <a:off x="4289426" y="-2582863"/>
              <a:ext cx="222250" cy="407988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7"/>
            <p:cNvSpPr>
              <a:spLocks/>
            </p:cNvSpPr>
            <p:nvPr userDrawn="1"/>
          </p:nvSpPr>
          <p:spPr bwMode="auto">
            <a:xfrm>
              <a:off x="4910138" y="-2876550"/>
              <a:ext cx="188913" cy="561975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8"/>
            <p:cNvSpPr>
              <a:spLocks/>
            </p:cNvSpPr>
            <p:nvPr userDrawn="1"/>
          </p:nvSpPr>
          <p:spPr bwMode="auto">
            <a:xfrm>
              <a:off x="5541963" y="-3081338"/>
              <a:ext cx="174625" cy="70326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9"/>
            <p:cNvSpPr>
              <a:spLocks/>
            </p:cNvSpPr>
            <p:nvPr userDrawn="1"/>
          </p:nvSpPr>
          <p:spPr bwMode="auto">
            <a:xfrm>
              <a:off x="6140451" y="-3203575"/>
              <a:ext cx="271463" cy="83185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0"/>
            <p:cNvSpPr>
              <a:spLocks/>
            </p:cNvSpPr>
            <p:nvPr userDrawn="1"/>
          </p:nvSpPr>
          <p:spPr bwMode="auto">
            <a:xfrm>
              <a:off x="6724651" y="-3240088"/>
              <a:ext cx="404813" cy="95091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1"/>
            <p:cNvSpPr>
              <a:spLocks/>
            </p:cNvSpPr>
            <p:nvPr userDrawn="1"/>
          </p:nvSpPr>
          <p:spPr bwMode="auto">
            <a:xfrm>
              <a:off x="7299326" y="-3173413"/>
              <a:ext cx="558800" cy="1039813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2"/>
            <p:cNvSpPr>
              <a:spLocks/>
            </p:cNvSpPr>
            <p:nvPr userDrawn="1"/>
          </p:nvSpPr>
          <p:spPr bwMode="auto">
            <a:xfrm>
              <a:off x="7864476" y="-3006725"/>
              <a:ext cx="720725" cy="1103313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23"/>
            <p:cNvSpPr>
              <a:spLocks/>
            </p:cNvSpPr>
            <p:nvPr userDrawn="1"/>
          </p:nvSpPr>
          <p:spPr bwMode="auto">
            <a:xfrm>
              <a:off x="8393113" y="-2740025"/>
              <a:ext cx="909638" cy="1138238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accent2"/>
                </a:solidFill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4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704" r:id="rId3"/>
    <p:sldLayoutId id="2147483705" r:id="rId4"/>
    <p:sldLayoutId id="2147483694" r:id="rId5"/>
    <p:sldLayoutId id="2147483698" r:id="rId6"/>
    <p:sldLayoutId id="2147483699" r:id="rId7"/>
    <p:sldLayoutId id="2147483695" r:id="rId8"/>
    <p:sldLayoutId id="2147483703" r:id="rId9"/>
    <p:sldLayoutId id="2147483701" r:id="rId10"/>
    <p:sldLayoutId id="2147483702" r:id="rId11"/>
    <p:sldLayoutId id="2147483696" r:id="rId12"/>
    <p:sldLayoutId id="2147483697" r:id="rId13"/>
    <p:sldLayoutId id="2147483706" r:id="rId14"/>
    <p:sldLayoutId id="2147483707" r:id="rId15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spc="1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»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djangoproject.com/en/6.0/intro/overview/" TargetMode="Externa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7A1EBCD-4831-59E4-AF54-61F13329BB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and REST APIs</a:t>
            </a:r>
          </a:p>
        </p:txBody>
      </p:sp>
    </p:spTree>
    <p:extLst>
      <p:ext uri="{BB962C8B-B14F-4D97-AF65-F5344CB8AC3E}">
        <p14:creationId xmlns:p14="http://schemas.microsoft.com/office/powerpoint/2010/main" val="2393796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C8A36B9-6DAA-9178-3579-608F2BF23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6D359-271F-7BC2-20B4-ACE4AE76B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FastAPI</a:t>
            </a:r>
            <a:endParaRPr lang="en-US" dirty="0"/>
          </a:p>
          <a:p>
            <a:r>
              <a:rPr lang="en-US" dirty="0" err="1"/>
              <a:t>Pydantic</a:t>
            </a:r>
            <a:endParaRPr lang="en-US" dirty="0"/>
          </a:p>
          <a:p>
            <a:r>
              <a:rPr lang="en-US" dirty="0"/>
              <a:t>Authentication with </a:t>
            </a:r>
            <a:r>
              <a:rPr lang="en-US" dirty="0" err="1"/>
              <a:t>FastAPI</a:t>
            </a:r>
            <a:endParaRPr lang="en-US" dirty="0"/>
          </a:p>
          <a:p>
            <a:r>
              <a:rPr lang="en-US" dirty="0" err="1"/>
              <a:t>FastAPI</a:t>
            </a:r>
            <a:r>
              <a:rPr lang="en-US" dirty="0"/>
              <a:t> – Other Concepts</a:t>
            </a:r>
          </a:p>
          <a:p>
            <a:r>
              <a:rPr lang="en-US" dirty="0"/>
              <a:t>Other API Tools – Comparison</a:t>
            </a:r>
          </a:p>
        </p:txBody>
      </p:sp>
    </p:spTree>
    <p:extLst>
      <p:ext uri="{BB962C8B-B14F-4D97-AF65-F5344CB8AC3E}">
        <p14:creationId xmlns:p14="http://schemas.microsoft.com/office/powerpoint/2010/main" val="3975998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49028-2C23-ED49-E175-7A4FE6161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C92847-91AE-1670-404D-7238C3C8702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A119F13B-88C2-2199-3A3C-E94E720AC227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dirty="0">
                <a:solidFill>
                  <a:schemeClr val="dk2"/>
                </a:solidFill>
              </a:rPr>
              <a:t>Fast API</a:t>
            </a:r>
            <a:endParaRPr lang="en-US" sz="40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A2B45E-371E-40C8-19F0-F60DD1FE9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7088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603AA-9B40-E9E6-E376-08872099F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2090F-0000-CAF1-BAD2-80E68CB90F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AE6BB5-26FA-464E-D057-CCAFAB307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85000" lnSpcReduction="20000"/>
          </a:bodyPr>
          <a:lstStyle/>
          <a:p>
            <a:r>
              <a:rPr lang="en-US" dirty="0" err="1"/>
              <a:t>FastAPI</a:t>
            </a:r>
            <a:r>
              <a:rPr lang="en-US" dirty="0"/>
              <a:t> is a modern, high-performance Python web framework for building REST APIs</a:t>
            </a:r>
          </a:p>
          <a:p>
            <a:r>
              <a:rPr lang="en-US" dirty="0"/>
              <a:t>Built on two core dependencies: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Starlette</a:t>
            </a:r>
            <a:r>
              <a:rPr lang="en-US" dirty="0"/>
              <a:t> (web framework/ASGI toolkit) and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Pydantic</a:t>
            </a:r>
            <a:r>
              <a:rPr lang="en-US" dirty="0"/>
              <a:t> (data validation)</a:t>
            </a:r>
          </a:p>
          <a:p>
            <a:r>
              <a:rPr lang="en-US" dirty="0"/>
              <a:t>Supports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async/await</a:t>
            </a:r>
            <a:r>
              <a:rPr lang="en-US" dirty="0"/>
              <a:t> natively – making it well suited for I/O bound workloads (reading/writing data)</a:t>
            </a:r>
          </a:p>
          <a:p>
            <a:r>
              <a:rPr lang="en-US" dirty="0"/>
              <a:t>One of the fastest Python web frameworks available</a:t>
            </a:r>
          </a:p>
          <a:p>
            <a:r>
              <a:rPr lang="en-US" dirty="0"/>
              <a:t>Automatically generates interactive API documentation via Swagger UI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/docs</a:t>
            </a:r>
            <a:r>
              <a:rPr lang="en-US" dirty="0"/>
              <a:t>) and </a:t>
            </a:r>
            <a:r>
              <a:rPr lang="en-US" dirty="0" err="1"/>
              <a:t>ReDoc</a:t>
            </a:r>
            <a:r>
              <a:rPr lang="en-US" dirty="0"/>
              <a:t>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redoc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Both of these documentation interfaces update automatically as routes are added or modified</a:t>
            </a:r>
          </a:p>
          <a:p>
            <a:r>
              <a:rPr lang="en-US" dirty="0"/>
              <a:t>Leverages standard Python type annotations to drive validation, serialization and documentation.</a:t>
            </a:r>
          </a:p>
          <a:p>
            <a:r>
              <a:rPr lang="en-US" dirty="0"/>
              <a:t>Installed via: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pip install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fastapi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uvicorn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9DFD3A-CFA6-51A0-2F6D-C09872DA7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Fast API - Intro</a:t>
            </a:r>
          </a:p>
        </p:txBody>
      </p:sp>
    </p:spTree>
    <p:extLst>
      <p:ext uri="{BB962C8B-B14F-4D97-AF65-F5344CB8AC3E}">
        <p14:creationId xmlns:p14="http://schemas.microsoft.com/office/powerpoint/2010/main" val="2546196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3C50C-E7F6-D423-3B05-C9BD871C3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BC1FF9-B7CA-0834-2DAC-A2C8A3652D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D4875E-055E-1100-50BC-D88E8200D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FASTAPI()</a:t>
            </a:r>
            <a:r>
              <a:rPr lang="en-US" dirty="0"/>
              <a:t> – the main application instance; the central object that holds all routes and configuration</a:t>
            </a:r>
          </a:p>
          <a:p>
            <a:r>
              <a:rPr lang="en-US" dirty="0" err="1"/>
              <a:t>Uvicorn</a:t>
            </a:r>
            <a:r>
              <a:rPr lang="en-US" dirty="0"/>
              <a:t> is an ASGI (Asynchronous Sever Gateway Interface) server. It sits between the network and your </a:t>
            </a:r>
            <a:r>
              <a:rPr lang="en-US" dirty="0" err="1"/>
              <a:t>FastAPI</a:t>
            </a:r>
            <a:r>
              <a:rPr lang="en-US" dirty="0"/>
              <a:t> application, handling connections</a:t>
            </a:r>
          </a:p>
          <a:p>
            <a:r>
              <a:rPr lang="en-US" dirty="0"/>
              <a:t>You can run your application locally with the following command: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uvicorn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file_name:app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--reload</a:t>
            </a:r>
          </a:p>
          <a:p>
            <a:pPr lvl="1"/>
            <a:r>
              <a:rPr lang="en-US" dirty="0"/>
              <a:t>Note: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--reload</a:t>
            </a:r>
            <a:r>
              <a:rPr lang="en-US" dirty="0"/>
              <a:t> flag auto-restarts on file changes</a:t>
            </a:r>
          </a:p>
          <a:p>
            <a:r>
              <a:rPr lang="en-US" dirty="0"/>
              <a:t>Route – A URL path paired with an HTTP method, and a Python function that handles the request</a:t>
            </a:r>
          </a:p>
          <a:p>
            <a:r>
              <a:rPr lang="en-US" dirty="0"/>
              <a:t>Path operation function: the python function attached to a route; can be defined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-US" dirty="0"/>
              <a:t> or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async def</a:t>
            </a:r>
          </a:p>
          <a:p>
            <a:r>
              <a:rPr lang="en-US" dirty="0" err="1"/>
              <a:t>FastAPI</a:t>
            </a:r>
            <a:r>
              <a:rPr lang="en-US" dirty="0"/>
              <a:t> applications can be configured with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title</a:t>
            </a:r>
            <a:r>
              <a:rPr lang="en-US" dirty="0"/>
              <a:t>,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description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version</a:t>
            </a:r>
            <a:r>
              <a:rPr lang="en-US" dirty="0"/>
              <a:t> on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FastAPI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instance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624683C-F04D-C299-4FA3-5BDED9BAE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Fast API – Core Concepts</a:t>
            </a:r>
          </a:p>
        </p:txBody>
      </p:sp>
    </p:spTree>
    <p:extLst>
      <p:ext uri="{BB962C8B-B14F-4D97-AF65-F5344CB8AC3E}">
        <p14:creationId xmlns:p14="http://schemas.microsoft.com/office/powerpoint/2010/main" val="2109001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4C53F-B381-2C3F-DA96-CB8CC475B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4C62B2-D7AD-ADA8-683C-75008E2D971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344775-DA22-BED5-9F2E-5F2A14CF5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85000" lnSpcReduction="10000"/>
          </a:bodyPr>
          <a:lstStyle/>
          <a:p>
            <a:r>
              <a:rPr lang="en-US" dirty="0" err="1"/>
              <a:t>FastAPI</a:t>
            </a:r>
            <a:r>
              <a:rPr lang="en-US" dirty="0"/>
              <a:t> provides decorators for the five core HTTP methods: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@app.get, @app.post, @app.put, @app.patch, @app.delete</a:t>
            </a:r>
          </a:p>
          <a:p>
            <a:r>
              <a:rPr lang="en-US" dirty="0"/>
              <a:t>Path Parameters: variable parts of the URL path, declared with curly braces: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/employees/{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employee_id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dirty="0"/>
              <a:t>Query parameters – key/value pairs appended to the URL: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employees?department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=Engineering</a:t>
            </a:r>
          </a:p>
          <a:p>
            <a:r>
              <a:rPr lang="en-US" dirty="0"/>
              <a:t>Path and query parameters are declared as Python function arguments. </a:t>
            </a:r>
            <a:r>
              <a:rPr lang="en-US" dirty="0" err="1"/>
              <a:t>FastAPI</a:t>
            </a:r>
            <a:r>
              <a:rPr lang="en-US" dirty="0"/>
              <a:t> maps them automatically</a:t>
            </a:r>
          </a:p>
          <a:p>
            <a:r>
              <a:rPr lang="en-US" dirty="0"/>
              <a:t>Type annotations on parameters drive automatic validation. Passing the wrong type returns a 422 error</a:t>
            </a:r>
          </a:p>
          <a:p>
            <a:r>
              <a:rPr lang="en-US" dirty="0"/>
              <a:t>Multiple parameters of both types can be combined in a single route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48D765E-7A51-CA70-1751-9EC79A479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Fast API – HTTP Methods &amp; Routing</a:t>
            </a:r>
          </a:p>
        </p:txBody>
      </p:sp>
    </p:spTree>
    <p:extLst>
      <p:ext uri="{BB962C8B-B14F-4D97-AF65-F5344CB8AC3E}">
        <p14:creationId xmlns:p14="http://schemas.microsoft.com/office/powerpoint/2010/main" val="3524610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91CF3-851C-6808-857E-F3814E95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E3D359-E6C8-B076-4A98-F891C60B413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5FDD22-F353-E066-3F3C-CD1478BD7B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 request body is the data sent by the client to the API, typically as JSON</a:t>
            </a:r>
          </a:p>
          <a:p>
            <a:r>
              <a:rPr lang="en-US" dirty="0"/>
              <a:t>Request bodies are defined by using </a:t>
            </a:r>
            <a:r>
              <a:rPr lang="en-US" dirty="0" err="1"/>
              <a:t>Pydantic</a:t>
            </a:r>
            <a:r>
              <a:rPr lang="en-US" dirty="0"/>
              <a:t> models – classes that inherit from </a:t>
            </a:r>
            <a:r>
              <a:rPr lang="en-US" dirty="0" err="1"/>
              <a:t>BaseModel</a:t>
            </a:r>
            <a:endParaRPr lang="en-US" dirty="0"/>
          </a:p>
          <a:p>
            <a:r>
              <a:rPr lang="en-US" dirty="0"/>
              <a:t>Declaring a </a:t>
            </a:r>
            <a:r>
              <a:rPr lang="en-US" dirty="0" err="1"/>
              <a:t>Pydantic</a:t>
            </a:r>
            <a:r>
              <a:rPr lang="en-US" dirty="0"/>
              <a:t> model as a function parameter tells </a:t>
            </a:r>
            <a:r>
              <a:rPr lang="en-US" dirty="0" err="1"/>
              <a:t>FastAPI</a:t>
            </a:r>
            <a:r>
              <a:rPr lang="en-US" dirty="0"/>
              <a:t> to expect and validate a JSON request body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response_model</a:t>
            </a:r>
            <a:r>
              <a:rPr lang="en-US" dirty="0"/>
              <a:t>: an optional parameter on route decorators that defines the shape of the response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response_model</a:t>
            </a:r>
            <a:r>
              <a:rPr lang="en-US" dirty="0"/>
              <a:t> automatically filters out fields not declared on the model – preventing accidental data leakage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status_code</a:t>
            </a:r>
            <a:r>
              <a:rPr lang="en-US" dirty="0"/>
              <a:t>: sets the HTTP status code returned on success (e.g. 201 for resource creation)</a:t>
            </a:r>
          </a:p>
          <a:p>
            <a:r>
              <a:rPr lang="en-US" dirty="0"/>
              <a:t>Optional fields in </a:t>
            </a:r>
            <a:r>
              <a:rPr lang="en-US" dirty="0" err="1"/>
              <a:t>pydantic</a:t>
            </a:r>
            <a:r>
              <a:rPr lang="en-US" dirty="0"/>
              <a:t> model allow partial data in request bodies – useful for PATCH operations</a:t>
            </a:r>
          </a:p>
          <a:p>
            <a:r>
              <a:rPr lang="en-US" dirty="0"/>
              <a:t>Both request and response models are reflected automatically in Swagger UI documentation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3838187-DD00-0C36-DA99-64E145EC1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0" y="-4950"/>
            <a:ext cx="6348594" cy="1224150"/>
          </a:xfrm>
        </p:spPr>
        <p:txBody>
          <a:bodyPr/>
          <a:lstStyle/>
          <a:p>
            <a:r>
              <a:rPr lang="en-US" dirty="0"/>
              <a:t>Fast API – Request &amp; Response Bodies</a:t>
            </a:r>
          </a:p>
        </p:txBody>
      </p:sp>
    </p:spTree>
    <p:extLst>
      <p:ext uri="{BB962C8B-B14F-4D97-AF65-F5344CB8AC3E}">
        <p14:creationId xmlns:p14="http://schemas.microsoft.com/office/powerpoint/2010/main" val="2783203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A3D5D-57B7-560C-499C-8B45B034F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D79799-2DBE-6341-2920-1500F68E705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FBB8A7-E3F7-98BF-764B-929EADCCA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29686"/>
            <a:ext cx="8383980" cy="524739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 REST API is build around resources – nouns that represent entities in the system (e.g. employees, departments, etc…)</a:t>
            </a:r>
          </a:p>
          <a:p>
            <a:pPr lvl="1"/>
            <a:r>
              <a:rPr lang="en-US" dirty="0"/>
              <a:t>URL paths should be noun-based and plural</a:t>
            </a:r>
          </a:p>
          <a:p>
            <a:r>
              <a:rPr lang="en-US" dirty="0"/>
              <a:t>A complete CRUD API covers: </a:t>
            </a:r>
            <a:r>
              <a:rPr lang="en-US" b="1" dirty="0"/>
              <a:t>C</a:t>
            </a:r>
            <a:r>
              <a:rPr lang="en-US" dirty="0"/>
              <a:t>reate (POST), </a:t>
            </a:r>
            <a:r>
              <a:rPr lang="en-US" b="1" dirty="0"/>
              <a:t>R</a:t>
            </a:r>
            <a:r>
              <a:rPr lang="en-US" dirty="0"/>
              <a:t>ead (GET), </a:t>
            </a:r>
            <a:r>
              <a:rPr lang="en-US" b="1" dirty="0"/>
              <a:t>U</a:t>
            </a:r>
            <a:r>
              <a:rPr lang="en-US" dirty="0"/>
              <a:t>pdate (Put/Patch), </a:t>
            </a:r>
            <a:r>
              <a:rPr lang="en-US" b="1" dirty="0"/>
              <a:t>D</a:t>
            </a:r>
            <a:r>
              <a:rPr lang="en-US" dirty="0"/>
              <a:t>elete (DELETE)</a:t>
            </a:r>
          </a:p>
          <a:p>
            <a:r>
              <a:rPr lang="en-US" dirty="0"/>
              <a:t>Separating models, data and routes into distinct modules keeps the codebase organized and maintainable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APIRouter</a:t>
            </a:r>
            <a:r>
              <a:rPr lang="en-US" dirty="0"/>
              <a:t> is </a:t>
            </a:r>
            <a:r>
              <a:rPr lang="en-US" dirty="0" err="1"/>
              <a:t>FastAPI’s</a:t>
            </a:r>
            <a:r>
              <a:rPr lang="en-US" dirty="0"/>
              <a:t> mechanism for grouping related routes into separate modules.</a:t>
            </a:r>
          </a:p>
          <a:p>
            <a:r>
              <a:rPr lang="en-US" dirty="0"/>
              <a:t>Routers are registered on the main app instance with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app.include_router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dirty="0"/>
              <a:t>A well-structured </a:t>
            </a:r>
            <a:r>
              <a:rPr lang="en-US" dirty="0" err="1"/>
              <a:t>FastAPI</a:t>
            </a:r>
            <a:r>
              <a:rPr lang="en-US" dirty="0"/>
              <a:t> project separated concerns: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main.py, routers/, models/, data/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HTTPException</a:t>
            </a:r>
            <a:r>
              <a:rPr lang="en-US" dirty="0"/>
              <a:t> should be raised consistently across all routes for predictable error responses</a:t>
            </a:r>
          </a:p>
          <a:p>
            <a:r>
              <a:rPr lang="en-US" dirty="0"/>
              <a:t>Response models should be used on every route to enforce a clear contract between the API and its consumers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BB0F003-8958-10A6-E98B-25EFB40A5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0" y="-4950"/>
            <a:ext cx="6348594" cy="1224150"/>
          </a:xfrm>
        </p:spPr>
        <p:txBody>
          <a:bodyPr/>
          <a:lstStyle/>
          <a:p>
            <a:r>
              <a:rPr lang="en-US" dirty="0"/>
              <a:t>Fast API – Building a REST API</a:t>
            </a:r>
          </a:p>
        </p:txBody>
      </p:sp>
    </p:spTree>
    <p:extLst>
      <p:ext uri="{BB962C8B-B14F-4D97-AF65-F5344CB8AC3E}">
        <p14:creationId xmlns:p14="http://schemas.microsoft.com/office/powerpoint/2010/main" val="2594175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7B814-C9AB-3226-86CC-144BD2E22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4557C9-78BC-4C03-D438-4CAC3216D4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FB1CBE-4D0B-575B-FD2A-26CD3DF80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786" y="1482951"/>
            <a:ext cx="8984428" cy="5063323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Consuming an API means making HTTP requests to an external service from within your application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httpx</a:t>
            </a:r>
            <a:r>
              <a:rPr lang="en-US" dirty="0"/>
              <a:t> is the recommended HTTP client for </a:t>
            </a:r>
            <a:r>
              <a:rPr lang="en-US" dirty="0" err="1"/>
              <a:t>FastAPI</a:t>
            </a:r>
            <a:r>
              <a:rPr lang="en-US" dirty="0"/>
              <a:t>, supports both sync and async requests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Install via: pip install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httpx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requests</a:t>
            </a:r>
            <a:r>
              <a:rPr lang="en-US" dirty="0"/>
              <a:t> is a widely used synchronous alternative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Install via: pip install requests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httpx.AsyncClient</a:t>
            </a:r>
            <a:r>
              <a:rPr lang="en-US" dirty="0"/>
              <a:t> is an asynchronous context manager for making non-blocking HTTP requests</a:t>
            </a:r>
          </a:p>
          <a:p>
            <a:pPr lvl="1"/>
            <a:r>
              <a:rPr lang="en-US" dirty="0"/>
              <a:t>Asynchronous means that work can be made and the program does not need to stall, waiting for a response. – More efficient when you are requesting data and the response time is not guaranteed and/or fast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httpx.Client</a:t>
            </a:r>
            <a:r>
              <a:rPr lang="en-US" dirty="0"/>
              <a:t> – Synchronous equivalent to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AsyncClient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Response data is accessed via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to parse the response body as a python dictionary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status_code</a:t>
            </a:r>
            <a:r>
              <a:rPr lang="en-US" dirty="0"/>
              <a:t> represents the status code returned by the external API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raise_for_status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raises an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httpx.HTTPStatusError</a:t>
            </a:r>
            <a:r>
              <a:rPr lang="en-US" dirty="0"/>
              <a:t> if the response status code indicates an error (4xx or 5xx HTTP status)</a:t>
            </a:r>
          </a:p>
          <a:p>
            <a:pPr lvl="1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DABB5C1-6F75-B082-6EB4-EB041851E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010" y="-4950"/>
            <a:ext cx="6348594" cy="1224150"/>
          </a:xfrm>
        </p:spPr>
        <p:txBody>
          <a:bodyPr/>
          <a:lstStyle/>
          <a:p>
            <a:r>
              <a:rPr lang="en-US" dirty="0"/>
              <a:t>Fast API – Consuming APIs</a:t>
            </a:r>
          </a:p>
        </p:txBody>
      </p:sp>
    </p:spTree>
    <p:extLst>
      <p:ext uri="{BB962C8B-B14F-4D97-AF65-F5344CB8AC3E}">
        <p14:creationId xmlns:p14="http://schemas.microsoft.com/office/powerpoint/2010/main" val="2567123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4B2CF-AB22-E9D2-0760-8AD7DBE72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B3D1C8-B902-D14B-7073-2F427AD13C4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9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5A2A82E5-B622-91F3-A8E9-FB0B43EDFC10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dirty="0" err="1">
                <a:solidFill>
                  <a:schemeClr val="dk2"/>
                </a:solidFill>
              </a:rPr>
              <a:t>Pydantic</a:t>
            </a:r>
            <a:endParaRPr lang="en-US" sz="40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F16313-FBDA-0F16-19B8-7C0444625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175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758EC-4FF6-1FD1-B5CB-8F844671C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0FDA3A-23D3-2E7D-50FD-B1D20A9D48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2D3B65-26E0-B513-3CBF-F870228D41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940" y="1270960"/>
            <a:ext cx="8622119" cy="5509636"/>
          </a:xfrm>
        </p:spPr>
        <p:txBody>
          <a:bodyPr>
            <a:normAutofit fontScale="85000" lnSpcReduction="10000"/>
          </a:bodyPr>
          <a:lstStyle/>
          <a:p>
            <a:r>
              <a:rPr lang="en-US" dirty="0" err="1"/>
              <a:t>Pydantic</a:t>
            </a:r>
            <a:r>
              <a:rPr lang="en-US" dirty="0"/>
              <a:t> is a Python library for data validation and settings management using type annotation</a:t>
            </a:r>
          </a:p>
          <a:p>
            <a:pPr lvl="1"/>
            <a:r>
              <a:rPr lang="en-US" dirty="0"/>
              <a:t>Install via: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pip install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pydantic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/>
              <a:t>Pydantic</a:t>
            </a:r>
            <a:r>
              <a:rPr lang="en-US" dirty="0"/>
              <a:t> models are classes that inherit from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BaseModel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Fields are declared as class attributes with type annotations – </a:t>
            </a:r>
            <a:r>
              <a:rPr lang="en-US" dirty="0" err="1"/>
              <a:t>Pydantic</a:t>
            </a:r>
            <a:r>
              <a:rPr lang="en-US" dirty="0"/>
              <a:t> annotations enforces these types at runtime </a:t>
            </a:r>
          </a:p>
          <a:p>
            <a:r>
              <a:rPr lang="en-US" dirty="0" err="1"/>
              <a:t>Pydantic</a:t>
            </a:r>
            <a:r>
              <a:rPr lang="en-US" dirty="0"/>
              <a:t> validates data at the point of object creation. </a:t>
            </a:r>
          </a:p>
          <a:p>
            <a:pPr lvl="1"/>
            <a:r>
              <a:rPr lang="en-US" dirty="0"/>
              <a:t>Invalid data raises 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ValidationError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/>
              <a:t>Pydantic</a:t>
            </a:r>
            <a:r>
              <a:rPr lang="en-US" dirty="0"/>
              <a:t> is used independently of </a:t>
            </a:r>
            <a:r>
              <a:rPr lang="en-US" dirty="0" err="1"/>
              <a:t>FastAPI</a:t>
            </a:r>
            <a:r>
              <a:rPr lang="en-US" dirty="0"/>
              <a:t> as a general-purpose validation library</a:t>
            </a:r>
          </a:p>
          <a:p>
            <a:r>
              <a:rPr lang="en-US" dirty="0" err="1"/>
              <a:t>FastAPI</a:t>
            </a:r>
            <a:r>
              <a:rPr lang="en-US" dirty="0"/>
              <a:t> uses </a:t>
            </a:r>
            <a:r>
              <a:rPr lang="en-US" dirty="0" err="1"/>
              <a:t>Pydantic</a:t>
            </a:r>
            <a:r>
              <a:rPr lang="en-US" dirty="0"/>
              <a:t> internally for request validation, response serialization, and documentation generation</a:t>
            </a:r>
          </a:p>
          <a:p>
            <a:pPr lvl="1"/>
            <a:r>
              <a:rPr lang="en-US" dirty="0"/>
              <a:t>i.e. </a:t>
            </a:r>
            <a:r>
              <a:rPr lang="en-US" dirty="0" err="1"/>
              <a:t>Pydantic</a:t>
            </a:r>
            <a:r>
              <a:rPr lang="en-US" dirty="0"/>
              <a:t> is a dependency for </a:t>
            </a:r>
            <a:r>
              <a:rPr lang="en-US" dirty="0" err="1"/>
              <a:t>FastAPI</a:t>
            </a:r>
            <a:r>
              <a:rPr lang="en-US" dirty="0"/>
              <a:t>, </a:t>
            </a:r>
            <a:r>
              <a:rPr lang="en-US" b="1" i="1" dirty="0"/>
              <a:t>not</a:t>
            </a:r>
            <a:r>
              <a:rPr lang="en-US" dirty="0"/>
              <a:t> the other way around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model_dump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 function serializes a </a:t>
            </a:r>
            <a:r>
              <a:rPr lang="en-US" dirty="0" err="1"/>
              <a:t>Pydantic</a:t>
            </a:r>
            <a:r>
              <a:rPr lang="en-US" dirty="0"/>
              <a:t> model to a Python dictionary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E77BE52-38D5-AC0F-4953-4F3F1F962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Pydantic</a:t>
            </a:r>
            <a:r>
              <a:rPr lang="en-US" dirty="0"/>
              <a:t> – Intro</a:t>
            </a:r>
          </a:p>
        </p:txBody>
      </p:sp>
    </p:spTree>
    <p:extLst>
      <p:ext uri="{BB962C8B-B14F-4D97-AF65-F5344CB8AC3E}">
        <p14:creationId xmlns:p14="http://schemas.microsoft.com/office/powerpoint/2010/main" val="1312924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A235A-2B78-EE5D-FAA6-1311B8637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70975B-27B7-0200-BC4C-6477BE6D17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397218-9C3F-8F19-3A95-DEB533F1E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Field()</a:t>
            </a:r>
            <a:r>
              <a:rPr lang="en-US" dirty="0"/>
              <a:t>: provides additional configuration for a model field: defaults, constraints, descriptions and aliases.</a:t>
            </a:r>
          </a:p>
          <a:p>
            <a:r>
              <a:rPr lang="en-US" b="1" dirty="0"/>
              <a:t>Constraints</a:t>
            </a:r>
            <a:r>
              <a:rPr lang="en-US" dirty="0"/>
              <a:t>: used to enforce bounds or conditions for a field. E.g. numeric bounds (less than x, greater than y) | string length 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min_length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|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max_length</a:t>
            </a:r>
            <a:r>
              <a:rPr lang="en-US" dirty="0"/>
              <a:t>), etc…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@field_validator</a:t>
            </a:r>
            <a:r>
              <a:rPr lang="en-US" dirty="0"/>
              <a:t>: decorator used to define custom validation logic for a field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@model_validator</a:t>
            </a:r>
            <a:r>
              <a:rPr lang="en-US" dirty="0"/>
              <a:t>: decorator used to define custom validation logic for multiple fields</a:t>
            </a:r>
          </a:p>
          <a:p>
            <a:r>
              <a:rPr lang="en-US" b="1" dirty="0"/>
              <a:t>Nested models</a:t>
            </a:r>
            <a:r>
              <a:rPr lang="en-US" dirty="0"/>
              <a:t>: a </a:t>
            </a:r>
            <a:r>
              <a:rPr lang="en-US" dirty="0" err="1"/>
              <a:t>Pydantic</a:t>
            </a:r>
            <a:r>
              <a:rPr lang="en-US" dirty="0"/>
              <a:t> model can declare another model as a field type, enabled structured, hierarchical data.</a:t>
            </a:r>
          </a:p>
          <a:p>
            <a:r>
              <a:rPr lang="en-US" dirty="0" err="1"/>
              <a:t>Pydantic</a:t>
            </a:r>
            <a:r>
              <a:rPr lang="en-US" dirty="0"/>
              <a:t> integrates with Python’s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en-US" dirty="0"/>
              <a:t> type, allowing validation against the Enum values.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B86AAF9-E950-E732-1E2D-4AC987EAD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Pydantic</a:t>
            </a:r>
            <a:r>
              <a:rPr lang="en-US" dirty="0"/>
              <a:t> – Models &amp; Type Validation</a:t>
            </a:r>
          </a:p>
        </p:txBody>
      </p:sp>
    </p:spTree>
    <p:extLst>
      <p:ext uri="{BB962C8B-B14F-4D97-AF65-F5344CB8AC3E}">
        <p14:creationId xmlns:p14="http://schemas.microsoft.com/office/powerpoint/2010/main" val="2834124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D7F3B-B26D-FEAA-1DE0-509CBF962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9E631C-B70F-7676-692D-48F46317F43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0B3CCBF3-365B-DA9F-C0BB-7074B6A59454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dirty="0">
                <a:solidFill>
                  <a:schemeClr val="dk2"/>
                </a:solidFill>
              </a:rPr>
              <a:t>Authentication with </a:t>
            </a:r>
            <a:r>
              <a:rPr lang="en-US" sz="4000" dirty="0" err="1">
                <a:solidFill>
                  <a:schemeClr val="dk2"/>
                </a:solidFill>
              </a:rPr>
              <a:t>FastAPI</a:t>
            </a:r>
            <a:endParaRPr lang="en-US" sz="40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32492B-6886-A61B-E7F9-661B482BA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012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69B44-CC6F-BD56-C18A-ACD5EABD3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A5A319-EDD0-6938-20B5-098195F213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86DB18-41D7-4290-ACC7-9BEB889D2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5"/>
            <a:ext cx="8383980" cy="5247391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Authentication</a:t>
            </a:r>
            <a:r>
              <a:rPr lang="en-US" dirty="0"/>
              <a:t>: the process of verifying </a:t>
            </a:r>
            <a:r>
              <a:rPr lang="en-US" i="1" dirty="0"/>
              <a:t>who</a:t>
            </a:r>
            <a:r>
              <a:rPr lang="en-US" dirty="0"/>
              <a:t> a requester is</a:t>
            </a:r>
          </a:p>
          <a:p>
            <a:r>
              <a:rPr lang="en-US" b="1" dirty="0"/>
              <a:t>Authorization</a:t>
            </a:r>
            <a:r>
              <a:rPr lang="en-US" dirty="0"/>
              <a:t>: the process of verifying </a:t>
            </a:r>
            <a:r>
              <a:rPr lang="en-US" i="1" dirty="0"/>
              <a:t>what</a:t>
            </a:r>
            <a:r>
              <a:rPr lang="en-US" dirty="0"/>
              <a:t> an authenticated user is allowed to do</a:t>
            </a:r>
          </a:p>
          <a:p>
            <a:r>
              <a:rPr lang="en-US" dirty="0"/>
              <a:t>Authentication and authorization are distinct concerns – Authentication always comes first!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HTTP 401 Unauthorized </a:t>
            </a:r>
            <a:r>
              <a:rPr lang="en-US" dirty="0"/>
              <a:t>| HTTP Response code associated with failed authentication.</a:t>
            </a:r>
          </a:p>
          <a:p>
            <a:pPr lvl="1"/>
            <a:r>
              <a:rPr lang="en-US" dirty="0"/>
              <a:t>i.e. the requester has not provided valid credentials, or none at all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HTTP 403 Forbidden </a:t>
            </a:r>
            <a:r>
              <a:rPr lang="en-US" dirty="0"/>
              <a:t>| HTTP Response code associated with failed authorization.</a:t>
            </a:r>
          </a:p>
          <a:p>
            <a:pPr lvl="1"/>
            <a:r>
              <a:rPr lang="en-US" dirty="0"/>
              <a:t>i.e. the requested is authenticated, but does not have permission for the resource</a:t>
            </a:r>
          </a:p>
          <a:p>
            <a:r>
              <a:rPr lang="en-US" dirty="0"/>
              <a:t>Common authentication strategies: Basic Auth, API Keys, JWT/OAuth2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B63FAC2-47D0-BDD6-0D2F-05FBB857C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FastAPI</a:t>
            </a:r>
            <a:r>
              <a:rPr lang="en-US" dirty="0"/>
              <a:t> – Authentication</a:t>
            </a:r>
          </a:p>
        </p:txBody>
      </p:sp>
    </p:spTree>
    <p:extLst>
      <p:ext uri="{BB962C8B-B14F-4D97-AF65-F5344CB8AC3E}">
        <p14:creationId xmlns:p14="http://schemas.microsoft.com/office/powerpoint/2010/main" val="3429945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3F65E-4D5F-FBC3-18C2-62CB59AFF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E651B1-7484-810F-B11F-10B097E05D9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FFF0EE-D581-39E3-4FB7-6678DE1652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Basic Authentication – Simple username &amp; password scheme validation.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HTTPBasic</a:t>
            </a:r>
            <a:r>
              <a:rPr lang="en-US" dirty="0"/>
              <a:t> – </a:t>
            </a:r>
            <a:r>
              <a:rPr lang="en-US" dirty="0" err="1"/>
              <a:t>FastAPI’s</a:t>
            </a:r>
            <a:r>
              <a:rPr lang="en-US" dirty="0"/>
              <a:t> built-in class for handling HTTP Basic Authentication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HTTPBasicCredentials</a:t>
            </a:r>
            <a:r>
              <a:rPr lang="en-US" dirty="0"/>
              <a:t> – The object injected by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HTTPBasic</a:t>
            </a:r>
            <a:r>
              <a:rPr lang="en-US" dirty="0"/>
              <a:t>; contains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.username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.password</a:t>
            </a:r>
          </a:p>
          <a:p>
            <a:r>
              <a:rPr lang="en-US" dirty="0"/>
              <a:t>Basic Auth credentials are sent as a Base64-encoded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username:password</a:t>
            </a:r>
            <a:r>
              <a:rPr lang="en-US" dirty="0"/>
              <a:t> string in the Authorization header.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secrets.compare_digest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(a, b)</a:t>
            </a:r>
            <a:r>
              <a:rPr lang="en-US" dirty="0"/>
              <a:t> – timing-safe string comparison, prevents timing attacks on credential checks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F8B4991-CCC6-9EB2-8373-0A9B84206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FastAPI</a:t>
            </a:r>
            <a:r>
              <a:rPr lang="en-US" dirty="0"/>
              <a:t> – Basic Authentication</a:t>
            </a:r>
          </a:p>
        </p:txBody>
      </p:sp>
    </p:spTree>
    <p:extLst>
      <p:ext uri="{BB962C8B-B14F-4D97-AF65-F5344CB8AC3E}">
        <p14:creationId xmlns:p14="http://schemas.microsoft.com/office/powerpoint/2010/main" val="1607528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F35C27-C038-4E83-43F6-11DB233ED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FAAA2-200E-F503-34A5-4C83558DEBB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3C834D-4F67-F688-4409-D9A5083BDD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API Key Authentication</a:t>
            </a:r>
            <a:r>
              <a:rPr lang="en-US" dirty="0"/>
              <a:t> – A client sends a known secret token with every request to provide it’s identity</a:t>
            </a:r>
          </a:p>
          <a:p>
            <a:r>
              <a:rPr lang="en-US" dirty="0"/>
              <a:t>API Keys can be passed via a request header, a query parameter, or a cookie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APIKeyHeader</a:t>
            </a:r>
            <a:r>
              <a:rPr lang="en-US" dirty="0"/>
              <a:t> – </a:t>
            </a:r>
            <a:r>
              <a:rPr lang="en-US" dirty="0" err="1"/>
              <a:t>FastAPI</a:t>
            </a:r>
            <a:r>
              <a:rPr lang="en-US" dirty="0"/>
              <a:t> security class that extracts an API key from a named request header. This is the recommended approach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APIKeyQuery</a:t>
            </a:r>
            <a:r>
              <a:rPr lang="en-US" dirty="0"/>
              <a:t> – </a:t>
            </a:r>
            <a:r>
              <a:rPr lang="en-US" dirty="0" err="1"/>
              <a:t>FastAPI</a:t>
            </a:r>
            <a:r>
              <a:rPr lang="en-US" dirty="0"/>
              <a:t> security class that extracts an API key from a named query parameter – This is discouraged. URLs can appear in server logs, browser history and proxy records, exposing API keys.</a:t>
            </a:r>
          </a:p>
          <a:p>
            <a:r>
              <a:rPr lang="en-US" dirty="0"/>
              <a:t>Both are used via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Depends()</a:t>
            </a:r>
            <a:r>
              <a:rPr lang="en-US" dirty="0"/>
              <a:t>, raising 403 automatically if the key is absent</a:t>
            </a:r>
          </a:p>
          <a:p>
            <a:pPr lvl="1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478EE87-06D8-DB09-70D6-D480DF9D7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FastAPI</a:t>
            </a:r>
            <a:r>
              <a:rPr lang="en-US" dirty="0"/>
              <a:t> – API Key Authentication</a:t>
            </a:r>
          </a:p>
        </p:txBody>
      </p:sp>
    </p:spTree>
    <p:extLst>
      <p:ext uri="{BB962C8B-B14F-4D97-AF65-F5344CB8AC3E}">
        <p14:creationId xmlns:p14="http://schemas.microsoft.com/office/powerpoint/2010/main" val="1685830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2E0BD-07B3-9774-172E-1D130ECF4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C6F98D-D734-8038-4322-89FCFF46A5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E3DB8B-9DC5-221E-8526-1438C9B1A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Cookies</a:t>
            </a:r>
            <a:r>
              <a:rPr lang="en-US" dirty="0"/>
              <a:t> – small pieces of data the server sends to the client; the client returns them on every subsequent request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response.set_cookie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(key, value)</a:t>
            </a:r>
            <a:r>
              <a:rPr lang="en-US" dirty="0"/>
              <a:t> – sets a cookie on the outgoing response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request.cookies.get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(key)</a:t>
            </a:r>
            <a:r>
              <a:rPr lang="en-US" dirty="0"/>
              <a:t> – reads a cookie from the incoming request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httponly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=True</a:t>
            </a:r>
            <a:r>
              <a:rPr lang="en-US" dirty="0"/>
              <a:t> – prevents JavaScript from accessing the cookie, protecting against XSS attacks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max_age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/>
              <a:t>– attribute that sets the cookie’s lifetime in seconds; omitting it creates a session cookie that expires when the browser closes</a:t>
            </a:r>
          </a:p>
          <a:p>
            <a:pPr lvl="1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F2F4750-06FB-BB43-D2BA-4665F56A63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FastAPI</a:t>
            </a:r>
            <a:r>
              <a:rPr lang="en-US" dirty="0"/>
              <a:t> – Cookies</a:t>
            </a:r>
          </a:p>
        </p:txBody>
      </p:sp>
    </p:spTree>
    <p:extLst>
      <p:ext uri="{BB962C8B-B14F-4D97-AF65-F5344CB8AC3E}">
        <p14:creationId xmlns:p14="http://schemas.microsoft.com/office/powerpoint/2010/main" val="496390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036B7-D167-B73D-171A-194DD562D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5F1BD9-BB73-3D0E-87FA-7DDC3556738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17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E2FCDEB5-7091-CA7F-D1AC-F6FE570643D0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FastAPI</a:t>
            </a: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– Other Concepts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A5A21A-9418-3A5B-0B20-88169EDB9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9155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7C088-F2B4-B8C5-1074-F04C0C28E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E03CA2-73DC-2A82-4D09-CC40AF7E25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2EEC94-2CC8-3712-2AE3-4E8F13DB20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HTTPException</a:t>
            </a:r>
            <a:r>
              <a:rPr lang="en-US" dirty="0"/>
              <a:t> is </a:t>
            </a:r>
            <a:r>
              <a:rPr lang="en-US" dirty="0" err="1"/>
              <a:t>FastAPI’s</a:t>
            </a:r>
            <a:r>
              <a:rPr lang="en-US" dirty="0"/>
              <a:t> built-in mechanism for returning structured HTTP error responses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HTTPException</a:t>
            </a:r>
            <a:r>
              <a:rPr lang="en-US" dirty="0"/>
              <a:t> accepts 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status_code</a:t>
            </a:r>
            <a:r>
              <a:rPr lang="en-US" dirty="0"/>
              <a:t> and an optional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detail</a:t>
            </a:r>
            <a:r>
              <a:rPr lang="en-US" dirty="0"/>
              <a:t> message.</a:t>
            </a:r>
          </a:p>
          <a:p>
            <a:r>
              <a:rPr lang="en-US" dirty="0"/>
              <a:t>Custom exception handlers can be registered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@app.exception_handler()</a:t>
            </a:r>
            <a:r>
              <a:rPr lang="en-US" dirty="0"/>
              <a:t> decorator applied to a function.</a:t>
            </a:r>
          </a:p>
          <a:p>
            <a:r>
              <a:rPr lang="en-US" dirty="0"/>
              <a:t>Registering a custom handler allows for a consistent, structured error response to be returns across the entire API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B56BAA5-F5EA-860D-48D0-23E1B93A3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FastAPI</a:t>
            </a:r>
            <a:r>
              <a:rPr lang="en-US" dirty="0"/>
              <a:t> – Handling HTTP Exceptions</a:t>
            </a:r>
          </a:p>
        </p:txBody>
      </p:sp>
    </p:spTree>
    <p:extLst>
      <p:ext uri="{BB962C8B-B14F-4D97-AF65-F5344CB8AC3E}">
        <p14:creationId xmlns:p14="http://schemas.microsoft.com/office/powerpoint/2010/main" val="3074958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A7A0B-E5F1-3BBA-3DF2-22EFABE1C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98AD27-3F2B-76AD-6E40-3FA5F663F70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8A382B-2098-5F22-38B0-D0AB2B1513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8363"/>
            <a:ext cx="9144000" cy="5509637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latin typeface="+mj-lt"/>
                <a:cs typeface="Courier New" panose="02070309020205020404" pitchFamily="49" charset="0"/>
              </a:rPr>
              <a:t>By default </a:t>
            </a:r>
            <a:r>
              <a:rPr lang="en-US" dirty="0" err="1">
                <a:latin typeface="+mj-lt"/>
                <a:cs typeface="Courier New" panose="02070309020205020404" pitchFamily="49" charset="0"/>
              </a:rPr>
              <a:t>FastAPI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serializes return values for responses to JSON. 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For other content types importable responses classes can used.</a:t>
            </a:r>
          </a:p>
          <a:p>
            <a:pPr lvl="1"/>
            <a:r>
              <a:rPr lang="en-US" dirty="0">
                <a:latin typeface="+mj-lt"/>
                <a:cs typeface="Courier New" panose="02070309020205020404" pitchFamily="49" charset="0"/>
              </a:rPr>
              <a:t>Imported from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fastapi.responses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FileResponse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: serves a file directly from disk; handles streaming and content type automatically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media_type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: sets the </a:t>
            </a:r>
            <a:r>
              <a:rPr lang="en-US" dirty="0" err="1">
                <a:latin typeface="+mj-lt"/>
                <a:cs typeface="Courier New" panose="02070309020205020404" pitchFamily="49" charset="0"/>
              </a:rPr>
              <a:t>Content_Type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header on the response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Content_Disposition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: HTTP Header controlling whether the browser displays inline or downloads (attachment)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filename</a:t>
            </a:r>
            <a:r>
              <a:rPr lang="en-US" dirty="0" err="1">
                <a:latin typeface="+mj-lt"/>
                <a:cs typeface="Courier New" panose="02070309020205020404" pitchFamily="49" charset="0"/>
              </a:rPr>
              <a:t>:attribute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on </a:t>
            </a:r>
            <a:r>
              <a:rPr lang="en-US" dirty="0" err="1">
                <a:latin typeface="+mj-lt"/>
                <a:cs typeface="Courier New" panose="02070309020205020404" pitchFamily="49" charset="0"/>
              </a:rPr>
              <a:t>FileResponse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to set the filename suggested to the browser when downloading.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HTMLResponse</a:t>
            </a:r>
            <a:r>
              <a:rPr lang="en-US" dirty="0">
                <a:cs typeface="Courier New" panose="02070309020205020404" pitchFamily="49" charset="0"/>
              </a:rPr>
              <a:t>: returns a raw HTML string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Content-Type: text/html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PlainTextResponse</a:t>
            </a:r>
            <a:r>
              <a:rPr lang="en-US" dirty="0">
                <a:cs typeface="Courier New" panose="02070309020205020404" pitchFamily="49" charset="0"/>
              </a:rPr>
              <a:t>: returns a plain string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Content-Type: text/plain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StreamingResponse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: streams dynamically generated content from a generator or file-like object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Response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: The base class used for full manual control over content type and raw bytes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5CE66DB-5D65-A500-A4AD-6609EAD50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FastAPI</a:t>
            </a:r>
            <a:r>
              <a:rPr lang="en-US" dirty="0"/>
              <a:t> – Non-JSON Responses</a:t>
            </a:r>
          </a:p>
        </p:txBody>
      </p:sp>
    </p:spTree>
    <p:extLst>
      <p:ext uri="{BB962C8B-B14F-4D97-AF65-F5344CB8AC3E}">
        <p14:creationId xmlns:p14="http://schemas.microsoft.com/office/powerpoint/2010/main" val="2517396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65771-F959-4F61-74E1-72D4B8C57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4D97FD-BC38-C373-8E0C-98B1F6C015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5A9F72-A340-FA5E-2603-3383888D9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/>
          </a:bodyPr>
          <a:lstStyle/>
          <a:p>
            <a:r>
              <a:rPr lang="en-US" dirty="0"/>
              <a:t>Pagination: The practice of returning a subset of results, rather than an entire collection at once.</a:t>
            </a:r>
          </a:p>
          <a:p>
            <a:r>
              <a:rPr lang="en-US" dirty="0"/>
              <a:t>Pagination is typically implemented via query parameters: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skip</a:t>
            </a:r>
            <a:r>
              <a:rPr lang="en-US" dirty="0"/>
              <a:t> (offset value – rather than starting at 0 index)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limit</a:t>
            </a:r>
            <a:r>
              <a:rPr lang="en-US" dirty="0"/>
              <a:t> (page size – limit to show)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B85CFF0-8448-E2B4-B30C-0863A25C2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Fast API – Pagination</a:t>
            </a:r>
          </a:p>
        </p:txBody>
      </p:sp>
    </p:spTree>
    <p:extLst>
      <p:ext uri="{BB962C8B-B14F-4D97-AF65-F5344CB8AC3E}">
        <p14:creationId xmlns:p14="http://schemas.microsoft.com/office/powerpoint/2010/main" val="1611339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FF4F0-2833-E2D6-E3DB-FB6E74EAA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2703D6-727A-0CBB-8B34-132D5D2127B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21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31D2F9BF-9CE5-08AD-167D-9ED26A7BE701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dirty="0">
                <a:solidFill>
                  <a:schemeClr val="dk2"/>
                </a:solidFill>
              </a:rPr>
              <a:t>Other API Tools</a:t>
            </a:r>
          </a:p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-A </a:t>
            </a:r>
            <a:r>
              <a:rPr lang="en-US" sz="4000" b="0" i="0" u="none" strike="noStrike" cap="none" dirty="0" err="1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FastAPI</a:t>
            </a: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Comparison-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0215FE-D2D8-FA17-1C5E-0E01A59C3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5394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0EBE6-95B6-82F2-8EEE-B23D2967F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1360CC-7580-219A-2201-4B0464B028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6C7B63-064A-1DD5-C8F1-0D6419ECF4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572" y="1453521"/>
            <a:ext cx="8824856" cy="5017991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Flask is a lightweight WSGI (Web Server Gateway Interface) that is synchronous by default.</a:t>
            </a:r>
          </a:p>
          <a:p>
            <a:pPr lvl="1"/>
            <a:r>
              <a:rPr lang="en-US" dirty="0"/>
              <a:t>Install with: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pip install flask</a:t>
            </a:r>
          </a:p>
          <a:p>
            <a:r>
              <a:rPr lang="en-US" dirty="0"/>
              <a:t>The App instance is created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Flask(__name__)</a:t>
            </a:r>
          </a:p>
          <a:p>
            <a:r>
              <a:rPr lang="en-US" dirty="0"/>
              <a:t>REST APIs in Flask are built using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@app.route()</a:t>
            </a:r>
            <a:r>
              <a:rPr lang="en-US" dirty="0"/>
              <a:t> with the methods parameter specifying the HTTP verb</a:t>
            </a:r>
          </a:p>
          <a:p>
            <a:r>
              <a:rPr lang="en-US" dirty="0"/>
              <a:t>Request data is accessed via the request object imported from flask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request.json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request.args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request.form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Responses area returned using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jsonify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Flask has no built-in data validation, external libraries like </a:t>
            </a:r>
            <a:r>
              <a:rPr lang="en-US" dirty="0" err="1">
                <a:latin typeface="+mj-lt"/>
                <a:cs typeface="Courier New" panose="02070309020205020404" pitchFamily="49" charset="0"/>
              </a:rPr>
              <a:t>Pydantic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must be added.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Flask has no automatic API documentation, tools like Flask-Swagger must be added separately.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abort(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status_code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is Flask’s equivalent of </a:t>
            </a:r>
            <a:r>
              <a:rPr lang="en-US" dirty="0" err="1">
                <a:latin typeface="+mj-lt"/>
                <a:cs typeface="Courier New" panose="02070309020205020404" pitchFamily="49" charset="0"/>
              </a:rPr>
              <a:t>FastAPI’s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HTTPException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Flask is best for small APIs and rapid prototyping</a:t>
            </a:r>
          </a:p>
          <a:p>
            <a:r>
              <a:rPr lang="en-US" dirty="0">
                <a:latin typeface="+mj-lt"/>
                <a:cs typeface="Courier New" panose="02070309020205020404" pitchFamily="49" charset="0"/>
              </a:rPr>
              <a:t>Run flask using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flask run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 command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7A7DB7E-2999-E85C-FB58-7A4CE0C67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Flask – Overview</a:t>
            </a:r>
          </a:p>
        </p:txBody>
      </p:sp>
    </p:spTree>
    <p:extLst>
      <p:ext uri="{BB962C8B-B14F-4D97-AF65-F5344CB8AC3E}">
        <p14:creationId xmlns:p14="http://schemas.microsoft.com/office/powerpoint/2010/main" val="2744208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FB00E-5789-A3D4-ADB0-010A56FC1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E9C9B4-F702-A929-6B3F-00D7BB23F9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166F22-6E02-FB2C-0B89-2F8F7CA5F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Django is a full-featured, “</a:t>
            </a:r>
            <a:r>
              <a:rPr lang="en-US" b="1" dirty="0"/>
              <a:t>batteries-included</a:t>
            </a:r>
            <a:r>
              <a:rPr lang="en-US" dirty="0"/>
              <a:t>” Python web framework</a:t>
            </a:r>
          </a:p>
          <a:p>
            <a:r>
              <a:rPr lang="en-US" dirty="0"/>
              <a:t>REST API support in Django is provided by Django REST Framework (DRF)</a:t>
            </a:r>
          </a:p>
          <a:p>
            <a:pPr lvl="1"/>
            <a:r>
              <a:rPr lang="en-US" dirty="0"/>
              <a:t>Install via: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pip install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djandorestframework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DRF introduces </a:t>
            </a:r>
            <a:r>
              <a:rPr lang="en-US" dirty="0" err="1"/>
              <a:t>Serialisers</a:t>
            </a:r>
            <a:r>
              <a:rPr lang="en-US" dirty="0"/>
              <a:t> – classes that handle validation, deserialization, and serialization of data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APIView</a:t>
            </a:r>
            <a:r>
              <a:rPr lang="en-US" dirty="0"/>
              <a:t>: DRFs class-based view, provides explicit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get(), post(), put(), patch(), delete()</a:t>
            </a:r>
            <a:r>
              <a:rPr lang="en-US" dirty="0"/>
              <a:t> methods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ViewSet</a:t>
            </a:r>
            <a:r>
              <a:rPr lang="en-US" dirty="0"/>
              <a:t>: Higher-level abstraction that combines all CRUD operations into a single class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Router</a:t>
            </a:r>
            <a:r>
              <a:rPr lang="en-US" dirty="0"/>
              <a:t>: automatically generates URL patterns for 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ViewSet</a:t>
            </a:r>
            <a:r>
              <a:rPr lang="en-US" dirty="0"/>
              <a:t>, replacing manual </a:t>
            </a:r>
            <a:r>
              <a:rPr lang="en-US" dirty="0" err="1"/>
              <a:t>url</a:t>
            </a:r>
            <a:r>
              <a:rPr lang="en-US" dirty="0"/>
              <a:t> patterns entries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See the documentation for an introductory walkthrough: </a:t>
            </a:r>
            <a:r>
              <a:rPr lang="en-US" dirty="0">
                <a:hlinkClick r:id="rId2"/>
              </a:rPr>
              <a:t>https://docs.djangoproject.com/en/6.0/intro/overview/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72FF306-EB55-14DC-56B4-950CECDB6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Django – Overview</a:t>
            </a:r>
          </a:p>
        </p:txBody>
      </p:sp>
    </p:spTree>
    <p:extLst>
      <p:ext uri="{BB962C8B-B14F-4D97-AF65-F5344CB8AC3E}">
        <p14:creationId xmlns:p14="http://schemas.microsoft.com/office/powerpoint/2010/main" val="1830038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2B0BB-4169-C42A-88DE-BEAAB566A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630B84-61EE-F58B-942C-453948226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4355041"/>
      </p:ext>
    </p:extLst>
  </p:cSld>
  <p:clrMapOvr>
    <a:masterClrMapping/>
  </p:clrMapOvr>
</p:sld>
</file>

<file path=ppt/theme/theme1.xml><?xml version="1.0" encoding="utf-8"?>
<a:theme xmlns:a="http://schemas.openxmlformats.org/drawingml/2006/main" name="2_Custom Design">
  <a:themeElements>
    <a:clrScheme name="Revature">
      <a:dk1>
        <a:sysClr val="windowText" lastClr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ture Template  101416" id="{E7AE9B54-ECDF-468C-BAC8-D7E5033F34EC}" vid="{F6400A2A-47B1-4620-B2AC-EFF1DCD888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Revature Template  101416</Template>
  <TotalTime>20174</TotalTime>
  <Words>2062</Words>
  <Application>Microsoft Office PowerPoint</Application>
  <PresentationFormat>On-screen Show (4:3)</PresentationFormat>
  <Paragraphs>184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Courier New</vt:lpstr>
      <vt:lpstr>2_Custom Design</vt:lpstr>
      <vt:lpstr>Python and REST APIs</vt:lpstr>
      <vt:lpstr>Outline</vt:lpstr>
      <vt:lpstr>PowerPoint Presentation</vt:lpstr>
      <vt:lpstr>Fast API - Intro</vt:lpstr>
      <vt:lpstr>Fast API – Core Concepts</vt:lpstr>
      <vt:lpstr>Fast API – HTTP Methods &amp; Routing</vt:lpstr>
      <vt:lpstr>Fast API – Request &amp; Response Bodies</vt:lpstr>
      <vt:lpstr>Fast API – Building a REST API</vt:lpstr>
      <vt:lpstr>Fast API – Consuming APIs</vt:lpstr>
      <vt:lpstr>PowerPoint Presentation</vt:lpstr>
      <vt:lpstr>Pydantic – Intro</vt:lpstr>
      <vt:lpstr>Pydantic – Models &amp; Type Validation</vt:lpstr>
      <vt:lpstr>PowerPoint Presentation</vt:lpstr>
      <vt:lpstr>FastAPI – Authentication</vt:lpstr>
      <vt:lpstr>FastAPI – Basic Authentication</vt:lpstr>
      <vt:lpstr>FastAPI – API Key Authentication</vt:lpstr>
      <vt:lpstr>FastAPI – Cookies</vt:lpstr>
      <vt:lpstr>PowerPoint Presentation</vt:lpstr>
      <vt:lpstr>FastAPI – Handling HTTP Exceptions</vt:lpstr>
      <vt:lpstr>FastAPI – Non-JSON Responses</vt:lpstr>
      <vt:lpstr>Fast API – Pagination</vt:lpstr>
      <vt:lpstr>PowerPoint Presentation</vt:lpstr>
      <vt:lpstr>Flask – Overview</vt:lpstr>
      <vt:lpstr>Django – Overview</vt:lpstr>
      <vt:lpstr>PowerPoint Presentation</vt:lpstr>
    </vt:vector>
  </TitlesOfParts>
  <Company>Persistence Holdings, LLC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account 10</dc:creator>
  <cp:lastModifiedBy>Joseph Highe</cp:lastModifiedBy>
  <cp:revision>41</cp:revision>
  <cp:lastPrinted>2016-06-20T20:58:50Z</cp:lastPrinted>
  <dcterms:created xsi:type="dcterms:W3CDTF">2016-11-09T18:19:08Z</dcterms:created>
  <dcterms:modified xsi:type="dcterms:W3CDTF">2026-06-18T18:52:40Z</dcterms:modified>
</cp:coreProperties>
</file>