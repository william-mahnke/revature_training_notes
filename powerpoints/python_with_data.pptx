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2"/>
  </p:notesMasterIdLst>
  <p:handoutMasterIdLst>
    <p:handoutMasterId r:id="rId33"/>
  </p:handoutMasterIdLst>
  <p:sldIdLst>
    <p:sldId id="256" r:id="rId2"/>
    <p:sldId id="257" r:id="rId3"/>
    <p:sldId id="417" r:id="rId4"/>
    <p:sldId id="376" r:id="rId5"/>
    <p:sldId id="442" r:id="rId6"/>
    <p:sldId id="443" r:id="rId7"/>
    <p:sldId id="444" r:id="rId8"/>
    <p:sldId id="418" r:id="rId9"/>
    <p:sldId id="375" r:id="rId10"/>
    <p:sldId id="447" r:id="rId11"/>
    <p:sldId id="461" r:id="rId12"/>
    <p:sldId id="448" r:id="rId13"/>
    <p:sldId id="462" r:id="rId14"/>
    <p:sldId id="463" r:id="rId15"/>
    <p:sldId id="464" r:id="rId16"/>
    <p:sldId id="466" r:id="rId17"/>
    <p:sldId id="449" r:id="rId18"/>
    <p:sldId id="468" r:id="rId19"/>
    <p:sldId id="469" r:id="rId20"/>
    <p:sldId id="470" r:id="rId21"/>
    <p:sldId id="453" r:id="rId22"/>
    <p:sldId id="455" r:id="rId23"/>
    <p:sldId id="419" r:id="rId24"/>
    <p:sldId id="420" r:id="rId25"/>
    <p:sldId id="471" r:id="rId26"/>
    <p:sldId id="399" r:id="rId27"/>
    <p:sldId id="473" r:id="rId28"/>
    <p:sldId id="474" r:id="rId29"/>
    <p:sldId id="475" r:id="rId30"/>
    <p:sldId id="472" r:id="rId3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389" autoAdjust="0"/>
  </p:normalViewPr>
  <p:slideViewPr>
    <p:cSldViewPr snapToGrid="0">
      <p:cViewPr varScale="1">
        <p:scale>
          <a:sx n="59" d="100"/>
          <a:sy n="59" d="100"/>
        </p:scale>
        <p:origin x="1740"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6/16/2026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6/16/2026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4</a:t>
            </a:fld>
            <a:endParaRPr lang="en-US" dirty="0"/>
          </a:p>
        </p:txBody>
      </p:sp>
    </p:spTree>
    <p:extLst>
      <p:ext uri="{BB962C8B-B14F-4D97-AF65-F5344CB8AC3E}">
        <p14:creationId xmlns:p14="http://schemas.microsoft.com/office/powerpoint/2010/main" val="3458479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99FBF-D5FF-7DDD-A827-E5A9325C6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3C124-F010-98BB-0726-FFC54DE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D829D-8D62-5FED-BA95-D211A01090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A87B9D-9E25-20AC-82ED-B8D17BFFA75F}"/>
              </a:ext>
            </a:extLst>
          </p:cNvPr>
          <p:cNvSpPr>
            <a:spLocks noGrp="1"/>
          </p:cNvSpPr>
          <p:nvPr>
            <p:ph type="sldNum" sz="quarter" idx="5"/>
          </p:nvPr>
        </p:nvSpPr>
        <p:spPr/>
        <p:txBody>
          <a:bodyPr/>
          <a:lstStyle/>
          <a:p>
            <a:fld id="{043CB7BC-4AFB-4847-AC93-5F4E37C870A2}" type="slidenum">
              <a:rPr lang="en-US" smtClean="0"/>
              <a:t>5</a:t>
            </a:fld>
            <a:endParaRPr lang="en-US" dirty="0"/>
          </a:p>
        </p:txBody>
      </p:sp>
    </p:spTree>
    <p:extLst>
      <p:ext uri="{BB962C8B-B14F-4D97-AF65-F5344CB8AC3E}">
        <p14:creationId xmlns:p14="http://schemas.microsoft.com/office/powerpoint/2010/main" val="3830069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B4AB-143C-F28B-6C51-40CC2FB4F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00CFC-7E5A-A550-D6AA-79D7B429F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F48B2-9127-F898-6726-C16FA95DBD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5CD92B-BC0D-E7F4-7C6D-018F2A917BF2}"/>
              </a:ext>
            </a:extLst>
          </p:cNvPr>
          <p:cNvSpPr>
            <a:spLocks noGrp="1"/>
          </p:cNvSpPr>
          <p:nvPr>
            <p:ph type="sldNum" sz="quarter" idx="5"/>
          </p:nvPr>
        </p:nvSpPr>
        <p:spPr/>
        <p:txBody>
          <a:bodyPr/>
          <a:lstStyle/>
          <a:p>
            <a:fld id="{043CB7BC-4AFB-4847-AC93-5F4E37C870A2}" type="slidenum">
              <a:rPr lang="en-US" smtClean="0"/>
              <a:t>6</a:t>
            </a:fld>
            <a:endParaRPr lang="en-US" dirty="0"/>
          </a:p>
        </p:txBody>
      </p:sp>
    </p:spTree>
    <p:extLst>
      <p:ext uri="{BB962C8B-B14F-4D97-AF65-F5344CB8AC3E}">
        <p14:creationId xmlns:p14="http://schemas.microsoft.com/office/powerpoint/2010/main" val="838829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F36F-11B9-8A46-918D-29C6E32B9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5F317-53A4-C44E-C00E-2994E9BCF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E75F8-1A3F-96E0-D0C9-ADABFE1A4F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953852-3F0A-5021-83F2-EFEF4C743328}"/>
              </a:ext>
            </a:extLst>
          </p:cNvPr>
          <p:cNvSpPr>
            <a:spLocks noGrp="1"/>
          </p:cNvSpPr>
          <p:nvPr>
            <p:ph type="sldNum" sz="quarter" idx="5"/>
          </p:nvPr>
        </p:nvSpPr>
        <p:spPr/>
        <p:txBody>
          <a:bodyPr/>
          <a:lstStyle/>
          <a:p>
            <a:fld id="{043CB7BC-4AFB-4847-AC93-5F4E37C870A2}" type="slidenum">
              <a:rPr lang="en-US" smtClean="0"/>
              <a:t>15</a:t>
            </a:fld>
            <a:endParaRPr lang="en-US" dirty="0"/>
          </a:p>
        </p:txBody>
      </p:sp>
    </p:spTree>
    <p:extLst>
      <p:ext uri="{BB962C8B-B14F-4D97-AF65-F5344CB8AC3E}">
        <p14:creationId xmlns:p14="http://schemas.microsoft.com/office/powerpoint/2010/main" val="3463080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18</a:t>
            </a:fld>
            <a:endParaRPr lang="en-US" dirty="0"/>
          </a:p>
        </p:txBody>
      </p:sp>
    </p:spTree>
    <p:extLst>
      <p:ext uri="{BB962C8B-B14F-4D97-AF65-F5344CB8AC3E}">
        <p14:creationId xmlns:p14="http://schemas.microsoft.com/office/powerpoint/2010/main" val="3636818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97F91-23E8-6B12-53A2-86B842EF7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768A1-A5B4-9BFD-A43F-F8A60F3AD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88EF8-FCF2-7BC4-E2E4-57915A14C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5635E-CC39-787F-DFB4-89EC052C95E3}"/>
              </a:ext>
            </a:extLst>
          </p:cNvPr>
          <p:cNvSpPr>
            <a:spLocks noGrp="1"/>
          </p:cNvSpPr>
          <p:nvPr>
            <p:ph type="sldNum" sz="quarter" idx="5"/>
          </p:nvPr>
        </p:nvSpPr>
        <p:spPr/>
        <p:txBody>
          <a:bodyPr/>
          <a:lstStyle/>
          <a:p>
            <a:fld id="{043CB7BC-4AFB-4847-AC93-5F4E37C870A2}" type="slidenum">
              <a:rPr lang="en-US" smtClean="0"/>
              <a:t>19</a:t>
            </a:fld>
            <a:endParaRPr lang="en-US" dirty="0"/>
          </a:p>
        </p:txBody>
      </p:sp>
    </p:spTree>
    <p:extLst>
      <p:ext uri="{BB962C8B-B14F-4D97-AF65-F5344CB8AC3E}">
        <p14:creationId xmlns:p14="http://schemas.microsoft.com/office/powerpoint/2010/main" val="3414269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21</a:t>
            </a:fld>
            <a:endParaRPr lang="en-US" dirty="0"/>
          </a:p>
        </p:txBody>
      </p:sp>
    </p:spTree>
    <p:extLst>
      <p:ext uri="{BB962C8B-B14F-4D97-AF65-F5344CB8AC3E}">
        <p14:creationId xmlns:p14="http://schemas.microsoft.com/office/powerpoint/2010/main" val="2169893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Using Python with Data</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normAutofit/>
          </a:bodyPr>
          <a:lstStyle/>
          <a:p>
            <a:r>
              <a:rPr lang="en-US" dirty="0"/>
              <a:t>NumPy</a:t>
            </a:r>
          </a:p>
          <a:p>
            <a:r>
              <a:rPr lang="en-US" dirty="0"/>
              <a:t>Pandas</a:t>
            </a:r>
          </a:p>
          <a:p>
            <a:r>
              <a:rPr lang="en-US" dirty="0" err="1"/>
              <a:t>MatPlotLib</a:t>
            </a:r>
            <a:endParaRPr lang="en-US" dirty="0"/>
          </a:p>
          <a:p>
            <a:endParaRPr lang="en-US" dirty="0"/>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9028-2C23-ED49-E175-7A4FE6161D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C92847-91AE-1670-404D-7238C3C8702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A119F13B-88C2-2199-3A3C-E94E720AC22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NumPy</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95A2B45E-371E-40C8-19F0-F60DD1FE92E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85770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03AA-9B40-E9E6-E376-08872099FC7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82090F-0000-CAF1-BAD2-80E68CB90F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A2AE6BB5-26FA-464E-D057-CCAFAB307456}"/>
              </a:ext>
            </a:extLst>
          </p:cNvPr>
          <p:cNvSpPr>
            <a:spLocks noGrp="1"/>
          </p:cNvSpPr>
          <p:nvPr>
            <p:ph idx="1"/>
          </p:nvPr>
        </p:nvSpPr>
        <p:spPr>
          <a:xfrm>
            <a:off x="380010" y="1481446"/>
            <a:ext cx="8383980" cy="4882266"/>
          </a:xfrm>
        </p:spPr>
        <p:txBody>
          <a:bodyPr>
            <a:normAutofit fontScale="77500" lnSpcReduction="20000"/>
          </a:bodyPr>
          <a:lstStyle/>
          <a:p>
            <a:r>
              <a:rPr lang="en-US" dirty="0"/>
              <a:t>NumPy (Numerical Python) is a foundational library for scientific computing</a:t>
            </a:r>
          </a:p>
          <a:p>
            <a:r>
              <a:rPr lang="en-US" dirty="0"/>
              <a:t>Install via PIP: pip install </a:t>
            </a:r>
            <a:r>
              <a:rPr lang="en-US" dirty="0" err="1"/>
              <a:t>numpy</a:t>
            </a:r>
            <a:endParaRPr lang="en-US" dirty="0"/>
          </a:p>
          <a:p>
            <a:pPr lvl="1"/>
            <a:r>
              <a:rPr lang="en-US" dirty="0"/>
              <a:t>Conventionally imported as </a:t>
            </a:r>
            <a:r>
              <a:rPr lang="en-US" dirty="0">
                <a:latin typeface="Courier New" panose="02070309020205020404" pitchFamily="49" charset="0"/>
                <a:cs typeface="Courier New" panose="02070309020205020404" pitchFamily="49" charset="0"/>
              </a:rPr>
              <a:t>np</a:t>
            </a:r>
            <a:r>
              <a:rPr lang="en-US" dirty="0"/>
              <a:t>:</a:t>
            </a:r>
            <a:br>
              <a:rPr lang="en-US" dirty="0"/>
            </a:b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as np</a:t>
            </a:r>
          </a:p>
          <a:p>
            <a:r>
              <a:rPr lang="en-US" dirty="0"/>
              <a:t>Core data structure: </a:t>
            </a:r>
            <a:r>
              <a:rPr lang="en-US" dirty="0" err="1"/>
              <a:t>ndarray</a:t>
            </a:r>
            <a:r>
              <a:rPr lang="en-US" dirty="0"/>
              <a:t> (n-dimensional array)</a:t>
            </a:r>
          </a:p>
          <a:p>
            <a:r>
              <a:rPr lang="en-US" dirty="0"/>
              <a:t>Arrays are faster and more memory-efficient than Python lists for numeric data</a:t>
            </a:r>
          </a:p>
          <a:p>
            <a:r>
              <a:rPr lang="en-US" dirty="0"/>
              <a:t>Provides a large library of mathematical functions: </a:t>
            </a:r>
            <a:r>
              <a:rPr lang="en-US" dirty="0" err="1">
                <a:latin typeface="Courier New" panose="02070309020205020404" pitchFamily="49" charset="0"/>
                <a:cs typeface="Courier New" panose="02070309020205020404" pitchFamily="49" charset="0"/>
              </a:rPr>
              <a:t>np.sqrt</a:t>
            </a:r>
            <a:r>
              <a:rPr lang="en-US" dirty="0">
                <a:latin typeface="Courier New" panose="02070309020205020404" pitchFamily="49" charset="0"/>
                <a:cs typeface="Courier New" panose="02070309020205020404" pitchFamily="49" charset="0"/>
              </a:rPr>
              <a:t>()</a:t>
            </a:r>
            <a:r>
              <a:rPr lang="en-US" dirty="0"/>
              <a:t>, </a:t>
            </a:r>
            <a:r>
              <a:rPr lang="en-US" dirty="0" err="1">
                <a:latin typeface="Courier New" panose="02070309020205020404" pitchFamily="49" charset="0"/>
                <a:cs typeface="Courier New" panose="02070309020205020404" pitchFamily="49" charset="0"/>
              </a:rPr>
              <a:t>np.mean</a:t>
            </a:r>
            <a:r>
              <a:rPr lang="en-US" dirty="0">
                <a:latin typeface="Courier New" panose="02070309020205020404" pitchFamily="49" charset="0"/>
                <a:cs typeface="Courier New" panose="02070309020205020404" pitchFamily="49" charset="0"/>
              </a:rPr>
              <a:t>()</a:t>
            </a:r>
            <a:r>
              <a:rPr lang="en-US" dirty="0"/>
              <a:t>, </a:t>
            </a:r>
            <a:r>
              <a:rPr lang="en-US" dirty="0" err="1">
                <a:latin typeface="Courier New" panose="02070309020205020404" pitchFamily="49" charset="0"/>
                <a:cs typeface="Courier New" panose="02070309020205020404" pitchFamily="49" charset="0"/>
              </a:rPr>
              <a:t>np.sum</a:t>
            </a:r>
            <a:r>
              <a:rPr lang="en-US" dirty="0">
                <a:latin typeface="Courier New" panose="02070309020205020404" pitchFamily="49" charset="0"/>
                <a:cs typeface="Courier New" panose="02070309020205020404" pitchFamily="49" charset="0"/>
              </a:rPr>
              <a:t>()</a:t>
            </a:r>
            <a:r>
              <a:rPr lang="en-US" dirty="0"/>
              <a:t>, etc.</a:t>
            </a:r>
          </a:p>
          <a:p>
            <a:r>
              <a:rPr lang="en-US" dirty="0"/>
              <a:t>Supports multi-dimensional arrays</a:t>
            </a:r>
          </a:p>
          <a:p>
            <a:r>
              <a:rPr lang="en-US" dirty="0"/>
              <a:t>Foundational library that many others (pandas, Matplotlib, TensorFlow, etc…) are built on</a:t>
            </a:r>
          </a:p>
          <a:p>
            <a:r>
              <a:rPr lang="en-US" dirty="0"/>
              <a:t>Essential for data science, machine learning, image processing and scientific computing.</a:t>
            </a:r>
          </a:p>
          <a:p>
            <a:endParaRPr lang="en-US" dirty="0"/>
          </a:p>
        </p:txBody>
      </p:sp>
      <p:sp>
        <p:nvSpPr>
          <p:cNvPr id="5" name="Title 4">
            <a:extLst>
              <a:ext uri="{FF2B5EF4-FFF2-40B4-BE49-F238E27FC236}">
                <a16:creationId xmlns:a16="http://schemas.microsoft.com/office/drawing/2014/main" id="{B49DFD3A-CFA6-51A0-2F6D-C09872DA77B2}"/>
              </a:ext>
            </a:extLst>
          </p:cNvPr>
          <p:cNvSpPr>
            <a:spLocks noGrp="1"/>
          </p:cNvSpPr>
          <p:nvPr>
            <p:ph type="title"/>
          </p:nvPr>
        </p:nvSpPr>
        <p:spPr/>
        <p:txBody>
          <a:bodyPr/>
          <a:lstStyle/>
          <a:p>
            <a:r>
              <a:rPr lang="en-US" dirty="0"/>
              <a:t>NumPy</a:t>
            </a:r>
          </a:p>
        </p:txBody>
      </p:sp>
    </p:spTree>
    <p:extLst>
      <p:ext uri="{BB962C8B-B14F-4D97-AF65-F5344CB8AC3E}">
        <p14:creationId xmlns:p14="http://schemas.microsoft.com/office/powerpoint/2010/main" val="254619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DE857-A149-7A9B-71B6-63D329702F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CCD9DC-F553-315F-070A-938AA2EBCE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Title 4">
            <a:extLst>
              <a:ext uri="{FF2B5EF4-FFF2-40B4-BE49-F238E27FC236}">
                <a16:creationId xmlns:a16="http://schemas.microsoft.com/office/drawing/2014/main" id="{172629C7-270C-A24A-59AC-7DE4B9445FF6}"/>
              </a:ext>
            </a:extLst>
          </p:cNvPr>
          <p:cNvSpPr>
            <a:spLocks noGrp="1"/>
          </p:cNvSpPr>
          <p:nvPr>
            <p:ph type="title"/>
          </p:nvPr>
        </p:nvSpPr>
        <p:spPr/>
        <p:txBody>
          <a:bodyPr/>
          <a:lstStyle/>
          <a:p>
            <a:r>
              <a:rPr lang="en-US" dirty="0"/>
              <a:t>Common NumPy Methods – Array Creation</a:t>
            </a:r>
          </a:p>
        </p:txBody>
      </p:sp>
      <p:graphicFrame>
        <p:nvGraphicFramePr>
          <p:cNvPr id="2" name="Table 1">
            <a:extLst>
              <a:ext uri="{FF2B5EF4-FFF2-40B4-BE49-F238E27FC236}">
                <a16:creationId xmlns:a16="http://schemas.microsoft.com/office/drawing/2014/main" id="{09CCC9FB-01A4-06AF-8682-9E456DCDE5C8}"/>
              </a:ext>
            </a:extLst>
          </p:cNvPr>
          <p:cNvGraphicFramePr>
            <a:graphicFrameLocks noGrp="1"/>
          </p:cNvGraphicFramePr>
          <p:nvPr>
            <p:extLst>
              <p:ext uri="{D42A27DB-BD31-4B8C-83A1-F6EECF244321}">
                <p14:modId xmlns:p14="http://schemas.microsoft.com/office/powerpoint/2010/main" val="450565085"/>
              </p:ext>
            </p:extLst>
          </p:nvPr>
        </p:nvGraphicFramePr>
        <p:xfrm>
          <a:off x="159574" y="1350012"/>
          <a:ext cx="8824854" cy="4382421"/>
        </p:xfrm>
        <a:graphic>
          <a:graphicData uri="http://schemas.openxmlformats.org/drawingml/2006/table">
            <a:tbl>
              <a:tblPr firstRow="1" bandRow="1">
                <a:tableStyleId>{5C22544A-7EE6-4342-B048-85BDC9FD1C3A}</a:tableStyleId>
              </a:tblPr>
              <a:tblGrid>
                <a:gridCol w="2110097">
                  <a:extLst>
                    <a:ext uri="{9D8B030D-6E8A-4147-A177-3AD203B41FA5}">
                      <a16:colId xmlns:a16="http://schemas.microsoft.com/office/drawing/2014/main" val="4202507141"/>
                    </a:ext>
                  </a:extLst>
                </a:gridCol>
                <a:gridCol w="3706586">
                  <a:extLst>
                    <a:ext uri="{9D8B030D-6E8A-4147-A177-3AD203B41FA5}">
                      <a16:colId xmlns:a16="http://schemas.microsoft.com/office/drawing/2014/main" val="2653014772"/>
                    </a:ext>
                  </a:extLst>
                </a:gridCol>
                <a:gridCol w="3008171">
                  <a:extLst>
                    <a:ext uri="{9D8B030D-6E8A-4147-A177-3AD203B41FA5}">
                      <a16:colId xmlns:a16="http://schemas.microsoft.com/office/drawing/2014/main" val="3231311561"/>
                    </a:ext>
                  </a:extLst>
                </a:gridCol>
              </a:tblGrid>
              <a:tr h="135888">
                <a:tc>
                  <a:txBody>
                    <a:bodyPr/>
                    <a:lstStyle/>
                    <a:p>
                      <a:r>
                        <a:rPr lang="en-US" dirty="0"/>
                        <a:t>Method</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783739">
                <a:tc>
                  <a:txBody>
                    <a:bodyPr/>
                    <a:lstStyle/>
                    <a:p>
                      <a:r>
                        <a:rPr lang="en-US" sz="1400" dirty="0" err="1">
                          <a:latin typeface="Courier New" panose="02070309020205020404" pitchFamily="49" charset="0"/>
                          <a:cs typeface="Courier New" panose="02070309020205020404" pitchFamily="49" charset="0"/>
                        </a:rPr>
                        <a:t>np.array</a:t>
                      </a:r>
                      <a:r>
                        <a:rPr lang="en-US" sz="1400" dirty="0">
                          <a:latin typeface="Courier New" panose="02070309020205020404" pitchFamily="49" charset="0"/>
                          <a:cs typeface="Courier New" panose="02070309020205020404" pitchFamily="49" charset="0"/>
                        </a:rPr>
                        <a:t>(a)</a:t>
                      </a:r>
                    </a:p>
                  </a:txBody>
                  <a:tcPr/>
                </a:tc>
                <a:tc>
                  <a:txBody>
                    <a:bodyPr/>
                    <a:lstStyle/>
                    <a:p>
                      <a:r>
                        <a:rPr lang="en-US" sz="1400" dirty="0"/>
                        <a:t>Creates an </a:t>
                      </a:r>
                      <a:r>
                        <a:rPr lang="en-US" sz="1400" dirty="0" err="1"/>
                        <a:t>ndarray</a:t>
                      </a:r>
                      <a:r>
                        <a:rPr lang="en-US" sz="1400" dirty="0"/>
                        <a:t> from a Python list or tuple</a:t>
                      </a:r>
                    </a:p>
                  </a:txBody>
                  <a:tcPr/>
                </a:tc>
                <a:tc>
                  <a:txBody>
                    <a:bodyPr/>
                    <a:lstStyle/>
                    <a:p>
                      <a:r>
                        <a:rPr lang="en-US" sz="1400" dirty="0" err="1">
                          <a:latin typeface="Courier New" panose="02070309020205020404" pitchFamily="49" charset="0"/>
                          <a:cs typeface="Courier New" panose="02070309020205020404" pitchFamily="49" charset="0"/>
                        </a:rPr>
                        <a:t>np.array</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[1,2],</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[3,4])</a:t>
                      </a:r>
                    </a:p>
                  </a:txBody>
                  <a:tcPr/>
                </a:tc>
                <a:extLst>
                  <a:ext uri="{0D108BD9-81ED-4DB2-BD59-A6C34878D82A}">
                    <a16:rowId xmlns:a16="http://schemas.microsoft.com/office/drawing/2014/main" val="2748510336"/>
                  </a:ext>
                </a:extLst>
              </a:tr>
              <a:tr h="783739">
                <a:tc>
                  <a:txBody>
                    <a:bodyPr/>
                    <a:lstStyle/>
                    <a:p>
                      <a:r>
                        <a:rPr lang="en-US" sz="1400" dirty="0" err="1">
                          <a:latin typeface="Courier New" panose="02070309020205020404" pitchFamily="49" charset="0"/>
                          <a:cs typeface="Courier New" panose="02070309020205020404" pitchFamily="49" charset="0"/>
                        </a:rPr>
                        <a:t>np.zeroes</a:t>
                      </a:r>
                      <a:r>
                        <a:rPr lang="en-US" sz="1400" dirty="0">
                          <a:latin typeface="Courier New" panose="02070309020205020404" pitchFamily="49" charset="0"/>
                          <a:cs typeface="Courier New" panose="02070309020205020404" pitchFamily="49" charset="0"/>
                        </a:rPr>
                        <a:t>(shape)</a:t>
                      </a:r>
                    </a:p>
                    <a:p>
                      <a:r>
                        <a:rPr lang="en-US" sz="1400" dirty="0" err="1">
                          <a:latin typeface="Courier New" panose="02070309020205020404" pitchFamily="49" charset="0"/>
                          <a:cs typeface="Courier New" panose="02070309020205020404" pitchFamily="49" charset="0"/>
                        </a:rPr>
                        <a:t>np.ones</a:t>
                      </a:r>
                      <a:r>
                        <a:rPr lang="en-US" sz="1400" dirty="0">
                          <a:latin typeface="Courier New" panose="02070309020205020404" pitchFamily="49" charset="0"/>
                          <a:cs typeface="Courier New" panose="02070309020205020404" pitchFamily="49" charset="0"/>
                        </a:rPr>
                        <a:t>(shape)</a:t>
                      </a:r>
                    </a:p>
                    <a:p>
                      <a:r>
                        <a:rPr lang="en-US" sz="1400" dirty="0" err="1">
                          <a:latin typeface="Courier New" panose="02070309020205020404" pitchFamily="49" charset="0"/>
                          <a:cs typeface="Courier New" panose="02070309020205020404" pitchFamily="49" charset="0"/>
                        </a:rPr>
                        <a:t>np.full</a:t>
                      </a:r>
                      <a:r>
                        <a:rPr lang="en-US" sz="1400" dirty="0">
                          <a:latin typeface="Courier New" panose="02070309020205020404" pitchFamily="49" charset="0"/>
                          <a:cs typeface="Courier New" panose="02070309020205020404" pitchFamily="49" charset="0"/>
                        </a:rPr>
                        <a:t>(shape)</a:t>
                      </a:r>
                    </a:p>
                  </a:txBody>
                  <a:tcPr/>
                </a:tc>
                <a:tc>
                  <a:txBody>
                    <a:bodyPr/>
                    <a:lstStyle/>
                    <a:p>
                      <a:r>
                        <a:rPr lang="en-US" sz="1400" dirty="0"/>
                        <a:t>Creates an array of the given size, pre-filled with a value (zeroes, ones, or given value)</a:t>
                      </a:r>
                    </a:p>
                  </a:txBody>
                  <a:tcPr/>
                </a:tc>
                <a:tc>
                  <a:txBody>
                    <a:bodyPr/>
                    <a:lstStyle/>
                    <a:p>
                      <a:r>
                        <a:rPr lang="en-US" sz="1400" dirty="0" err="1">
                          <a:latin typeface="Courier New" panose="02070309020205020404" pitchFamily="49" charset="0"/>
                          <a:cs typeface="Courier New" panose="02070309020205020404" pitchFamily="49" charset="0"/>
                        </a:rPr>
                        <a:t>np.zeroes</a:t>
                      </a:r>
                      <a:r>
                        <a:rPr lang="en-US" sz="1400" dirty="0">
                          <a:latin typeface="Courier New" panose="02070309020205020404" pitchFamily="49" charset="0"/>
                          <a:cs typeface="Courier New" panose="02070309020205020404" pitchFamily="49" charset="0"/>
                        </a:rPr>
                        <a:t>((2,3))</a:t>
                      </a:r>
                    </a:p>
                    <a:p>
                      <a:r>
                        <a:rPr lang="en-US" sz="1400" dirty="0" err="1">
                          <a:latin typeface="Courier New" panose="02070309020205020404" pitchFamily="49" charset="0"/>
                          <a:cs typeface="Courier New" panose="02070309020205020404" pitchFamily="49" charset="0"/>
                        </a:rPr>
                        <a:t>np.ones</a:t>
                      </a:r>
                      <a:r>
                        <a:rPr lang="en-US" sz="1400" dirty="0">
                          <a:latin typeface="Courier New" panose="02070309020205020404" pitchFamily="49" charset="0"/>
                          <a:cs typeface="Courier New" panose="02070309020205020404" pitchFamily="49" charset="0"/>
                        </a:rPr>
                        <a:t>((2,4))</a:t>
                      </a:r>
                      <a:br>
                        <a:rPr lang="en-US" sz="1400" dirty="0">
                          <a:latin typeface="Courier New" panose="02070309020205020404" pitchFamily="49" charset="0"/>
                          <a:cs typeface="Courier New" panose="02070309020205020404" pitchFamily="49" charset="0"/>
                        </a:rPr>
                      </a:br>
                      <a:r>
                        <a:rPr lang="en-US" sz="1400" dirty="0" err="1">
                          <a:latin typeface="Courier New" panose="02070309020205020404" pitchFamily="49" charset="0"/>
                          <a:cs typeface="Courier New" panose="02070309020205020404" pitchFamily="49" charset="0"/>
                        </a:rPr>
                        <a:t>np.full</a:t>
                      </a:r>
                      <a:r>
                        <a:rPr lang="en-US" sz="1400" dirty="0">
                          <a:latin typeface="Courier New" panose="02070309020205020404" pitchFamily="49" charset="0"/>
                          <a:cs typeface="Courier New" panose="02070309020205020404" pitchFamily="49" charset="0"/>
                        </a:rPr>
                        <a:t>((2,2),5)</a:t>
                      </a:r>
                    </a:p>
                  </a:txBody>
                  <a:tcPr/>
                </a:tc>
                <a:extLst>
                  <a:ext uri="{0D108BD9-81ED-4DB2-BD59-A6C34878D82A}">
                    <a16:rowId xmlns:a16="http://schemas.microsoft.com/office/drawing/2014/main" val="2124088066"/>
                  </a:ext>
                </a:extLst>
              </a:tr>
              <a:tr h="555148">
                <a:tc>
                  <a:txBody>
                    <a:bodyPr/>
                    <a:lstStyle/>
                    <a:p>
                      <a:r>
                        <a:rPr lang="en-US" sz="1400" dirty="0" err="1">
                          <a:latin typeface="Courier New" panose="02070309020205020404" pitchFamily="49" charset="0"/>
                          <a:cs typeface="Courier New" panose="02070309020205020404" pitchFamily="49" charset="0"/>
                        </a:rPr>
                        <a:t>np.arange</a:t>
                      </a:r>
                      <a:r>
                        <a:rPr lang="en-US" sz="1400" dirty="0">
                          <a:latin typeface="Courier New" panose="02070309020205020404" pitchFamily="49" charset="0"/>
                          <a:cs typeface="Courier New" panose="02070309020205020404" pitchFamily="49" charset="0"/>
                        </a:rPr>
                        <a:t>(start, stop, step)</a:t>
                      </a:r>
                    </a:p>
                  </a:txBody>
                  <a:tcPr/>
                </a:tc>
                <a:tc>
                  <a:txBody>
                    <a:bodyPr/>
                    <a:lstStyle/>
                    <a:p>
                      <a:r>
                        <a:rPr lang="en-US" sz="1400" dirty="0"/>
                        <a:t>Creates an array of evenly spaced values within a given interval</a:t>
                      </a:r>
                    </a:p>
                  </a:txBody>
                  <a:tcPr/>
                </a:tc>
                <a:tc>
                  <a:txBody>
                    <a:bodyPr/>
                    <a:lstStyle/>
                    <a:p>
                      <a:r>
                        <a:rPr lang="en-US" sz="1400" dirty="0" err="1">
                          <a:latin typeface="Courier New" panose="02070309020205020404" pitchFamily="49" charset="0"/>
                          <a:cs typeface="Courier New" panose="02070309020205020404" pitchFamily="49" charset="0"/>
                        </a:rPr>
                        <a:t>np.arrange</a:t>
                      </a:r>
                      <a:r>
                        <a:rPr lang="en-US" sz="1400" dirty="0">
                          <a:latin typeface="Courier New" panose="02070309020205020404" pitchFamily="49" charset="0"/>
                          <a:cs typeface="Courier New" panose="02070309020205020404" pitchFamily="49" charset="0"/>
                        </a:rPr>
                        <a:t>(1, 10, 2)</a:t>
                      </a:r>
                    </a:p>
                    <a:p>
                      <a:r>
                        <a:rPr lang="en-US" sz="1400" dirty="0">
                          <a:latin typeface="Courier New" panose="02070309020205020404" pitchFamily="49" charset="0"/>
                          <a:cs typeface="Courier New" panose="02070309020205020404" pitchFamily="49" charset="0"/>
                        </a:rPr>
                        <a:t># 1, 3, 5, 7, 9</a:t>
                      </a:r>
                    </a:p>
                  </a:txBody>
                  <a:tcPr/>
                </a:tc>
                <a:extLst>
                  <a:ext uri="{0D108BD9-81ED-4DB2-BD59-A6C34878D82A}">
                    <a16:rowId xmlns:a16="http://schemas.microsoft.com/office/drawing/2014/main" val="1418808306"/>
                  </a:ext>
                </a:extLst>
              </a:tr>
              <a:tr h="555148">
                <a:tc>
                  <a:txBody>
                    <a:bodyPr/>
                    <a:lstStyle/>
                    <a:p>
                      <a:r>
                        <a:rPr lang="en-US" sz="1400" dirty="0" err="1">
                          <a:latin typeface="Courier New" panose="02070309020205020404" pitchFamily="49" charset="0"/>
                          <a:cs typeface="Courier New" panose="02070309020205020404" pitchFamily="49" charset="0"/>
                        </a:rPr>
                        <a:t>np.empty</a:t>
                      </a:r>
                      <a:r>
                        <a:rPr lang="en-US" sz="1400" dirty="0">
                          <a:latin typeface="Courier New" panose="02070309020205020404" pitchFamily="49" charset="0"/>
                          <a:cs typeface="Courier New" panose="02070309020205020404" pitchFamily="49" charset="0"/>
                        </a:rPr>
                        <a:t>(shape, </a:t>
                      </a:r>
                      <a:r>
                        <a:rPr lang="en-US" sz="1400" dirty="0" err="1">
                          <a:latin typeface="Courier New" panose="02070309020205020404" pitchFamily="49" charset="0"/>
                          <a:cs typeface="Courier New" panose="02070309020205020404" pitchFamily="49" charset="0"/>
                        </a:rPr>
                        <a:t>dtype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Creates an array of a given shape, without initializing items</a:t>
                      </a:r>
                    </a:p>
                  </a:txBody>
                  <a:tcPr/>
                </a:tc>
                <a:tc>
                  <a:txBody>
                    <a:bodyPr/>
                    <a:lstStyle/>
                    <a:p>
                      <a:r>
                        <a:rPr lang="en-US" sz="1400" dirty="0" err="1">
                          <a:latin typeface="Courier New" panose="02070309020205020404" pitchFamily="49" charset="0"/>
                          <a:cs typeface="Courier New" panose="02070309020205020404" pitchFamily="49" charset="0"/>
                        </a:rPr>
                        <a:t>np.empty</a:t>
                      </a:r>
                      <a:r>
                        <a:rPr lang="en-US" sz="1400" dirty="0">
                          <a:latin typeface="Courier New" panose="02070309020205020404" pitchFamily="49" charset="0"/>
                          <a:cs typeface="Courier New" panose="02070309020205020404" pitchFamily="49" charset="0"/>
                        </a:rPr>
                        <a:t>(2,2) # 2x2 array of arbitrary values</a:t>
                      </a:r>
                    </a:p>
                  </a:txBody>
                  <a:tcPr/>
                </a:tc>
                <a:extLst>
                  <a:ext uri="{0D108BD9-81ED-4DB2-BD59-A6C34878D82A}">
                    <a16:rowId xmlns:a16="http://schemas.microsoft.com/office/drawing/2014/main" val="2056458437"/>
                  </a:ext>
                </a:extLst>
              </a:tr>
              <a:tr h="555148">
                <a:tc>
                  <a:txBody>
                    <a:bodyPr/>
                    <a:lstStyle/>
                    <a:p>
                      <a:r>
                        <a:rPr lang="en-US" sz="1400" dirty="0" err="1">
                          <a:latin typeface="Courier New" panose="02070309020205020404" pitchFamily="49" charset="0"/>
                          <a:cs typeface="Courier New" panose="02070309020205020404" pitchFamily="49" charset="0"/>
                        </a:rPr>
                        <a:t>np.linspace</a:t>
                      </a:r>
                      <a:r>
                        <a:rPr lang="en-US" sz="1400" dirty="0">
                          <a:latin typeface="Courier New" panose="02070309020205020404" pitchFamily="49" charset="0"/>
                          <a:cs typeface="Courier New" panose="02070309020205020404" pitchFamily="49" charset="0"/>
                        </a:rPr>
                        <a:t>(start, stop, num)</a:t>
                      </a:r>
                    </a:p>
                  </a:txBody>
                  <a:tcPr/>
                </a:tc>
                <a:tc>
                  <a:txBody>
                    <a:bodyPr/>
                    <a:lstStyle/>
                    <a:p>
                      <a:r>
                        <a:rPr lang="en-US" sz="1400" dirty="0"/>
                        <a:t>Creates an array of </a:t>
                      </a:r>
                      <a:r>
                        <a:rPr lang="en-US" sz="1400" dirty="0">
                          <a:latin typeface="Courier New" panose="02070309020205020404" pitchFamily="49" charset="0"/>
                          <a:cs typeface="Courier New" panose="02070309020205020404" pitchFamily="49" charset="0"/>
                        </a:rPr>
                        <a:t>num</a:t>
                      </a:r>
                      <a:r>
                        <a:rPr lang="en-US" sz="1400" dirty="0"/>
                        <a:t> evenly spaced numbers over a specified interval</a:t>
                      </a:r>
                    </a:p>
                  </a:txBody>
                  <a:tcPr/>
                </a:tc>
                <a:tc>
                  <a:txBody>
                    <a:bodyPr/>
                    <a:lstStyle/>
                    <a:p>
                      <a:r>
                        <a:rPr lang="en-US" sz="1400" dirty="0" err="1">
                          <a:latin typeface="Courier New" panose="02070309020205020404" pitchFamily="49" charset="0"/>
                          <a:cs typeface="Courier New" panose="02070309020205020404" pitchFamily="49" charset="0"/>
                        </a:rPr>
                        <a:t>np.linspace</a:t>
                      </a:r>
                      <a:r>
                        <a:rPr lang="en-US" sz="1400" dirty="0">
                          <a:latin typeface="Courier New" panose="02070309020205020404" pitchFamily="49" charset="0"/>
                          <a:cs typeface="Courier New" panose="02070309020205020404" pitchFamily="49" charset="0"/>
                        </a:rPr>
                        <a:t>(0, 1, 5)</a:t>
                      </a:r>
                    </a:p>
                    <a:p>
                      <a:r>
                        <a:rPr lang="en-US" sz="1400" dirty="0">
                          <a:latin typeface="Courier New" panose="02070309020205020404" pitchFamily="49" charset="0"/>
                          <a:cs typeface="Courier New" panose="02070309020205020404" pitchFamily="49" charset="0"/>
                        </a:rPr>
                        <a:t># [0.0,0.25,0.5,0.75,1.0]</a:t>
                      </a:r>
                    </a:p>
                  </a:txBody>
                  <a:tcPr/>
                </a:tc>
                <a:extLst>
                  <a:ext uri="{0D108BD9-81ED-4DB2-BD59-A6C34878D82A}">
                    <a16:rowId xmlns:a16="http://schemas.microsoft.com/office/drawing/2014/main" val="2693395756"/>
                  </a:ext>
                </a:extLst>
              </a:tr>
              <a:tr h="783739">
                <a:tc>
                  <a:txBody>
                    <a:bodyPr/>
                    <a:lstStyle/>
                    <a:p>
                      <a:r>
                        <a:rPr lang="en-US" sz="1400" dirty="0" err="1">
                          <a:latin typeface="Courier New" panose="02070309020205020404" pitchFamily="49" charset="0"/>
                          <a:cs typeface="Courier New" panose="02070309020205020404" pitchFamily="49" charset="0"/>
                        </a:rPr>
                        <a:t>np.fromstring</a:t>
                      </a:r>
                      <a:r>
                        <a:rPr lang="en-US" sz="1400" dirty="0">
                          <a:latin typeface="Courier New" panose="02070309020205020404" pitchFamily="49" charset="0"/>
                          <a:cs typeface="Courier New" panose="02070309020205020404" pitchFamily="49" charset="0"/>
                        </a:rPr>
                        <a:t>(string, </a:t>
                      </a:r>
                      <a:r>
                        <a:rPr lang="en-US" sz="1400" dirty="0" err="1">
                          <a:latin typeface="Courier New" panose="02070309020205020404" pitchFamily="49" charset="0"/>
                          <a:cs typeface="Courier New" panose="02070309020205020404" pitchFamily="49" charset="0"/>
                        </a:rPr>
                        <a:t>sep</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Creates an array from a string of values, separated by a delimiter. The </a:t>
                      </a:r>
                      <a:r>
                        <a:rPr lang="en-US" sz="1400" dirty="0" err="1">
                          <a:latin typeface="Courier New" panose="02070309020205020404" pitchFamily="49" charset="0"/>
                          <a:cs typeface="Courier New" panose="02070309020205020404" pitchFamily="49" charset="0"/>
                        </a:rPr>
                        <a:t>sep</a:t>
                      </a:r>
                      <a:r>
                        <a:rPr lang="en-US" sz="1400" dirty="0"/>
                        <a:t> argument is required for text string.</a:t>
                      </a:r>
                    </a:p>
                  </a:txBody>
                  <a:tcPr/>
                </a:tc>
                <a:tc>
                  <a:txBody>
                    <a:bodyPr/>
                    <a:lstStyle/>
                    <a:p>
                      <a:r>
                        <a:rPr lang="en-US" sz="1400" dirty="0" err="1">
                          <a:latin typeface="Courier New" panose="02070309020205020404" pitchFamily="49" charset="0"/>
                          <a:cs typeface="Courier New" panose="02070309020205020404" pitchFamily="49" charset="0"/>
                        </a:rPr>
                        <a:t>np.fromstring</a:t>
                      </a:r>
                      <a:r>
                        <a:rPr lang="en-US" sz="1400" dirty="0">
                          <a:latin typeface="Courier New" panose="02070309020205020404" pitchFamily="49" charset="0"/>
                          <a:cs typeface="Courier New" panose="02070309020205020404" pitchFamily="49" charset="0"/>
                        </a:rPr>
                        <a:t>(‘1 2 3’, </a:t>
                      </a:r>
                      <a:r>
                        <a:rPr lang="en-US" sz="1400" dirty="0" err="1">
                          <a:latin typeface="Courier New" panose="02070309020205020404" pitchFamily="49" charset="0"/>
                          <a:cs typeface="Courier New" panose="02070309020205020404" pitchFamily="49" charset="0"/>
                        </a:rPr>
                        <a:t>dtype</a:t>
                      </a:r>
                      <a:r>
                        <a:rPr lang="en-US" sz="1400" dirty="0">
                          <a:latin typeface="Courier New" panose="02070309020205020404" pitchFamily="49" charset="0"/>
                          <a:cs typeface="Courier New" panose="02070309020205020404" pitchFamily="49" charset="0"/>
                        </a:rPr>
                        <a:t>=int, </a:t>
                      </a:r>
                      <a:r>
                        <a:rPr lang="en-US" sz="1400" dirty="0" err="1">
                          <a:latin typeface="Courier New" panose="02070309020205020404" pitchFamily="49" charset="0"/>
                          <a:cs typeface="Courier New" panose="02070309020205020404" pitchFamily="49" charset="0"/>
                        </a:rPr>
                        <a:t>sep</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[1, 2, 3]</a:t>
                      </a:r>
                    </a:p>
                  </a:txBody>
                  <a:tcPr/>
                </a:tc>
                <a:extLst>
                  <a:ext uri="{0D108BD9-81ED-4DB2-BD59-A6C34878D82A}">
                    <a16:rowId xmlns:a16="http://schemas.microsoft.com/office/drawing/2014/main" val="1564051272"/>
                  </a:ext>
                </a:extLst>
              </a:tr>
            </a:tbl>
          </a:graphicData>
        </a:graphic>
      </p:graphicFrame>
      <p:sp>
        <p:nvSpPr>
          <p:cNvPr id="3" name="Content Placeholder 5">
            <a:extLst>
              <a:ext uri="{FF2B5EF4-FFF2-40B4-BE49-F238E27FC236}">
                <a16:creationId xmlns:a16="http://schemas.microsoft.com/office/drawing/2014/main" id="{289856B9-3A3C-1D34-DEBD-654FBBF8619E}"/>
              </a:ext>
            </a:extLst>
          </p:cNvPr>
          <p:cNvSpPr>
            <a:spLocks noGrp="1"/>
          </p:cNvSpPr>
          <p:nvPr>
            <p:ph idx="1"/>
          </p:nvPr>
        </p:nvSpPr>
        <p:spPr>
          <a:xfrm>
            <a:off x="0" y="6363713"/>
            <a:ext cx="8383980" cy="494288"/>
          </a:xfrm>
        </p:spPr>
        <p:txBody>
          <a:bodyPr>
            <a:normAutofit fontScale="47500" lnSpcReduction="20000"/>
          </a:bodyPr>
          <a:lstStyle/>
          <a:p>
            <a:pPr marL="0" indent="0">
              <a:buNone/>
            </a:pPr>
            <a:r>
              <a:rPr lang="en-US" dirty="0"/>
              <a:t>Note: This list assumes we use ‘np’ as the alias for the </a:t>
            </a:r>
            <a:r>
              <a:rPr lang="en-US" dirty="0" err="1"/>
              <a:t>numpy</a:t>
            </a:r>
            <a:r>
              <a:rPr lang="en-US" dirty="0"/>
              <a:t> import. i.e. </a:t>
            </a: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as np</a:t>
            </a:r>
          </a:p>
          <a:p>
            <a:pPr marL="0" indent="0">
              <a:buNone/>
            </a:pPr>
            <a:r>
              <a:rPr lang="en-US" dirty="0">
                <a:latin typeface="+mj-lt"/>
                <a:cs typeface="Courier New" panose="02070309020205020404" pitchFamily="49" charset="0"/>
              </a:rPr>
              <a:t>More information can be found here: </a:t>
            </a:r>
          </a:p>
        </p:txBody>
      </p:sp>
    </p:spTree>
    <p:extLst>
      <p:ext uri="{BB962C8B-B14F-4D97-AF65-F5344CB8AC3E}">
        <p14:creationId xmlns:p14="http://schemas.microsoft.com/office/powerpoint/2010/main" val="13918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82318-1AB9-F20B-49BE-43460F7629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B68B74-F729-BA49-D66C-B8C518B27B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5" name="Title 4">
            <a:extLst>
              <a:ext uri="{FF2B5EF4-FFF2-40B4-BE49-F238E27FC236}">
                <a16:creationId xmlns:a16="http://schemas.microsoft.com/office/drawing/2014/main" id="{451B5B3D-4E75-FF21-96D1-4DACF0BD6003}"/>
              </a:ext>
            </a:extLst>
          </p:cNvPr>
          <p:cNvSpPr>
            <a:spLocks noGrp="1"/>
          </p:cNvSpPr>
          <p:nvPr>
            <p:ph type="title"/>
          </p:nvPr>
        </p:nvSpPr>
        <p:spPr/>
        <p:txBody>
          <a:bodyPr/>
          <a:lstStyle/>
          <a:p>
            <a:r>
              <a:rPr lang="en-US" dirty="0"/>
              <a:t>Common NumPy Methods – Array Properties &amp; Manipulation</a:t>
            </a:r>
          </a:p>
        </p:txBody>
      </p:sp>
      <p:graphicFrame>
        <p:nvGraphicFramePr>
          <p:cNvPr id="2" name="Table 1">
            <a:extLst>
              <a:ext uri="{FF2B5EF4-FFF2-40B4-BE49-F238E27FC236}">
                <a16:creationId xmlns:a16="http://schemas.microsoft.com/office/drawing/2014/main" id="{F6D0F1FB-FA6E-9325-D256-DAED558CC968}"/>
              </a:ext>
            </a:extLst>
          </p:cNvPr>
          <p:cNvGraphicFramePr>
            <a:graphicFrameLocks noGrp="1"/>
          </p:cNvGraphicFramePr>
          <p:nvPr>
            <p:extLst>
              <p:ext uri="{D42A27DB-BD31-4B8C-83A1-F6EECF244321}">
                <p14:modId xmlns:p14="http://schemas.microsoft.com/office/powerpoint/2010/main" val="1050272354"/>
              </p:ext>
            </p:extLst>
          </p:nvPr>
        </p:nvGraphicFramePr>
        <p:xfrm>
          <a:off x="159574" y="2520135"/>
          <a:ext cx="8824854" cy="4333240"/>
        </p:xfrm>
        <a:graphic>
          <a:graphicData uri="http://schemas.openxmlformats.org/drawingml/2006/table">
            <a:tbl>
              <a:tblPr firstRow="1" bandRow="1">
                <a:tableStyleId>{5C22544A-7EE6-4342-B048-85BDC9FD1C3A}</a:tableStyleId>
              </a:tblPr>
              <a:tblGrid>
                <a:gridCol w="2110097">
                  <a:extLst>
                    <a:ext uri="{9D8B030D-6E8A-4147-A177-3AD203B41FA5}">
                      <a16:colId xmlns:a16="http://schemas.microsoft.com/office/drawing/2014/main" val="4202507141"/>
                    </a:ext>
                  </a:extLst>
                </a:gridCol>
                <a:gridCol w="3706586">
                  <a:extLst>
                    <a:ext uri="{9D8B030D-6E8A-4147-A177-3AD203B41FA5}">
                      <a16:colId xmlns:a16="http://schemas.microsoft.com/office/drawing/2014/main" val="2653014772"/>
                    </a:ext>
                  </a:extLst>
                </a:gridCol>
                <a:gridCol w="3008171">
                  <a:extLst>
                    <a:ext uri="{9D8B030D-6E8A-4147-A177-3AD203B41FA5}">
                      <a16:colId xmlns:a16="http://schemas.microsoft.com/office/drawing/2014/main" val="3231311561"/>
                    </a:ext>
                  </a:extLst>
                </a:gridCol>
              </a:tblGrid>
              <a:tr h="370840">
                <a:tc>
                  <a:txBody>
                    <a:bodyPr/>
                    <a:lstStyle/>
                    <a:p>
                      <a:r>
                        <a:rPr lang="en-US" dirty="0"/>
                        <a:t>Method</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err="1">
                          <a:latin typeface="Courier New" panose="02070309020205020404" pitchFamily="49" charset="0"/>
                          <a:cs typeface="Courier New" panose="02070309020205020404" pitchFamily="49" charset="0"/>
                        </a:rPr>
                        <a:t>np.split</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sections)</a:t>
                      </a:r>
                    </a:p>
                  </a:txBody>
                  <a:tcPr/>
                </a:tc>
                <a:tc>
                  <a:txBody>
                    <a:bodyPr/>
                    <a:lstStyle/>
                    <a:p>
                      <a:r>
                        <a:rPr lang="en-US" sz="1400" dirty="0"/>
                        <a:t>Splits an array into multiple sub-arrays. </a:t>
                      </a:r>
                    </a:p>
                  </a:txBody>
                  <a:tcPr/>
                </a:tc>
                <a:tc>
                  <a:txBody>
                    <a:bodyPr/>
                    <a:lstStyle/>
                    <a:p>
                      <a:r>
                        <a:rPr lang="en-US" sz="1400" dirty="0" err="1">
                          <a:latin typeface="Courier New" panose="02070309020205020404" pitchFamily="49" charset="0"/>
                          <a:cs typeface="Courier New" panose="02070309020205020404" pitchFamily="49" charset="0"/>
                        </a:rPr>
                        <a:t>np.split</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2) # [array([1,2,3]), array([4,5,6])]</a:t>
                      </a:r>
                    </a:p>
                  </a:txBody>
                  <a:tcPr/>
                </a:tc>
                <a:extLst>
                  <a:ext uri="{0D108BD9-81ED-4DB2-BD59-A6C34878D82A}">
                    <a16:rowId xmlns:a16="http://schemas.microsoft.com/office/drawing/2014/main" val="2124088066"/>
                  </a:ext>
                </a:extLst>
              </a:tr>
              <a:tr h="370840">
                <a:tc>
                  <a:txBody>
                    <a:bodyPr/>
                    <a:lstStyle/>
                    <a:p>
                      <a:r>
                        <a:rPr lang="en-US" sz="1400" dirty="0" err="1">
                          <a:latin typeface="Courier New" panose="02070309020205020404" pitchFamily="49" charset="0"/>
                          <a:cs typeface="Courier New" panose="02070309020205020404" pitchFamily="49" charset="0"/>
                        </a:rPr>
                        <a:t>np.asarray</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Converts an input (list, ,tuple, or existing array) to an array. </a:t>
                      </a:r>
                    </a:p>
                  </a:txBody>
                  <a:tcPr/>
                </a:tc>
                <a:tc>
                  <a:txBody>
                    <a:bodyPr/>
                    <a:lstStyle/>
                    <a:p>
                      <a:r>
                        <a:rPr lang="en-US" sz="1400" dirty="0" err="1">
                          <a:latin typeface="Courier New" panose="02070309020205020404" pitchFamily="49" charset="0"/>
                          <a:cs typeface="Courier New" panose="02070309020205020404" pitchFamily="49" charset="0"/>
                        </a:rPr>
                        <a:t>np.asarray</a:t>
                      </a:r>
                      <a:r>
                        <a:rPr lang="en-US" sz="1400" dirty="0">
                          <a:latin typeface="Courier New" panose="02070309020205020404" pitchFamily="49" charset="0"/>
                          <a:cs typeface="Courier New" panose="02070309020205020404" pitchFamily="49" charset="0"/>
                        </a:rPr>
                        <a:t>([1,2,3]) # new 1x3 array</a:t>
                      </a:r>
                    </a:p>
                  </a:txBody>
                  <a:tcPr/>
                </a:tc>
                <a:extLst>
                  <a:ext uri="{0D108BD9-81ED-4DB2-BD59-A6C34878D82A}">
                    <a16:rowId xmlns:a16="http://schemas.microsoft.com/office/drawing/2014/main" val="1418808306"/>
                  </a:ext>
                </a:extLst>
              </a:tr>
              <a:tr h="370840">
                <a:tc>
                  <a:txBody>
                    <a:bodyPr/>
                    <a:lstStyle/>
                    <a:p>
                      <a:r>
                        <a:rPr lang="en-US" sz="1400" dirty="0" err="1">
                          <a:latin typeface="Courier New" panose="02070309020205020404" pitchFamily="49" charset="0"/>
                          <a:cs typeface="Courier New" panose="02070309020205020404" pitchFamily="49" charset="0"/>
                        </a:rPr>
                        <a:t>np.reshape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Returns an array with the same data, but a new shape. The total number of elements must remain the same</a:t>
                      </a:r>
                    </a:p>
                  </a:txBody>
                  <a:tcPr/>
                </a:tc>
                <a:tc>
                  <a:txBody>
                    <a:bodyPr/>
                    <a:lstStyle/>
                    <a:p>
                      <a:r>
                        <a:rPr lang="en-US" sz="1400" dirty="0" err="1">
                          <a:latin typeface="Courier New" panose="02070309020205020404" pitchFamily="49" charset="0"/>
                          <a:cs typeface="Courier New" panose="02070309020205020404" pitchFamily="49" charset="0"/>
                        </a:rPr>
                        <a:t>np.reshape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(3,2)) # array with 3 rows and 2 columns</a:t>
                      </a:r>
                    </a:p>
                  </a:txBody>
                  <a:tcPr/>
                </a:tc>
                <a:extLst>
                  <a:ext uri="{0D108BD9-81ED-4DB2-BD59-A6C34878D82A}">
                    <a16:rowId xmlns:a16="http://schemas.microsoft.com/office/drawing/2014/main" val="2056458437"/>
                  </a:ext>
                </a:extLst>
              </a:tr>
              <a:tr h="370840">
                <a:tc>
                  <a:txBody>
                    <a:bodyPr/>
                    <a:lstStyle/>
                    <a:p>
                      <a:r>
                        <a:rPr lang="en-US" sz="1400" dirty="0" err="1">
                          <a:latin typeface="Courier New" panose="02070309020205020404" pitchFamily="49" charset="0"/>
                          <a:cs typeface="Courier New" panose="02070309020205020404" pitchFamily="49" charset="0"/>
                        </a:rPr>
                        <a:t>np.size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axis)</a:t>
                      </a:r>
                    </a:p>
                  </a:txBody>
                  <a:tcPr/>
                </a:tc>
                <a:tc>
                  <a:txBody>
                    <a:bodyPr/>
                    <a:lstStyle/>
                    <a:p>
                      <a:r>
                        <a:rPr lang="en-US" sz="1400" dirty="0"/>
                        <a:t>Returns the total number of elements in an array, if axis is specified, returns the size along that axis only</a:t>
                      </a:r>
                    </a:p>
                  </a:txBody>
                  <a:tcPr/>
                </a:tc>
                <a:tc>
                  <a:txBody>
                    <a:bodyPr/>
                    <a:lstStyle/>
                    <a:p>
                      <a:r>
                        <a:rPr lang="en-US" sz="1400" dirty="0" err="1">
                          <a:latin typeface="Courier New" panose="02070309020205020404" pitchFamily="49" charset="0"/>
                          <a:cs typeface="Courier New" panose="02070309020205020404" pitchFamily="49" charset="0"/>
                        </a:rPr>
                        <a:t>np.size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 6</a:t>
                      </a:r>
                    </a:p>
                    <a:p>
                      <a:r>
                        <a:rPr lang="en-US" sz="1400" dirty="0" err="1">
                          <a:latin typeface="Courier New" panose="02070309020205020404" pitchFamily="49" charset="0"/>
                          <a:cs typeface="Courier New" panose="02070309020205020404" pitchFamily="49" charset="0"/>
                        </a:rPr>
                        <a:t>np.size</a:t>
                      </a:r>
                      <a:r>
                        <a:rPr lang="en-US" sz="1400" dirty="0">
                          <a:latin typeface="Courier New" panose="02070309020205020404" pitchFamily="49" charset="0"/>
                          <a:cs typeface="Courier New" panose="02070309020205020404" pitchFamily="49" charset="0"/>
                        </a:rPr>
                        <a:t>(arr,0) # 2</a:t>
                      </a:r>
                    </a:p>
                  </a:txBody>
                  <a:tcPr/>
                </a:tc>
                <a:extLst>
                  <a:ext uri="{0D108BD9-81ED-4DB2-BD59-A6C34878D82A}">
                    <a16:rowId xmlns:a16="http://schemas.microsoft.com/office/drawing/2014/main" val="2693395756"/>
                  </a:ext>
                </a:extLst>
              </a:tr>
              <a:tr h="370840">
                <a:tc>
                  <a:txBody>
                    <a:bodyPr/>
                    <a:lstStyle/>
                    <a:p>
                      <a:r>
                        <a:rPr lang="en-US" sz="1400" dirty="0" err="1">
                          <a:latin typeface="Courier New" panose="02070309020205020404" pitchFamily="49" charset="0"/>
                          <a:cs typeface="Courier New" panose="02070309020205020404" pitchFamily="49" charset="0"/>
                        </a:rPr>
                        <a:t>np.shape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Returns the dimensions of an array as a tuple of integers. For a 2D array, returns (rows, columns)</a:t>
                      </a:r>
                    </a:p>
                  </a:txBody>
                  <a:tcPr/>
                </a:tc>
                <a:tc>
                  <a:txBody>
                    <a:bodyPr/>
                    <a:lstStyle/>
                    <a:p>
                      <a:r>
                        <a:rPr lang="en-US" sz="1400" dirty="0" err="1">
                          <a:latin typeface="Courier New" panose="02070309020205020404" pitchFamily="49" charset="0"/>
                          <a:cs typeface="Courier New" panose="02070309020205020404" pitchFamily="49" charset="0"/>
                        </a:rPr>
                        <a:t>np.shape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 (2,3)</a:t>
                      </a:r>
                    </a:p>
                  </a:txBody>
                  <a:tcPr/>
                </a:tc>
                <a:extLst>
                  <a:ext uri="{0D108BD9-81ED-4DB2-BD59-A6C34878D82A}">
                    <a16:rowId xmlns:a16="http://schemas.microsoft.com/office/drawing/2014/main" val="1564051272"/>
                  </a:ext>
                </a:extLst>
              </a:tr>
              <a:tr h="370840">
                <a:tc>
                  <a:txBody>
                    <a:bodyPr/>
                    <a:lstStyle/>
                    <a:p>
                      <a:r>
                        <a:rPr lang="en-US" sz="1400" dirty="0" err="1">
                          <a:latin typeface="Courier New" panose="02070309020205020404" pitchFamily="49" charset="0"/>
                          <a:cs typeface="Courier New" panose="02070309020205020404" pitchFamily="49" charset="0"/>
                        </a:rPr>
                        <a:t>arr.dtype</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A property of NumPy array objects which return the data type of an array’s elements.</a:t>
                      </a:r>
                    </a:p>
                  </a:txBody>
                  <a:tcPr/>
                </a:tc>
                <a:tc>
                  <a:txBody>
                    <a:bodyPr/>
                    <a:lstStyle/>
                    <a:p>
                      <a:r>
                        <a:rPr lang="en-US" sz="1400" dirty="0" err="1">
                          <a:latin typeface="Courier New" panose="02070309020205020404" pitchFamily="49" charset="0"/>
                          <a:cs typeface="Courier New" panose="02070309020205020404" pitchFamily="49" charset="0"/>
                        </a:rPr>
                        <a:t>arr.dtype</a:t>
                      </a:r>
                      <a:r>
                        <a:rPr lang="en-US" sz="1400" dirty="0">
                          <a:latin typeface="Courier New" panose="02070309020205020404" pitchFamily="49" charset="0"/>
                          <a:cs typeface="Courier New" panose="02070309020205020404" pitchFamily="49" charset="0"/>
                        </a:rPr>
                        <a:t> # int64 (or float64)</a:t>
                      </a:r>
                    </a:p>
                  </a:txBody>
                  <a:tcPr/>
                </a:tc>
                <a:extLst>
                  <a:ext uri="{0D108BD9-81ED-4DB2-BD59-A6C34878D82A}">
                    <a16:rowId xmlns:a16="http://schemas.microsoft.com/office/drawing/2014/main" val="1859701164"/>
                  </a:ext>
                </a:extLst>
              </a:tr>
            </a:tbl>
          </a:graphicData>
        </a:graphic>
      </p:graphicFrame>
      <p:sp>
        <p:nvSpPr>
          <p:cNvPr id="6" name="Content Placeholder 5">
            <a:extLst>
              <a:ext uri="{FF2B5EF4-FFF2-40B4-BE49-F238E27FC236}">
                <a16:creationId xmlns:a16="http://schemas.microsoft.com/office/drawing/2014/main" id="{F65CF17F-64C7-7C73-1B49-CDBCE1876D94}"/>
              </a:ext>
            </a:extLst>
          </p:cNvPr>
          <p:cNvSpPr txBox="1">
            <a:spLocks/>
          </p:cNvSpPr>
          <p:nvPr/>
        </p:nvSpPr>
        <p:spPr>
          <a:xfrm>
            <a:off x="380010" y="1341838"/>
            <a:ext cx="8383980" cy="1298765"/>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dirty="0"/>
              <a:t>For these examples, lets assume we have an array that looks like this:</a:t>
            </a:r>
          </a:p>
          <a:p>
            <a:pPr marL="0" indent="0">
              <a:buFont typeface="Arial" panose="020B0604020202020204" pitchFamily="34" charset="0"/>
              <a:buNone/>
            </a:pPr>
            <a:r>
              <a:rPr lang="en-US" dirty="0" err="1">
                <a:latin typeface="Courier New" panose="02070309020205020404" pitchFamily="49" charset="0"/>
                <a:cs typeface="Courier New" panose="02070309020205020404" pitchFamily="49" charset="0"/>
              </a:rPr>
              <a:t>arr</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np.array</a:t>
            </a:r>
            <a:r>
              <a:rPr lang="en-US" dirty="0">
                <a:latin typeface="Courier New" panose="02070309020205020404" pitchFamily="49" charset="0"/>
                <a:cs typeface="Courier New" panose="02070309020205020404" pitchFamily="49" charset="0"/>
              </a:rPr>
              <a:t>([</a:t>
            </a:r>
          </a:p>
          <a:p>
            <a:pPr marL="0" indent="0">
              <a:buFont typeface="Arial" panose="020B0604020202020204" pitchFamily="34" charset="0"/>
              <a:buNone/>
            </a:pPr>
            <a:r>
              <a:rPr lang="en-US" dirty="0">
                <a:latin typeface="Courier New" panose="02070309020205020404" pitchFamily="49" charset="0"/>
                <a:cs typeface="Courier New" panose="02070309020205020404" pitchFamily="49" charset="0"/>
              </a:rPr>
              <a:t>   [1, 2, 3],</a:t>
            </a:r>
          </a:p>
          <a:p>
            <a:pPr marL="0" indent="0">
              <a:buFont typeface="Arial" panose="020B0604020202020204" pitchFamily="34" charset="0"/>
              <a:buNone/>
            </a:pPr>
            <a:r>
              <a:rPr lang="en-US" dirty="0">
                <a:latin typeface="Courier New" panose="02070309020205020404" pitchFamily="49" charset="0"/>
                <a:cs typeface="Courier New" panose="02070309020205020404" pitchFamily="49" charset="0"/>
              </a:rPr>
              <a:t>   [4, 5, 6]</a:t>
            </a:r>
          </a:p>
          <a:p>
            <a:pPr marL="0" indent="0">
              <a:buFont typeface="Arial" panose="020B0604020202020204" pitchFamily="34" charset="0"/>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1262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3892A-D360-731A-6275-7AA1C7769B9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CE9AC1-A608-3FF3-9F4F-3566711CB4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itle 4">
            <a:extLst>
              <a:ext uri="{FF2B5EF4-FFF2-40B4-BE49-F238E27FC236}">
                <a16:creationId xmlns:a16="http://schemas.microsoft.com/office/drawing/2014/main" id="{3928B4A6-B477-DC20-9EE5-4EA0C3BD300A}"/>
              </a:ext>
            </a:extLst>
          </p:cNvPr>
          <p:cNvSpPr>
            <a:spLocks noGrp="1"/>
          </p:cNvSpPr>
          <p:nvPr>
            <p:ph type="title"/>
          </p:nvPr>
        </p:nvSpPr>
        <p:spPr/>
        <p:txBody>
          <a:bodyPr/>
          <a:lstStyle/>
          <a:p>
            <a:r>
              <a:rPr lang="en-US" dirty="0"/>
              <a:t>Common NumPy Methods - Statistics</a:t>
            </a:r>
          </a:p>
        </p:txBody>
      </p:sp>
      <p:graphicFrame>
        <p:nvGraphicFramePr>
          <p:cNvPr id="2" name="Table 1">
            <a:extLst>
              <a:ext uri="{FF2B5EF4-FFF2-40B4-BE49-F238E27FC236}">
                <a16:creationId xmlns:a16="http://schemas.microsoft.com/office/drawing/2014/main" id="{F1874F72-C31C-AA64-A1AE-C5D5ABDD178B}"/>
              </a:ext>
            </a:extLst>
          </p:cNvPr>
          <p:cNvGraphicFramePr>
            <a:graphicFrameLocks noGrp="1"/>
          </p:cNvGraphicFramePr>
          <p:nvPr>
            <p:extLst>
              <p:ext uri="{D42A27DB-BD31-4B8C-83A1-F6EECF244321}">
                <p14:modId xmlns:p14="http://schemas.microsoft.com/office/powerpoint/2010/main" val="3140712488"/>
              </p:ext>
            </p:extLst>
          </p:nvPr>
        </p:nvGraphicFramePr>
        <p:xfrm>
          <a:off x="159573" y="1475740"/>
          <a:ext cx="8824854" cy="3906520"/>
        </p:xfrm>
        <a:graphic>
          <a:graphicData uri="http://schemas.openxmlformats.org/drawingml/2006/table">
            <a:tbl>
              <a:tblPr firstRow="1" bandRow="1">
                <a:tableStyleId>{5C22544A-7EE6-4342-B048-85BDC9FD1C3A}</a:tableStyleId>
              </a:tblPr>
              <a:tblGrid>
                <a:gridCol w="3201360">
                  <a:extLst>
                    <a:ext uri="{9D8B030D-6E8A-4147-A177-3AD203B41FA5}">
                      <a16:colId xmlns:a16="http://schemas.microsoft.com/office/drawing/2014/main" val="4202507141"/>
                    </a:ext>
                  </a:extLst>
                </a:gridCol>
                <a:gridCol w="5623494">
                  <a:extLst>
                    <a:ext uri="{9D8B030D-6E8A-4147-A177-3AD203B41FA5}">
                      <a16:colId xmlns:a16="http://schemas.microsoft.com/office/drawing/2014/main" val="2653014772"/>
                    </a:ext>
                  </a:extLst>
                </a:gridCol>
              </a:tblGrid>
              <a:tr h="370840">
                <a:tc>
                  <a:txBody>
                    <a:bodyPr/>
                    <a:lstStyle/>
                    <a:p>
                      <a:r>
                        <a:rPr lang="en-US" dirty="0"/>
                        <a:t>Method</a:t>
                      </a:r>
                    </a:p>
                  </a:txBody>
                  <a:tcPr/>
                </a:tc>
                <a:tc>
                  <a:txBody>
                    <a:bodyPr/>
                    <a:lstStyle/>
                    <a:p>
                      <a:r>
                        <a:rPr lang="en-US" dirty="0"/>
                        <a:t>Description</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mean(a, axis=None)</a:t>
                      </a:r>
                    </a:p>
                  </a:txBody>
                  <a:tcPr/>
                </a:tc>
                <a:tc>
                  <a:txBody>
                    <a:bodyPr/>
                    <a:lstStyle/>
                    <a:p>
                      <a:r>
                        <a:rPr lang="en-US" sz="1400" dirty="0"/>
                        <a:t>Calculates the arithmetic mean (average) of all elements of the given array. If axis is specified, the mean is computed along that axis only.</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sum(a, axis=None)</a:t>
                      </a:r>
                    </a:p>
                  </a:txBody>
                  <a:tcPr/>
                </a:tc>
                <a:tc>
                  <a:txBody>
                    <a:bodyPr/>
                    <a:lstStyle/>
                    <a:p>
                      <a:r>
                        <a:rPr lang="en-US" sz="1400" dirty="0"/>
                        <a:t>Calculates the sum of all elements of an array. If an axis is specified, calculated sum across axis.</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min(a, axis=None)</a:t>
                      </a:r>
                    </a:p>
                    <a:p>
                      <a:r>
                        <a:rPr lang="en-US" sz="1400" dirty="0">
                          <a:latin typeface="Courier New" panose="02070309020205020404" pitchFamily="49" charset="0"/>
                          <a:cs typeface="Courier New" panose="02070309020205020404" pitchFamily="49" charset="0"/>
                        </a:rPr>
                        <a:t>and</a:t>
                      </a:r>
                    </a:p>
                    <a:p>
                      <a:r>
                        <a:rPr lang="en-US" sz="1400" dirty="0">
                          <a:latin typeface="Courier New" panose="02070309020205020404" pitchFamily="49" charset="0"/>
                          <a:cs typeface="Courier New" panose="02070309020205020404" pitchFamily="49" charset="0"/>
                        </a:rPr>
                        <a:t>max(a, axis=None)</a:t>
                      </a:r>
                    </a:p>
                  </a:txBody>
                  <a:tcPr/>
                </a:tc>
                <a:tc>
                  <a:txBody>
                    <a:bodyPr/>
                    <a:lstStyle/>
                    <a:p>
                      <a:r>
                        <a:rPr lang="en-US" sz="1400" dirty="0"/>
                        <a:t>Returns the minimum / maximum value in an array. If axis is specified, returns the minimum along that axis</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std(a, axis=None)</a:t>
                      </a:r>
                    </a:p>
                  </a:txBody>
                  <a:tcPr/>
                </a:tc>
                <a:tc>
                  <a:txBody>
                    <a:bodyPr/>
                    <a:lstStyle/>
                    <a:p>
                      <a:r>
                        <a:rPr lang="en-US" sz="1400" dirty="0"/>
                        <a:t>Calculates the standard deviation of all elements (a measure of how spread-out values are from the mean). If an axis is specified, calculates only across that axis.</a:t>
                      </a:r>
                    </a:p>
                  </a:txBody>
                  <a:tcPr/>
                </a:tc>
                <a:extLst>
                  <a:ext uri="{0D108BD9-81ED-4DB2-BD59-A6C34878D82A}">
                    <a16:rowId xmlns:a16="http://schemas.microsoft.com/office/drawing/2014/main" val="2693395756"/>
                  </a:ext>
                </a:extLst>
              </a:tr>
              <a:tr h="370840">
                <a:tc>
                  <a:txBody>
                    <a:bodyPr/>
                    <a:lstStyle/>
                    <a:p>
                      <a:r>
                        <a:rPr lang="en-US" sz="1400" dirty="0">
                          <a:latin typeface="Courier New" panose="02070309020205020404" pitchFamily="49" charset="0"/>
                          <a:cs typeface="Courier New" panose="02070309020205020404" pitchFamily="49" charset="0"/>
                        </a:rPr>
                        <a:t>median(a, axis=None)</a:t>
                      </a:r>
                    </a:p>
                  </a:txBody>
                  <a:tcPr/>
                </a:tc>
                <a:tc>
                  <a:txBody>
                    <a:bodyPr/>
                    <a:lstStyle/>
                    <a:p>
                      <a:r>
                        <a:rPr lang="en-US" sz="1400" dirty="0"/>
                        <a:t>Returns the median value (the middle value when an array is sorted). If an axis is provided, only returns the median across that axis.</a:t>
                      </a:r>
                    </a:p>
                  </a:txBody>
                  <a:tcPr/>
                </a:tc>
                <a:extLst>
                  <a:ext uri="{0D108BD9-81ED-4DB2-BD59-A6C34878D82A}">
                    <a16:rowId xmlns:a16="http://schemas.microsoft.com/office/drawing/2014/main" val="1564051272"/>
                  </a:ext>
                </a:extLst>
              </a:tr>
              <a:tr h="370840">
                <a:tc>
                  <a:txBody>
                    <a:bodyPr/>
                    <a:lstStyle/>
                    <a:p>
                      <a:r>
                        <a:rPr lang="en-US" sz="1400" dirty="0">
                          <a:latin typeface="Courier New" panose="02070309020205020404" pitchFamily="49" charset="0"/>
                          <a:cs typeface="Courier New" panose="02070309020205020404" pitchFamily="49" charset="0"/>
                        </a:rPr>
                        <a:t>percentile(a, q, axis=None)</a:t>
                      </a:r>
                    </a:p>
                  </a:txBody>
                  <a:tcPr/>
                </a:tc>
                <a:tc>
                  <a:txBody>
                    <a:bodyPr/>
                    <a:lstStyle/>
                    <a:p>
                      <a:r>
                        <a:rPr lang="en-US" sz="1400" dirty="0"/>
                        <a:t>Returns the value at the </a:t>
                      </a:r>
                      <a:r>
                        <a:rPr lang="en-US" sz="1400" dirty="0" err="1"/>
                        <a:t>qth</a:t>
                      </a:r>
                      <a:r>
                        <a:rPr lang="en-US" sz="1400" dirty="0"/>
                        <a:t> percentile of an array. Q can be a single value or a list of percentiles.</a:t>
                      </a:r>
                    </a:p>
                  </a:txBody>
                  <a:tcPr/>
                </a:tc>
                <a:extLst>
                  <a:ext uri="{0D108BD9-81ED-4DB2-BD59-A6C34878D82A}">
                    <a16:rowId xmlns:a16="http://schemas.microsoft.com/office/drawing/2014/main" val="1859701164"/>
                  </a:ext>
                </a:extLst>
              </a:tr>
            </a:tbl>
          </a:graphicData>
        </a:graphic>
      </p:graphicFrame>
      <p:sp>
        <p:nvSpPr>
          <p:cNvPr id="3" name="Content Placeholder 5">
            <a:extLst>
              <a:ext uri="{FF2B5EF4-FFF2-40B4-BE49-F238E27FC236}">
                <a16:creationId xmlns:a16="http://schemas.microsoft.com/office/drawing/2014/main" id="{89693B18-5933-D201-36B7-846A66DA31C4}"/>
              </a:ext>
            </a:extLst>
          </p:cNvPr>
          <p:cNvSpPr>
            <a:spLocks noGrp="1"/>
          </p:cNvSpPr>
          <p:nvPr>
            <p:ph idx="1"/>
          </p:nvPr>
        </p:nvSpPr>
        <p:spPr>
          <a:xfrm>
            <a:off x="0" y="6363713"/>
            <a:ext cx="8383980" cy="494288"/>
          </a:xfrm>
        </p:spPr>
        <p:txBody>
          <a:bodyPr>
            <a:normAutofit fontScale="47500" lnSpcReduction="20000"/>
          </a:bodyPr>
          <a:lstStyle/>
          <a:p>
            <a:pPr marL="0" indent="0">
              <a:buNone/>
            </a:pPr>
            <a:r>
              <a:rPr lang="en-US" dirty="0"/>
              <a:t>Note: This list assumes we use ‘np’ as the alias for the </a:t>
            </a:r>
            <a:r>
              <a:rPr lang="en-US" dirty="0" err="1"/>
              <a:t>numpy</a:t>
            </a:r>
            <a:r>
              <a:rPr lang="en-US" dirty="0"/>
              <a:t> import. i.e. </a:t>
            </a:r>
            <a:r>
              <a:rPr lang="en-US" dirty="0">
                <a:latin typeface="Courier New" panose="02070309020205020404" pitchFamily="49" charset="0"/>
                <a:cs typeface="Courier New" panose="02070309020205020404" pitchFamily="49" charset="0"/>
              </a:rPr>
              <a:t>import </a:t>
            </a:r>
            <a:r>
              <a:rPr lang="en-US" dirty="0" err="1">
                <a:latin typeface="Courier New" panose="02070309020205020404" pitchFamily="49" charset="0"/>
                <a:cs typeface="Courier New" panose="02070309020205020404" pitchFamily="49" charset="0"/>
              </a:rPr>
              <a:t>numpy</a:t>
            </a:r>
            <a:r>
              <a:rPr lang="en-US" dirty="0">
                <a:latin typeface="Courier New" panose="02070309020205020404" pitchFamily="49" charset="0"/>
                <a:cs typeface="Courier New" panose="02070309020205020404" pitchFamily="49" charset="0"/>
              </a:rPr>
              <a:t> as np</a:t>
            </a:r>
          </a:p>
          <a:p>
            <a:pPr marL="0" indent="0">
              <a:buNone/>
            </a:pPr>
            <a:r>
              <a:rPr lang="en-US" dirty="0">
                <a:latin typeface="+mj-lt"/>
                <a:cs typeface="Courier New" panose="02070309020205020404" pitchFamily="49" charset="0"/>
              </a:rPr>
              <a:t>Note: This is not a full list of available methods</a:t>
            </a:r>
          </a:p>
        </p:txBody>
      </p:sp>
    </p:spTree>
    <p:extLst>
      <p:ext uri="{BB962C8B-B14F-4D97-AF65-F5344CB8AC3E}">
        <p14:creationId xmlns:p14="http://schemas.microsoft.com/office/powerpoint/2010/main" val="256175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60E6-0B5D-88EE-0C5A-C302B16780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696043-A79D-FF9D-64A7-AC7900EC40B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C746DA01-735E-FC95-6C1A-32083A6C4F5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Pandas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24D9E3D4-8D20-CD4E-8106-79EBFC93DB8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821841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7893-98C1-3ACD-3FCB-3562D9523B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E94B6D-0231-6AEE-7699-B1CF1123BA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Content Placeholder 5">
            <a:extLst>
              <a:ext uri="{FF2B5EF4-FFF2-40B4-BE49-F238E27FC236}">
                <a16:creationId xmlns:a16="http://schemas.microsoft.com/office/drawing/2014/main" id="{CAECFB09-0095-435F-E5EE-A864E814FD98}"/>
              </a:ext>
            </a:extLst>
          </p:cNvPr>
          <p:cNvSpPr>
            <a:spLocks noGrp="1"/>
          </p:cNvSpPr>
          <p:nvPr>
            <p:ph idx="1"/>
          </p:nvPr>
        </p:nvSpPr>
        <p:spPr/>
        <p:txBody>
          <a:bodyPr>
            <a:normAutofit fontScale="85000" lnSpcReduction="10000"/>
          </a:bodyPr>
          <a:lstStyle/>
          <a:p>
            <a:r>
              <a:rPr lang="en-US" dirty="0"/>
              <a:t>Powerful open-source data analysis and manipulation library.</a:t>
            </a:r>
          </a:p>
          <a:p>
            <a:r>
              <a:rPr lang="en-US" dirty="0"/>
              <a:t>Name is derived from ‘Panel Data’.</a:t>
            </a:r>
          </a:p>
          <a:p>
            <a:r>
              <a:rPr lang="en-US" dirty="0"/>
              <a:t>Built on top of NumPy</a:t>
            </a:r>
          </a:p>
          <a:p>
            <a:r>
              <a:rPr lang="en-US" dirty="0"/>
              <a:t>Install via PIP: </a:t>
            </a:r>
            <a:r>
              <a:rPr lang="en-US" dirty="0">
                <a:latin typeface="Courier New" panose="02070309020205020404" pitchFamily="49" charset="0"/>
                <a:cs typeface="Courier New" panose="02070309020205020404" pitchFamily="49" charset="0"/>
              </a:rPr>
              <a:t>pip install pandas</a:t>
            </a:r>
          </a:p>
          <a:p>
            <a:pPr lvl="1"/>
            <a:r>
              <a:rPr lang="en-US" dirty="0"/>
              <a:t>Conventionally, imported using ‘pd’ alias: </a:t>
            </a:r>
            <a:br>
              <a:rPr lang="en-US" dirty="0"/>
            </a:br>
            <a:r>
              <a:rPr lang="en-US" dirty="0">
                <a:latin typeface="Courier New" panose="02070309020205020404" pitchFamily="49" charset="0"/>
                <a:cs typeface="Courier New" panose="02070309020205020404" pitchFamily="49" charset="0"/>
              </a:rPr>
              <a:t>import pandas as pd</a:t>
            </a:r>
          </a:p>
          <a:p>
            <a:r>
              <a:rPr lang="en-US" dirty="0"/>
              <a:t>Core data structures: Series (1D) and </a:t>
            </a:r>
            <a:r>
              <a:rPr lang="en-US" dirty="0" err="1"/>
              <a:t>DataFrame</a:t>
            </a:r>
            <a:r>
              <a:rPr lang="en-US" dirty="0"/>
              <a:t> (2D)</a:t>
            </a:r>
          </a:p>
          <a:p>
            <a:pPr lvl="1"/>
            <a:r>
              <a:rPr lang="en-US" dirty="0"/>
              <a:t>A series represents a single column or row of data</a:t>
            </a:r>
          </a:p>
          <a:p>
            <a:pPr lvl="1"/>
            <a:r>
              <a:rPr lang="en-US" dirty="0"/>
              <a:t>A </a:t>
            </a:r>
            <a:r>
              <a:rPr lang="en-US" dirty="0" err="1"/>
              <a:t>DataFrame</a:t>
            </a:r>
            <a:r>
              <a:rPr lang="en-US" dirty="0"/>
              <a:t> is a table of data with labelled rows and columns</a:t>
            </a:r>
          </a:p>
          <a:p>
            <a:r>
              <a:rPr lang="en-US" dirty="0"/>
              <a:t>Pandas is widely used in data science, analytics, finances and machine learning pipelines</a:t>
            </a:r>
          </a:p>
          <a:p>
            <a:endParaRPr lang="en-US" dirty="0"/>
          </a:p>
        </p:txBody>
      </p:sp>
      <p:sp>
        <p:nvSpPr>
          <p:cNvPr id="5" name="Title 4">
            <a:extLst>
              <a:ext uri="{FF2B5EF4-FFF2-40B4-BE49-F238E27FC236}">
                <a16:creationId xmlns:a16="http://schemas.microsoft.com/office/drawing/2014/main" id="{5860D919-BFB6-9787-8505-8B263C43524F}"/>
              </a:ext>
            </a:extLst>
          </p:cNvPr>
          <p:cNvSpPr>
            <a:spLocks noGrp="1"/>
          </p:cNvSpPr>
          <p:nvPr>
            <p:ph type="title"/>
          </p:nvPr>
        </p:nvSpPr>
        <p:spPr/>
        <p:txBody>
          <a:bodyPr/>
          <a:lstStyle/>
          <a:p>
            <a:r>
              <a:rPr lang="en-US" dirty="0"/>
              <a:t>Pandas – Intro</a:t>
            </a:r>
          </a:p>
        </p:txBody>
      </p:sp>
    </p:spTree>
    <p:extLst>
      <p:ext uri="{BB962C8B-B14F-4D97-AF65-F5344CB8AC3E}">
        <p14:creationId xmlns:p14="http://schemas.microsoft.com/office/powerpoint/2010/main" val="155943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663F1-F721-8DC3-56B4-46FB34FA95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F5CE4E-31B5-6602-2124-6FF6F2E9C2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Content Placeholder 5">
            <a:extLst>
              <a:ext uri="{FF2B5EF4-FFF2-40B4-BE49-F238E27FC236}">
                <a16:creationId xmlns:a16="http://schemas.microsoft.com/office/drawing/2014/main" id="{F3F65FB2-CA44-86EB-83A8-2F78E0150298}"/>
              </a:ext>
            </a:extLst>
          </p:cNvPr>
          <p:cNvSpPr>
            <a:spLocks noGrp="1"/>
          </p:cNvSpPr>
          <p:nvPr>
            <p:ph idx="1"/>
          </p:nvPr>
        </p:nvSpPr>
        <p:spPr>
          <a:xfrm>
            <a:off x="380010" y="1481446"/>
            <a:ext cx="8383980" cy="4882266"/>
          </a:xfrm>
        </p:spPr>
        <p:txBody>
          <a:bodyPr>
            <a:normAutofit fontScale="92500" lnSpcReduction="20000"/>
          </a:bodyPr>
          <a:lstStyle/>
          <a:p>
            <a:r>
              <a:rPr lang="en-US" dirty="0"/>
              <a:t>A Series is a one-dimensional labelled array. It has both values and an index</a:t>
            </a:r>
          </a:p>
          <a:p>
            <a:r>
              <a:rPr lang="en-US" dirty="0"/>
              <a:t>A </a:t>
            </a:r>
            <a:r>
              <a:rPr lang="en-US" dirty="0" err="1"/>
              <a:t>DataFrame</a:t>
            </a:r>
            <a:r>
              <a:rPr lang="en-US" dirty="0"/>
              <a:t> is a two-dimensional table of rows and columns (think of it as a collection of Series sharing a common index)</a:t>
            </a:r>
          </a:p>
          <a:p>
            <a:r>
              <a:rPr lang="en-US" dirty="0"/>
              <a:t>Every column in a </a:t>
            </a:r>
            <a:r>
              <a:rPr lang="en-US" dirty="0" err="1"/>
              <a:t>DataFrame</a:t>
            </a:r>
            <a:r>
              <a:rPr lang="en-US" dirty="0"/>
              <a:t> is a Series; every row can also be accessed as a Series.</a:t>
            </a:r>
          </a:p>
          <a:p>
            <a:r>
              <a:rPr lang="en-US" dirty="0"/>
              <a:t>The index is the row label (integer starting at 0 by default). The row label can be set to a meaningful name</a:t>
            </a:r>
          </a:p>
          <a:p>
            <a:r>
              <a:rPr lang="en-US" dirty="0"/>
              <a:t>Columns are accessed using bracket notation or dot notation</a:t>
            </a:r>
          </a:p>
          <a:p>
            <a:pPr lvl="1"/>
            <a:r>
              <a:rPr lang="en-US" dirty="0"/>
              <a:t>Note: dot notation does not work with multi-word column names. Bracket notation is preferred</a:t>
            </a:r>
          </a:p>
        </p:txBody>
      </p:sp>
      <p:sp>
        <p:nvSpPr>
          <p:cNvPr id="5" name="Title 4">
            <a:extLst>
              <a:ext uri="{FF2B5EF4-FFF2-40B4-BE49-F238E27FC236}">
                <a16:creationId xmlns:a16="http://schemas.microsoft.com/office/drawing/2014/main" id="{0F2BA620-CEC8-D92C-E201-5CF0DB71FA88}"/>
              </a:ext>
            </a:extLst>
          </p:cNvPr>
          <p:cNvSpPr>
            <a:spLocks noGrp="1"/>
          </p:cNvSpPr>
          <p:nvPr>
            <p:ph type="title"/>
          </p:nvPr>
        </p:nvSpPr>
        <p:spPr/>
        <p:txBody>
          <a:bodyPr/>
          <a:lstStyle/>
          <a:p>
            <a:r>
              <a:rPr lang="en-US" dirty="0"/>
              <a:t>Pandas – </a:t>
            </a:r>
            <a:r>
              <a:rPr lang="en-US" dirty="0" err="1"/>
              <a:t>DataFrames</a:t>
            </a:r>
            <a:r>
              <a:rPr lang="en-US" dirty="0"/>
              <a:t> &amp; Series</a:t>
            </a:r>
          </a:p>
        </p:txBody>
      </p:sp>
    </p:spTree>
    <p:extLst>
      <p:ext uri="{BB962C8B-B14F-4D97-AF65-F5344CB8AC3E}">
        <p14:creationId xmlns:p14="http://schemas.microsoft.com/office/powerpoint/2010/main" val="353360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E66CC-4F85-1CC9-B3C2-D20232317A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A333A9-159A-D754-D1D6-AB06B4B7AE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Content Placeholder 5">
            <a:extLst>
              <a:ext uri="{FF2B5EF4-FFF2-40B4-BE49-F238E27FC236}">
                <a16:creationId xmlns:a16="http://schemas.microsoft.com/office/drawing/2014/main" id="{F2EB0ADC-4A2D-4185-BB55-B3894543971B}"/>
              </a:ext>
            </a:extLst>
          </p:cNvPr>
          <p:cNvSpPr>
            <a:spLocks noGrp="1"/>
          </p:cNvSpPr>
          <p:nvPr>
            <p:ph idx="1"/>
          </p:nvPr>
        </p:nvSpPr>
        <p:spPr>
          <a:xfrm>
            <a:off x="380010" y="1481446"/>
            <a:ext cx="8383980" cy="4882266"/>
          </a:xfrm>
        </p:spPr>
        <p:txBody>
          <a:bodyPr>
            <a:normAutofit fontScale="92500" lnSpcReduction="10000"/>
          </a:bodyPr>
          <a:lstStyle/>
          <a:p>
            <a:r>
              <a:rPr lang="en-US" dirty="0"/>
              <a:t>Selecting multiple columns returns a </a:t>
            </a:r>
            <a:r>
              <a:rPr lang="en-US" dirty="0" err="1"/>
              <a:t>DataFrame</a:t>
            </a:r>
            <a:r>
              <a:rPr lang="en-US" dirty="0"/>
              <a:t>, selecting a single column returns a Series</a:t>
            </a:r>
          </a:p>
          <a:p>
            <a:r>
              <a:rPr lang="en-US" dirty="0"/>
              <a:t>Rows are selecting using </a:t>
            </a:r>
            <a:r>
              <a:rPr lang="en-US" dirty="0">
                <a:latin typeface="Courier New" panose="02070309020205020404" pitchFamily="49" charset="0"/>
                <a:cs typeface="Courier New" panose="02070309020205020404" pitchFamily="49" charset="0"/>
              </a:rPr>
              <a:t>.loc[]</a:t>
            </a:r>
            <a:r>
              <a:rPr lang="en-US" dirty="0"/>
              <a:t> (location based) or </a:t>
            </a:r>
            <a:r>
              <a:rPr lang="en-US" dirty="0" err="1">
                <a:latin typeface="Courier New" panose="02070309020205020404" pitchFamily="49" charset="0"/>
                <a:cs typeface="Courier New" panose="02070309020205020404" pitchFamily="49" charset="0"/>
              </a:rPr>
              <a:t>iloc</a:t>
            </a:r>
            <a:r>
              <a:rPr lang="en-US" dirty="0">
                <a:latin typeface="Courier New" panose="02070309020205020404" pitchFamily="49" charset="0"/>
                <a:cs typeface="Courier New" panose="02070309020205020404" pitchFamily="49" charset="0"/>
              </a:rPr>
              <a:t>[]</a:t>
            </a:r>
            <a:r>
              <a:rPr lang="en-US" dirty="0"/>
              <a:t> (position-based)</a:t>
            </a:r>
          </a:p>
          <a:p>
            <a:r>
              <a:rPr lang="en-US" dirty="0"/>
              <a:t>A </a:t>
            </a:r>
            <a:r>
              <a:rPr lang="en-US" i="1" dirty="0" err="1"/>
              <a:t>boolean</a:t>
            </a:r>
            <a:r>
              <a:rPr lang="en-US" i="1" dirty="0"/>
              <a:t> mask</a:t>
            </a:r>
            <a:r>
              <a:rPr lang="en-US" dirty="0"/>
              <a:t> is a series of True/False values used to filter rows</a:t>
            </a:r>
          </a:p>
          <a:p>
            <a:r>
              <a:rPr lang="en-US" dirty="0"/>
              <a:t>The </a:t>
            </a:r>
            <a:r>
              <a:rPr lang="en-US" dirty="0" err="1"/>
              <a:t>dtype</a:t>
            </a:r>
            <a:r>
              <a:rPr lang="en-US" dirty="0"/>
              <a:t> of a column determines what operations are available. Common types include:</a:t>
            </a:r>
          </a:p>
          <a:p>
            <a:pPr lvl="1"/>
            <a:r>
              <a:rPr lang="en-US" dirty="0"/>
              <a:t>Int64, float64, object (string), bool, and datetime</a:t>
            </a:r>
          </a:p>
          <a:p>
            <a:r>
              <a:rPr lang="en-US" dirty="0" err="1"/>
              <a:t>DataFrames</a:t>
            </a:r>
            <a:r>
              <a:rPr lang="en-US" dirty="0"/>
              <a:t> can be constructed from dictionaries, lists of dictionaries, CSV files, JSON files or other sources.</a:t>
            </a:r>
          </a:p>
        </p:txBody>
      </p:sp>
      <p:sp>
        <p:nvSpPr>
          <p:cNvPr id="5" name="Title 4">
            <a:extLst>
              <a:ext uri="{FF2B5EF4-FFF2-40B4-BE49-F238E27FC236}">
                <a16:creationId xmlns:a16="http://schemas.microsoft.com/office/drawing/2014/main" id="{F713EA0F-40D7-7C5C-8211-ADDD0AC76DED}"/>
              </a:ext>
            </a:extLst>
          </p:cNvPr>
          <p:cNvSpPr>
            <a:spLocks noGrp="1"/>
          </p:cNvSpPr>
          <p:nvPr>
            <p:ph type="title"/>
          </p:nvPr>
        </p:nvSpPr>
        <p:spPr/>
        <p:txBody>
          <a:bodyPr/>
          <a:lstStyle/>
          <a:p>
            <a:r>
              <a:rPr lang="en-US" dirty="0"/>
              <a:t>Pandas – </a:t>
            </a:r>
            <a:r>
              <a:rPr lang="en-US" dirty="0" err="1"/>
              <a:t>DataFrames</a:t>
            </a:r>
            <a:r>
              <a:rPr lang="en-US" dirty="0"/>
              <a:t> &amp; Series</a:t>
            </a:r>
          </a:p>
        </p:txBody>
      </p:sp>
    </p:spTree>
    <p:extLst>
      <p:ext uri="{BB962C8B-B14F-4D97-AF65-F5344CB8AC3E}">
        <p14:creationId xmlns:p14="http://schemas.microsoft.com/office/powerpoint/2010/main" val="104591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639C-0478-FEA7-5C21-61225D8868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4F2DF4-77FA-78C0-1B00-CFDBE9885C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6" name="Content Placeholder 5">
            <a:extLst>
              <a:ext uri="{FF2B5EF4-FFF2-40B4-BE49-F238E27FC236}">
                <a16:creationId xmlns:a16="http://schemas.microsoft.com/office/drawing/2014/main" id="{25FA5FB9-ACF0-DC68-9226-BA32B0B99A6B}"/>
              </a:ext>
            </a:extLst>
          </p:cNvPr>
          <p:cNvSpPr>
            <a:spLocks noGrp="1"/>
          </p:cNvSpPr>
          <p:nvPr>
            <p:ph idx="1"/>
          </p:nvPr>
        </p:nvSpPr>
        <p:spPr/>
        <p:txBody>
          <a:bodyPr>
            <a:normAutofit fontScale="85000" lnSpcReduction="10000"/>
          </a:bodyPr>
          <a:lstStyle/>
          <a:p>
            <a:r>
              <a:rPr lang="en-US" dirty="0"/>
              <a:t>Pandas reads CSV files using </a:t>
            </a:r>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This is one of the most commonly used functions in this library.</a:t>
            </a:r>
          </a:p>
          <a:p>
            <a:pPr lvl="1"/>
            <a:r>
              <a:rPr lang="en-US" dirty="0">
                <a:latin typeface="+mj-lt"/>
                <a:cs typeface="Courier New" panose="02070309020205020404" pitchFamily="49" charset="0"/>
              </a:rPr>
              <a:t>The result of this function is always a </a:t>
            </a:r>
            <a:r>
              <a:rPr lang="en-US" dirty="0" err="1">
                <a:latin typeface="+mj-lt"/>
                <a:cs typeface="Courier New" panose="02070309020205020404" pitchFamily="49" charset="0"/>
              </a:rPr>
              <a:t>DataFrame</a:t>
            </a:r>
            <a:endParaRPr lang="en-US" dirty="0">
              <a:latin typeface="+mj-lt"/>
              <a:cs typeface="Courier New" panose="02070309020205020404" pitchFamily="49" charset="0"/>
            </a:endParaRPr>
          </a:p>
          <a:p>
            <a:pPr lvl="1"/>
            <a:r>
              <a:rPr lang="en-US" dirty="0">
                <a:latin typeface="+mj-lt"/>
                <a:cs typeface="Courier New" panose="02070309020205020404" pitchFamily="49" charset="0"/>
              </a:rPr>
              <a:t>Note: CSVs are human-readable and universally supported (no data typing) – pandas infers the </a:t>
            </a:r>
            <a:r>
              <a:rPr lang="en-US" dirty="0" err="1">
                <a:latin typeface="+mj-lt"/>
                <a:cs typeface="Courier New" panose="02070309020205020404" pitchFamily="49" charset="0"/>
              </a:rPr>
              <a:t>dtypes</a:t>
            </a:r>
            <a:r>
              <a:rPr lang="en-US" dirty="0">
                <a:latin typeface="+mj-lt"/>
                <a:cs typeface="Courier New" panose="02070309020205020404" pitchFamily="49" charset="0"/>
              </a:rPr>
              <a:t> on load</a:t>
            </a:r>
          </a:p>
          <a:p>
            <a:r>
              <a:rPr lang="en-US" dirty="0" err="1">
                <a:latin typeface="Courier New" panose="02070309020205020404" pitchFamily="49" charset="0"/>
                <a:cs typeface="Courier New" panose="02070309020205020404" pitchFamily="49" charset="0"/>
              </a:rPr>
              <a:t>pd.read_csv</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has a large number of optional parameters to handle real-world messiness (rarely is a CSV perfectly clean out of the box)</a:t>
            </a:r>
          </a:p>
          <a:p>
            <a:r>
              <a:rPr lang="en-US" dirty="0">
                <a:latin typeface="+mj-lt"/>
                <a:cs typeface="Courier New" panose="02070309020205020404" pitchFamily="49" charset="0"/>
              </a:rPr>
              <a:t>Common parameters: </a:t>
            </a:r>
            <a:r>
              <a:rPr lang="en-US" dirty="0" err="1">
                <a:latin typeface="Courier New" panose="02070309020205020404" pitchFamily="49" charset="0"/>
                <a:cs typeface="Courier New" panose="02070309020205020404" pitchFamily="49" charset="0"/>
              </a:rPr>
              <a:t>sep</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(delimiter)</a:t>
            </a:r>
            <a:r>
              <a:rPr lang="en-US" dirty="0">
                <a:latin typeface="Courier New" panose="02070309020205020404" pitchFamily="49" charset="0"/>
                <a:cs typeface="Courier New" panose="02070309020205020404" pitchFamily="49" charset="0"/>
              </a:rPr>
              <a:t>, header (</a:t>
            </a:r>
            <a:r>
              <a:rPr lang="en-US" dirty="0">
                <a:latin typeface="+mj-lt"/>
                <a:cs typeface="Courier New" panose="02070309020205020404" pitchFamily="49" charset="0"/>
              </a:rPr>
              <a:t>row to use as column names)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index_col</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column to use as index)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usecols</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(select specific columns)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dtype</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(force column types)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na_values</a:t>
            </a:r>
            <a:r>
              <a:rPr lang="en-US" dirty="0">
                <a:latin typeface="Courier New" panose="02070309020205020404" pitchFamily="49" charset="0"/>
                <a:cs typeface="Courier New" panose="02070309020205020404" pitchFamily="49" charset="0"/>
              </a:rPr>
              <a:t> </a:t>
            </a:r>
            <a:r>
              <a:rPr lang="en-US" dirty="0">
                <a:latin typeface="+mj-lt"/>
                <a:cs typeface="Courier New" panose="02070309020205020404" pitchFamily="49" charset="0"/>
              </a:rPr>
              <a:t>(define what counts as null)</a:t>
            </a:r>
          </a:p>
        </p:txBody>
      </p:sp>
      <p:sp>
        <p:nvSpPr>
          <p:cNvPr id="5" name="Title 4">
            <a:extLst>
              <a:ext uri="{FF2B5EF4-FFF2-40B4-BE49-F238E27FC236}">
                <a16:creationId xmlns:a16="http://schemas.microsoft.com/office/drawing/2014/main" id="{AF55745E-9A61-CE0B-9CAD-95A8F6A11503}"/>
              </a:ext>
            </a:extLst>
          </p:cNvPr>
          <p:cNvSpPr>
            <a:spLocks noGrp="1"/>
          </p:cNvSpPr>
          <p:nvPr>
            <p:ph type="title"/>
          </p:nvPr>
        </p:nvSpPr>
        <p:spPr/>
        <p:txBody>
          <a:bodyPr/>
          <a:lstStyle/>
          <a:p>
            <a:r>
              <a:rPr lang="en-US" dirty="0"/>
              <a:t>Pandas – Reading &amp; Writing CSV</a:t>
            </a:r>
          </a:p>
        </p:txBody>
      </p:sp>
    </p:spTree>
    <p:extLst>
      <p:ext uri="{BB962C8B-B14F-4D97-AF65-F5344CB8AC3E}">
        <p14:creationId xmlns:p14="http://schemas.microsoft.com/office/powerpoint/2010/main" val="150703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EFF-259B-2D80-9CF5-22C8010F23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7FA96C-096E-B3D0-3EAC-12C7231744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6" name="Content Placeholder 5">
            <a:extLst>
              <a:ext uri="{FF2B5EF4-FFF2-40B4-BE49-F238E27FC236}">
                <a16:creationId xmlns:a16="http://schemas.microsoft.com/office/drawing/2014/main" id="{C7BC769A-7B3E-1605-8EF7-921C85814BBF}"/>
              </a:ext>
            </a:extLst>
          </p:cNvPr>
          <p:cNvSpPr>
            <a:spLocks noGrp="1"/>
          </p:cNvSpPr>
          <p:nvPr>
            <p:ph idx="1"/>
          </p:nvPr>
        </p:nvSpPr>
        <p:spPr/>
        <p:txBody>
          <a:bodyPr>
            <a:normAutofit fontScale="92500" lnSpcReduction="10000"/>
          </a:bodyPr>
          <a:lstStyle/>
          <a:p>
            <a:r>
              <a:rPr lang="en-US" dirty="0" err="1">
                <a:latin typeface="Courier New" panose="02070309020205020404" pitchFamily="49" charset="0"/>
                <a:cs typeface="Courier New" panose="02070309020205020404" pitchFamily="49" charset="0"/>
              </a:rPr>
              <a:t>nrows</a:t>
            </a:r>
            <a:r>
              <a:rPr lang="en-US" dirty="0"/>
              <a:t> and </a:t>
            </a:r>
            <a:r>
              <a:rPr lang="en-US" dirty="0" err="1">
                <a:latin typeface="Courier New" panose="02070309020205020404" pitchFamily="49" charset="0"/>
                <a:cs typeface="Courier New" panose="02070309020205020404" pitchFamily="49" charset="0"/>
              </a:rPr>
              <a:t>skiprows</a:t>
            </a:r>
            <a:r>
              <a:rPr lang="en-US" dirty="0"/>
              <a:t> are useful for inspecting or skipping portions of very large files</a:t>
            </a:r>
          </a:p>
          <a:p>
            <a:r>
              <a:rPr lang="en-US" dirty="0" err="1">
                <a:latin typeface="Courier New" panose="02070309020205020404" pitchFamily="49" charset="0"/>
                <a:cs typeface="Courier New" panose="02070309020205020404" pitchFamily="49" charset="0"/>
              </a:rPr>
              <a:t>parse_dates</a:t>
            </a:r>
            <a:r>
              <a:rPr lang="en-US" dirty="0">
                <a:latin typeface="+mj-lt"/>
                <a:cs typeface="Courier New" panose="02070309020205020404" pitchFamily="49" charset="0"/>
              </a:rPr>
              <a:t> can instruct pandas to interpret a column as a datetime on load (this saves a conversion step later)</a:t>
            </a:r>
          </a:p>
          <a:p>
            <a:r>
              <a:rPr lang="en-US" dirty="0" err="1">
                <a:latin typeface="+mj-lt"/>
                <a:cs typeface="Courier New" panose="02070309020205020404" pitchFamily="49" charset="0"/>
              </a:rPr>
              <a:t>DataFrames</a:t>
            </a:r>
            <a:r>
              <a:rPr lang="en-US" dirty="0">
                <a:latin typeface="+mj-lt"/>
                <a:cs typeface="Courier New" panose="02070309020205020404" pitchFamily="49" charset="0"/>
              </a:rPr>
              <a:t> can be written to a CSV using </a:t>
            </a:r>
            <a:r>
              <a:rPr lang="en-US" dirty="0" err="1">
                <a:latin typeface="+mj-lt"/>
                <a:cs typeface="Courier New" panose="02070309020205020404" pitchFamily="49" charset="0"/>
              </a:rPr>
              <a:t>df.to_csv</a:t>
            </a:r>
            <a:r>
              <a:rPr lang="en-US" dirty="0">
                <a:latin typeface="+mj-lt"/>
                <a:cs typeface="Courier New" panose="02070309020205020404" pitchFamily="49" charset="0"/>
              </a:rPr>
              <a:t>()</a:t>
            </a:r>
          </a:p>
          <a:p>
            <a:pPr lvl="1"/>
            <a:r>
              <a:rPr lang="en-US" dirty="0">
                <a:latin typeface="+mj-lt"/>
                <a:cs typeface="Courier New" panose="02070309020205020404" pitchFamily="49" charset="0"/>
              </a:rPr>
              <a:t>Note: </a:t>
            </a:r>
            <a:r>
              <a:rPr lang="en-US" dirty="0">
                <a:latin typeface="Courier New" panose="02070309020205020404" pitchFamily="49" charset="0"/>
                <a:cs typeface="Courier New" panose="02070309020205020404" pitchFamily="49" charset="0"/>
              </a:rPr>
              <a:t>index=False</a:t>
            </a:r>
            <a:r>
              <a:rPr lang="en-US" dirty="0">
                <a:latin typeface="+mj-lt"/>
                <a:cs typeface="Courier New" panose="02070309020205020404" pitchFamily="49" charset="0"/>
              </a:rPr>
              <a:t> is almost always passed to </a:t>
            </a:r>
            <a:r>
              <a:rPr lang="en-US" dirty="0" err="1">
                <a:latin typeface="Courier New" panose="02070309020205020404" pitchFamily="49" charset="0"/>
                <a:cs typeface="Courier New" panose="02070309020205020404" pitchFamily="49" charset="0"/>
              </a:rPr>
              <a:t>to_csv</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without it, the </a:t>
            </a:r>
            <a:r>
              <a:rPr lang="en-US" dirty="0" err="1">
                <a:latin typeface="+mj-lt"/>
                <a:cs typeface="Courier New" panose="02070309020205020404" pitchFamily="49" charset="0"/>
              </a:rPr>
              <a:t>DataFrame</a:t>
            </a:r>
            <a:r>
              <a:rPr lang="en-US" dirty="0">
                <a:latin typeface="+mj-lt"/>
                <a:cs typeface="Courier New" panose="02070309020205020404" pitchFamily="49" charset="0"/>
              </a:rPr>
              <a:t> index is written as an extra column.</a:t>
            </a:r>
          </a:p>
          <a:p>
            <a:r>
              <a:rPr lang="en-US" dirty="0">
                <a:latin typeface="+mj-lt"/>
                <a:cs typeface="Courier New" panose="02070309020205020404" pitchFamily="49" charset="0"/>
              </a:rPr>
              <a:t>For large files, </a:t>
            </a:r>
            <a:r>
              <a:rPr lang="en-US" dirty="0" err="1">
                <a:latin typeface="Courier New" panose="02070309020205020404" pitchFamily="49" charset="0"/>
                <a:cs typeface="Courier New" panose="02070309020205020404" pitchFamily="49" charset="0"/>
              </a:rPr>
              <a:t>chunksize</a:t>
            </a:r>
            <a:r>
              <a:rPr lang="en-US" dirty="0">
                <a:latin typeface="+mj-lt"/>
                <a:cs typeface="Courier New" panose="02070309020205020404" pitchFamily="49" charset="0"/>
              </a:rPr>
              <a:t> allows reading in chunks, rather than loading the entire file into memory at once</a:t>
            </a:r>
          </a:p>
        </p:txBody>
      </p:sp>
      <p:sp>
        <p:nvSpPr>
          <p:cNvPr id="5" name="Title 4">
            <a:extLst>
              <a:ext uri="{FF2B5EF4-FFF2-40B4-BE49-F238E27FC236}">
                <a16:creationId xmlns:a16="http://schemas.microsoft.com/office/drawing/2014/main" id="{A09D472D-2480-06BA-AF04-E3E4C21CDD0A}"/>
              </a:ext>
            </a:extLst>
          </p:cNvPr>
          <p:cNvSpPr>
            <a:spLocks noGrp="1"/>
          </p:cNvSpPr>
          <p:nvPr>
            <p:ph type="title"/>
          </p:nvPr>
        </p:nvSpPr>
        <p:spPr/>
        <p:txBody>
          <a:bodyPr/>
          <a:lstStyle/>
          <a:p>
            <a:r>
              <a:rPr lang="en-US" dirty="0"/>
              <a:t>Pandas – Reading &amp; Writing CSV (</a:t>
            </a:r>
            <a:r>
              <a:rPr lang="en-US" dirty="0" err="1"/>
              <a:t>cont</a:t>
            </a:r>
            <a:r>
              <a:rPr lang="en-US" dirty="0"/>
              <a:t>)</a:t>
            </a:r>
          </a:p>
        </p:txBody>
      </p:sp>
    </p:spTree>
    <p:extLst>
      <p:ext uri="{BB962C8B-B14F-4D97-AF65-F5344CB8AC3E}">
        <p14:creationId xmlns:p14="http://schemas.microsoft.com/office/powerpoint/2010/main" val="203042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0BFF-AB12-A9C2-37B3-8815E12BBC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E2777A-AFEE-38C9-7BE3-99A3169015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Content Placeholder 5">
            <a:extLst>
              <a:ext uri="{FF2B5EF4-FFF2-40B4-BE49-F238E27FC236}">
                <a16:creationId xmlns:a16="http://schemas.microsoft.com/office/drawing/2014/main" id="{B1474224-5982-A88B-972F-35F797FD15A4}"/>
              </a:ext>
            </a:extLst>
          </p:cNvPr>
          <p:cNvSpPr>
            <a:spLocks noGrp="1"/>
          </p:cNvSpPr>
          <p:nvPr>
            <p:ph idx="1"/>
          </p:nvPr>
        </p:nvSpPr>
        <p:spPr>
          <a:xfrm>
            <a:off x="380010" y="1481446"/>
            <a:ext cx="8383980" cy="4882266"/>
          </a:xfrm>
        </p:spPr>
        <p:txBody>
          <a:bodyPr>
            <a:normAutofit fontScale="85000" lnSpcReduction="20000"/>
          </a:bodyPr>
          <a:lstStyle/>
          <a:p>
            <a:r>
              <a:rPr lang="en-US" dirty="0">
                <a:latin typeface="+mj-lt"/>
                <a:cs typeface="Courier New" panose="02070309020205020404" pitchFamily="49" charset="0"/>
              </a:rPr>
              <a:t>Pandas reads JSON using </a:t>
            </a:r>
            <a:r>
              <a:rPr lang="en-US" dirty="0" err="1">
                <a:latin typeface="Courier New" panose="02070309020205020404" pitchFamily="49" charset="0"/>
                <a:cs typeface="Courier New" panose="02070309020205020404" pitchFamily="49" charset="0"/>
              </a:rPr>
              <a:t>pd.read_json</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and writes using </a:t>
            </a:r>
            <a:r>
              <a:rPr lang="en-US" dirty="0" err="1">
                <a:latin typeface="Courier New" panose="02070309020205020404" pitchFamily="49" charset="0"/>
                <a:cs typeface="Courier New" panose="02070309020205020404" pitchFamily="49" charset="0"/>
              </a:rPr>
              <a:t>df.to_json</a:t>
            </a:r>
            <a:r>
              <a:rPr lang="en-US" dirty="0">
                <a:latin typeface="Courier New" panose="02070309020205020404" pitchFamily="49" charset="0"/>
                <a:cs typeface="Courier New" panose="02070309020205020404" pitchFamily="49" charset="0"/>
              </a:rPr>
              <a:t>()</a:t>
            </a:r>
          </a:p>
          <a:p>
            <a:r>
              <a:rPr lang="en-US" dirty="0">
                <a:latin typeface="+mj-lt"/>
                <a:cs typeface="Courier New" panose="02070309020205020404" pitchFamily="49" charset="0"/>
              </a:rPr>
              <a:t>JSON is more flexible than CSV, but more complex, the structure can vary significantly between sources</a:t>
            </a:r>
          </a:p>
          <a:p>
            <a:r>
              <a:rPr lang="en-US" dirty="0">
                <a:latin typeface="+mj-lt"/>
                <a:cs typeface="Courier New" panose="02070309020205020404" pitchFamily="49" charset="0"/>
              </a:rPr>
              <a:t>The orient parameter is the most important when reading and writing </a:t>
            </a:r>
            <a:r>
              <a:rPr lang="en-US" dirty="0" err="1">
                <a:latin typeface="+mj-lt"/>
                <a:cs typeface="Courier New" panose="02070309020205020404" pitchFamily="49" charset="0"/>
              </a:rPr>
              <a:t>json</a:t>
            </a:r>
            <a:r>
              <a:rPr lang="en-US" dirty="0">
                <a:latin typeface="+mj-lt"/>
                <a:cs typeface="Courier New" panose="02070309020205020404" pitchFamily="49" charset="0"/>
              </a:rPr>
              <a:t>. It informs pandas how the JSON is structured</a:t>
            </a:r>
          </a:p>
          <a:p>
            <a:r>
              <a:rPr lang="en-US" dirty="0">
                <a:latin typeface="+mj-lt"/>
                <a:cs typeface="Courier New" panose="02070309020205020404" pitchFamily="49" charset="0"/>
              </a:rPr>
              <a:t>Common orient values:</a:t>
            </a:r>
          </a:p>
          <a:p>
            <a:pPr lvl="1"/>
            <a:r>
              <a:rPr lang="en-US" dirty="0">
                <a:latin typeface="+mj-lt"/>
                <a:cs typeface="Courier New" panose="02070309020205020404" pitchFamily="49" charset="0"/>
              </a:rPr>
              <a:t>Records: list of row objects</a:t>
            </a:r>
          </a:p>
          <a:p>
            <a:pPr lvl="1"/>
            <a:r>
              <a:rPr lang="en-US" dirty="0">
                <a:latin typeface="+mj-lt"/>
                <a:cs typeface="Courier New" panose="02070309020205020404" pitchFamily="49" charset="0"/>
              </a:rPr>
              <a:t>Columns: </a:t>
            </a:r>
            <a:r>
              <a:rPr lang="en-US" dirty="0" err="1">
                <a:latin typeface="+mj-lt"/>
                <a:cs typeface="Courier New" panose="02070309020205020404" pitchFamily="49" charset="0"/>
              </a:rPr>
              <a:t>dict</a:t>
            </a:r>
            <a:r>
              <a:rPr lang="en-US" dirty="0">
                <a:latin typeface="+mj-lt"/>
                <a:cs typeface="Courier New" panose="02070309020205020404" pitchFamily="49" charset="0"/>
              </a:rPr>
              <a:t> of column arrays</a:t>
            </a:r>
          </a:p>
          <a:p>
            <a:pPr lvl="1"/>
            <a:r>
              <a:rPr lang="en-US" dirty="0">
                <a:latin typeface="+mj-lt"/>
                <a:cs typeface="Courier New" panose="02070309020205020404" pitchFamily="49" charset="0"/>
              </a:rPr>
              <a:t>Index: </a:t>
            </a:r>
            <a:r>
              <a:rPr lang="en-US" dirty="0" err="1">
                <a:latin typeface="+mj-lt"/>
                <a:cs typeface="Courier New" panose="02070309020205020404" pitchFamily="49" charset="0"/>
              </a:rPr>
              <a:t>dict</a:t>
            </a:r>
            <a:r>
              <a:rPr lang="en-US" dirty="0">
                <a:latin typeface="+mj-lt"/>
                <a:cs typeface="Courier New" panose="02070309020205020404" pitchFamily="49" charset="0"/>
              </a:rPr>
              <a:t> of row </a:t>
            </a:r>
            <a:r>
              <a:rPr lang="en-US" dirty="0" err="1">
                <a:latin typeface="+mj-lt"/>
                <a:cs typeface="Courier New" panose="02070309020205020404" pitchFamily="49" charset="0"/>
              </a:rPr>
              <a:t>dicts</a:t>
            </a:r>
            <a:r>
              <a:rPr lang="en-US" dirty="0">
                <a:latin typeface="+mj-lt"/>
                <a:cs typeface="Courier New" panose="02070309020205020404" pitchFamily="49" charset="0"/>
              </a:rPr>
              <a:t>, with index as top-level keys</a:t>
            </a:r>
          </a:p>
          <a:p>
            <a:pPr lvl="1"/>
            <a:r>
              <a:rPr lang="en-US" dirty="0">
                <a:latin typeface="+mj-lt"/>
                <a:cs typeface="Courier New" panose="02070309020205020404" pitchFamily="49" charset="0"/>
              </a:rPr>
              <a:t>Split: separate keys for index, columns and data</a:t>
            </a:r>
          </a:p>
          <a:p>
            <a:r>
              <a:rPr lang="en-US" dirty="0">
                <a:latin typeface="+mj-lt"/>
                <a:cs typeface="Courier New" panose="02070309020205020404" pitchFamily="49" charset="0"/>
              </a:rPr>
              <a:t>“Records” is the most common format encountered in the wild (what most REST APIs return)</a:t>
            </a:r>
          </a:p>
          <a:p>
            <a:pPr lvl="1"/>
            <a:r>
              <a:rPr lang="en-US" dirty="0">
                <a:latin typeface="+mj-lt"/>
                <a:cs typeface="Courier New" panose="02070309020205020404" pitchFamily="49" charset="0"/>
              </a:rPr>
              <a:t>Each element is an object representing one row of data</a:t>
            </a:r>
          </a:p>
          <a:p>
            <a:endParaRPr lang="en-US" dirty="0">
              <a:latin typeface="+mj-lt"/>
              <a:cs typeface="Courier New" panose="02070309020205020404" pitchFamily="49" charset="0"/>
            </a:endParaRPr>
          </a:p>
        </p:txBody>
      </p:sp>
      <p:sp>
        <p:nvSpPr>
          <p:cNvPr id="5" name="Title 4">
            <a:extLst>
              <a:ext uri="{FF2B5EF4-FFF2-40B4-BE49-F238E27FC236}">
                <a16:creationId xmlns:a16="http://schemas.microsoft.com/office/drawing/2014/main" id="{EDBC0FC9-954F-36EB-9441-EF4893A280CB}"/>
              </a:ext>
            </a:extLst>
          </p:cNvPr>
          <p:cNvSpPr>
            <a:spLocks noGrp="1"/>
          </p:cNvSpPr>
          <p:nvPr>
            <p:ph type="title"/>
          </p:nvPr>
        </p:nvSpPr>
        <p:spPr/>
        <p:txBody>
          <a:bodyPr/>
          <a:lstStyle/>
          <a:p>
            <a:r>
              <a:rPr lang="en-US" dirty="0"/>
              <a:t>Pandas – Reading &amp; Writing JSON</a:t>
            </a:r>
          </a:p>
        </p:txBody>
      </p:sp>
    </p:spTree>
    <p:extLst>
      <p:ext uri="{BB962C8B-B14F-4D97-AF65-F5344CB8AC3E}">
        <p14:creationId xmlns:p14="http://schemas.microsoft.com/office/powerpoint/2010/main" val="243545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5A55-99ED-2510-D339-DED6D15027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B8C994-B664-DB0E-FA57-6E88A714DB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6" name="Content Placeholder 5">
            <a:extLst>
              <a:ext uri="{FF2B5EF4-FFF2-40B4-BE49-F238E27FC236}">
                <a16:creationId xmlns:a16="http://schemas.microsoft.com/office/drawing/2014/main" id="{662A68C9-0737-4A78-DC17-028BFDF46679}"/>
              </a:ext>
            </a:extLst>
          </p:cNvPr>
          <p:cNvSpPr>
            <a:spLocks noGrp="1"/>
          </p:cNvSpPr>
          <p:nvPr>
            <p:ph idx="1"/>
          </p:nvPr>
        </p:nvSpPr>
        <p:spPr>
          <a:xfrm>
            <a:off x="380010" y="1481446"/>
            <a:ext cx="8383980" cy="4882266"/>
          </a:xfrm>
        </p:spPr>
        <p:txBody>
          <a:bodyPr>
            <a:normAutofit fontScale="92500" lnSpcReduction="20000"/>
          </a:bodyPr>
          <a:lstStyle/>
          <a:p>
            <a:r>
              <a:rPr lang="en-US" dirty="0">
                <a:latin typeface="+mj-lt"/>
                <a:cs typeface="Courier New" panose="02070309020205020404" pitchFamily="49" charset="0"/>
              </a:rPr>
              <a:t>Nested JSON (objects within objects) are not automatically flattened, you must call </a:t>
            </a:r>
            <a:r>
              <a:rPr lang="en-US" dirty="0" err="1">
                <a:latin typeface="Courier New" panose="02070309020205020404" pitchFamily="49" charset="0"/>
                <a:cs typeface="Courier New" panose="02070309020205020404" pitchFamily="49" charset="0"/>
              </a:rPr>
              <a:t>pd.json_normalize</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on it.</a:t>
            </a:r>
          </a:p>
          <a:p>
            <a:r>
              <a:rPr lang="en-US" dirty="0" err="1">
                <a:latin typeface="Courier New" panose="02070309020205020404" pitchFamily="49" charset="0"/>
                <a:cs typeface="Courier New" panose="02070309020205020404" pitchFamily="49" charset="0"/>
              </a:rPr>
              <a:t>pd.json_normalize</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handles nested structured with </a:t>
            </a:r>
            <a:r>
              <a:rPr lang="en-US" dirty="0" err="1">
                <a:latin typeface="Courier New" panose="02070309020205020404" pitchFamily="49" charset="0"/>
                <a:cs typeface="Courier New" panose="02070309020205020404" pitchFamily="49" charset="0"/>
              </a:rPr>
              <a:t>record_path</a:t>
            </a:r>
            <a:r>
              <a:rPr lang="en-US" dirty="0">
                <a:latin typeface="+mj-lt"/>
                <a:cs typeface="Courier New" panose="02070309020205020404" pitchFamily="49" charset="0"/>
              </a:rPr>
              <a:t> and </a:t>
            </a:r>
            <a:r>
              <a:rPr lang="en-US" dirty="0">
                <a:latin typeface="Courier New" panose="02070309020205020404" pitchFamily="49" charset="0"/>
                <a:cs typeface="Courier New" panose="02070309020205020404" pitchFamily="49" charset="0"/>
              </a:rPr>
              <a:t>meta</a:t>
            </a:r>
            <a:r>
              <a:rPr lang="en-US" dirty="0">
                <a:latin typeface="+mj-lt"/>
                <a:cs typeface="Courier New" panose="02070309020205020404" pitchFamily="49" charset="0"/>
              </a:rPr>
              <a:t> parameters for deeply nested data.</a:t>
            </a:r>
          </a:p>
          <a:p>
            <a:r>
              <a:rPr lang="en-US" dirty="0">
                <a:latin typeface="+mj-lt"/>
                <a:cs typeface="Courier New" panose="02070309020205020404" pitchFamily="49" charset="0"/>
              </a:rPr>
              <a:t>JSON preserves more type information than CSV, numbers and </a:t>
            </a:r>
            <a:r>
              <a:rPr lang="en-US" dirty="0" err="1">
                <a:latin typeface="+mj-lt"/>
                <a:cs typeface="Courier New" panose="02070309020205020404" pitchFamily="49" charset="0"/>
              </a:rPr>
              <a:t>booleans</a:t>
            </a:r>
            <a:r>
              <a:rPr lang="en-US" dirty="0">
                <a:latin typeface="+mj-lt"/>
                <a:cs typeface="Courier New" panose="02070309020205020404" pitchFamily="49" charset="0"/>
              </a:rPr>
              <a:t> are types, but dates area still stored as strings or </a:t>
            </a:r>
            <a:r>
              <a:rPr lang="en-US" dirty="0" err="1">
                <a:latin typeface="+mj-lt"/>
                <a:cs typeface="Courier New" panose="02070309020205020404" pitchFamily="49" charset="0"/>
              </a:rPr>
              <a:t>timestampes</a:t>
            </a:r>
            <a:endParaRPr lang="en-US" dirty="0">
              <a:latin typeface="+mj-lt"/>
              <a:cs typeface="Courier New" panose="02070309020205020404" pitchFamily="49" charset="0"/>
            </a:endParaRPr>
          </a:p>
          <a:p>
            <a:r>
              <a:rPr lang="en-US" dirty="0">
                <a:latin typeface="+mj-lt"/>
                <a:cs typeface="Courier New" panose="02070309020205020404" pitchFamily="49" charset="0"/>
              </a:rPr>
              <a:t>JSON is larger on disk than CSV for the same data, so typically you don’t want to keep your data as raw JSON (read JSON, write to CSV or other type – normalization &amp; cleaning data is important!)</a:t>
            </a:r>
          </a:p>
        </p:txBody>
      </p:sp>
      <p:sp>
        <p:nvSpPr>
          <p:cNvPr id="5" name="Title 4">
            <a:extLst>
              <a:ext uri="{FF2B5EF4-FFF2-40B4-BE49-F238E27FC236}">
                <a16:creationId xmlns:a16="http://schemas.microsoft.com/office/drawing/2014/main" id="{8EC7EF8C-1D01-F9AE-5004-7D36532E22AE}"/>
              </a:ext>
            </a:extLst>
          </p:cNvPr>
          <p:cNvSpPr>
            <a:spLocks noGrp="1"/>
          </p:cNvSpPr>
          <p:nvPr>
            <p:ph type="title"/>
          </p:nvPr>
        </p:nvSpPr>
        <p:spPr/>
        <p:txBody>
          <a:bodyPr/>
          <a:lstStyle/>
          <a:p>
            <a:r>
              <a:rPr lang="en-US" dirty="0"/>
              <a:t>Pandas – Reading &amp; Writing JSON (</a:t>
            </a:r>
            <a:r>
              <a:rPr lang="en-US" dirty="0" err="1"/>
              <a:t>cont</a:t>
            </a:r>
            <a:r>
              <a:rPr lang="en-US" dirty="0"/>
              <a:t>)</a:t>
            </a:r>
          </a:p>
        </p:txBody>
      </p:sp>
    </p:spTree>
    <p:extLst>
      <p:ext uri="{BB962C8B-B14F-4D97-AF65-F5344CB8AC3E}">
        <p14:creationId xmlns:p14="http://schemas.microsoft.com/office/powerpoint/2010/main" val="100485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1C5BB-E4F9-2513-4AAB-E0F13746236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24C2A5-5C52-D124-55DE-7F890D261A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Title 4">
            <a:extLst>
              <a:ext uri="{FF2B5EF4-FFF2-40B4-BE49-F238E27FC236}">
                <a16:creationId xmlns:a16="http://schemas.microsoft.com/office/drawing/2014/main" id="{336D7131-4080-FBCC-1339-ED5258568DAB}"/>
              </a:ext>
            </a:extLst>
          </p:cNvPr>
          <p:cNvSpPr>
            <a:spLocks noGrp="1"/>
          </p:cNvSpPr>
          <p:nvPr>
            <p:ph type="title"/>
          </p:nvPr>
        </p:nvSpPr>
        <p:spPr/>
        <p:txBody>
          <a:bodyPr/>
          <a:lstStyle/>
          <a:p>
            <a:r>
              <a:rPr lang="en-US" dirty="0"/>
              <a:t>Pandas – Reading and Writing Parquet Files</a:t>
            </a:r>
          </a:p>
        </p:txBody>
      </p:sp>
      <p:sp>
        <p:nvSpPr>
          <p:cNvPr id="7" name="Content Placeholder 6">
            <a:extLst>
              <a:ext uri="{FF2B5EF4-FFF2-40B4-BE49-F238E27FC236}">
                <a16:creationId xmlns:a16="http://schemas.microsoft.com/office/drawing/2014/main" id="{4FEC15EF-70FC-7E3C-8946-A3BCD4A81FD5}"/>
              </a:ext>
            </a:extLst>
          </p:cNvPr>
          <p:cNvSpPr>
            <a:spLocks noGrp="1"/>
          </p:cNvSpPr>
          <p:nvPr>
            <p:ph idx="1"/>
          </p:nvPr>
        </p:nvSpPr>
        <p:spPr/>
        <p:txBody>
          <a:bodyPr>
            <a:normAutofit fontScale="70000" lnSpcReduction="20000"/>
          </a:bodyPr>
          <a:lstStyle/>
          <a:p>
            <a:r>
              <a:rPr lang="en-US" dirty="0"/>
              <a:t>Parquet is a columnar storage format – data is stored column-by-column, rather than row-by-row.</a:t>
            </a:r>
          </a:p>
          <a:p>
            <a:r>
              <a:rPr lang="en-US" dirty="0"/>
              <a:t>It was designed by Apache for the Hadoop ecosystem; and is now the defector standard for data storage at large.</a:t>
            </a:r>
          </a:p>
          <a:p>
            <a:r>
              <a:rPr lang="en-US" dirty="0"/>
              <a:t>Pandas reads parquet using </a:t>
            </a:r>
            <a:r>
              <a:rPr lang="en-US" dirty="0" err="1"/>
              <a:t>pd.read_parquet</a:t>
            </a:r>
            <a:r>
              <a:rPr lang="en-US" dirty="0"/>
              <a:t>() and writes using </a:t>
            </a:r>
            <a:r>
              <a:rPr lang="en-US" dirty="0" err="1"/>
              <a:t>df.to_parquet</a:t>
            </a:r>
            <a:r>
              <a:rPr lang="en-US" dirty="0"/>
              <a:t>()</a:t>
            </a:r>
          </a:p>
          <a:p>
            <a:r>
              <a:rPr lang="en-US" dirty="0"/>
              <a:t>Unlike CSV and JSON, Parquet preserves </a:t>
            </a:r>
            <a:r>
              <a:rPr lang="en-US" dirty="0" err="1"/>
              <a:t>dtype</a:t>
            </a:r>
            <a:r>
              <a:rPr lang="en-US" dirty="0"/>
              <a:t> information – column types are stored in the file’s schema and restored exactly on read</a:t>
            </a:r>
          </a:p>
          <a:p>
            <a:r>
              <a:rPr lang="en-US" dirty="0"/>
              <a:t>Parquet files are typically much smaller than equivalent CSVs due to built-in compression</a:t>
            </a:r>
          </a:p>
          <a:p>
            <a:r>
              <a:rPr lang="en-US" dirty="0"/>
              <a:t>Reading only the columns you need is highly efficient – unneeded columns are never read from disk</a:t>
            </a:r>
          </a:p>
          <a:p>
            <a:r>
              <a:rPr lang="en-US" dirty="0"/>
              <a:t>Parquet is the native storage format of most modern data platforms: AWS S3 + Athena, Google </a:t>
            </a:r>
            <a:r>
              <a:rPr lang="en-US" dirty="0" err="1"/>
              <a:t>BigQuery</a:t>
            </a:r>
            <a:r>
              <a:rPr lang="en-US" dirty="0"/>
              <a:t>, </a:t>
            </a:r>
            <a:r>
              <a:rPr lang="en-US" dirty="0" err="1"/>
              <a:t>Databrickes</a:t>
            </a:r>
            <a:r>
              <a:rPr lang="en-US" dirty="0"/>
              <a:t>, Apache Spark</a:t>
            </a:r>
          </a:p>
        </p:txBody>
      </p:sp>
    </p:spTree>
    <p:extLst>
      <p:ext uri="{BB962C8B-B14F-4D97-AF65-F5344CB8AC3E}">
        <p14:creationId xmlns:p14="http://schemas.microsoft.com/office/powerpoint/2010/main" val="1715539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42576-53BD-9ADC-6DBE-C34E003B14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E56ECB-B4E3-A74C-5485-BAD162229A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Content Placeholder 5">
            <a:extLst>
              <a:ext uri="{FF2B5EF4-FFF2-40B4-BE49-F238E27FC236}">
                <a16:creationId xmlns:a16="http://schemas.microsoft.com/office/drawing/2014/main" id="{32BD297A-620B-453E-9133-A0C1B327C4A9}"/>
              </a:ext>
            </a:extLst>
          </p:cNvPr>
          <p:cNvSpPr>
            <a:spLocks noGrp="1"/>
          </p:cNvSpPr>
          <p:nvPr>
            <p:ph idx="1"/>
          </p:nvPr>
        </p:nvSpPr>
        <p:spPr>
          <a:xfrm>
            <a:off x="380010" y="1350323"/>
            <a:ext cx="8383980" cy="1451535"/>
          </a:xfrm>
        </p:spPr>
        <p:txBody>
          <a:bodyPr>
            <a:normAutofit fontScale="92500" lnSpcReduction="20000"/>
          </a:bodyPr>
          <a:lstStyle/>
          <a:p>
            <a:r>
              <a:rPr lang="en-US" dirty="0"/>
              <a:t>The first step when a new dataset arrives is always exploration.</a:t>
            </a:r>
          </a:p>
          <a:p>
            <a:pPr lvl="1"/>
            <a:r>
              <a:rPr lang="en-US" dirty="0"/>
              <a:t>Before performing operations, you should understand the shape, types, and quality of the data.</a:t>
            </a:r>
          </a:p>
        </p:txBody>
      </p:sp>
      <p:sp>
        <p:nvSpPr>
          <p:cNvPr id="5" name="Title 4">
            <a:extLst>
              <a:ext uri="{FF2B5EF4-FFF2-40B4-BE49-F238E27FC236}">
                <a16:creationId xmlns:a16="http://schemas.microsoft.com/office/drawing/2014/main" id="{85A453D0-D91D-B143-F0C5-8606B25E1401}"/>
              </a:ext>
            </a:extLst>
          </p:cNvPr>
          <p:cNvSpPr>
            <a:spLocks noGrp="1"/>
          </p:cNvSpPr>
          <p:nvPr>
            <p:ph type="title"/>
          </p:nvPr>
        </p:nvSpPr>
        <p:spPr/>
        <p:txBody>
          <a:bodyPr/>
          <a:lstStyle/>
          <a:p>
            <a:r>
              <a:rPr lang="en-US" dirty="0"/>
              <a:t>Pandas – Summary Statistics &amp; Exploration</a:t>
            </a:r>
          </a:p>
        </p:txBody>
      </p:sp>
      <p:graphicFrame>
        <p:nvGraphicFramePr>
          <p:cNvPr id="7" name="Table 6">
            <a:extLst>
              <a:ext uri="{FF2B5EF4-FFF2-40B4-BE49-F238E27FC236}">
                <a16:creationId xmlns:a16="http://schemas.microsoft.com/office/drawing/2014/main" id="{4B61FD7F-2D18-7486-9340-F43E3CDE5E0C}"/>
              </a:ext>
            </a:extLst>
          </p:cNvPr>
          <p:cNvGraphicFramePr>
            <a:graphicFrameLocks noGrp="1"/>
          </p:cNvGraphicFramePr>
          <p:nvPr>
            <p:extLst>
              <p:ext uri="{D42A27DB-BD31-4B8C-83A1-F6EECF244321}">
                <p14:modId xmlns:p14="http://schemas.microsoft.com/office/powerpoint/2010/main" val="478329390"/>
              </p:ext>
            </p:extLst>
          </p:nvPr>
        </p:nvGraphicFramePr>
        <p:xfrm>
          <a:off x="159573" y="2853616"/>
          <a:ext cx="8824855" cy="3921760"/>
        </p:xfrm>
        <a:graphic>
          <a:graphicData uri="http://schemas.openxmlformats.org/drawingml/2006/table">
            <a:tbl>
              <a:tblPr firstRow="1" bandRow="1">
                <a:tableStyleId>{5C22544A-7EE6-4342-B048-85BDC9FD1C3A}</a:tableStyleId>
              </a:tblPr>
              <a:tblGrid>
                <a:gridCol w="2876925">
                  <a:extLst>
                    <a:ext uri="{9D8B030D-6E8A-4147-A177-3AD203B41FA5}">
                      <a16:colId xmlns:a16="http://schemas.microsoft.com/office/drawing/2014/main" val="4202507141"/>
                    </a:ext>
                  </a:extLst>
                </a:gridCol>
                <a:gridCol w="5947930">
                  <a:extLst>
                    <a:ext uri="{9D8B030D-6E8A-4147-A177-3AD203B41FA5}">
                      <a16:colId xmlns:a16="http://schemas.microsoft.com/office/drawing/2014/main" val="2653014772"/>
                    </a:ext>
                  </a:extLst>
                </a:gridCol>
              </a:tblGrid>
              <a:tr h="0">
                <a:tc>
                  <a:txBody>
                    <a:bodyPr/>
                    <a:lstStyle/>
                    <a:p>
                      <a:r>
                        <a:rPr lang="en-US" dirty="0" err="1"/>
                        <a:t>Df</a:t>
                      </a:r>
                      <a:r>
                        <a:rPr lang="en-US" dirty="0"/>
                        <a:t> Method/Attribute</a:t>
                      </a:r>
                    </a:p>
                  </a:txBody>
                  <a:tcPr/>
                </a:tc>
                <a:tc>
                  <a:txBody>
                    <a:bodyPr/>
                    <a:lstStyle/>
                    <a:p>
                      <a:r>
                        <a:rPr lang="en-US" dirty="0"/>
                        <a:t>Purpose</a:t>
                      </a:r>
                    </a:p>
                  </a:txBody>
                  <a:tcPr/>
                </a:tc>
                <a:extLst>
                  <a:ext uri="{0D108BD9-81ED-4DB2-BD59-A6C34878D82A}">
                    <a16:rowId xmlns:a16="http://schemas.microsoft.com/office/drawing/2014/main" val="3394265451"/>
                  </a:ext>
                </a:extLst>
              </a:tr>
              <a:tr h="370840">
                <a:tc>
                  <a:txBody>
                    <a:bodyPr/>
                    <a:lstStyle/>
                    <a:p>
                      <a:r>
                        <a:rPr lang="en-US" sz="1400" dirty="0" err="1">
                          <a:latin typeface="Courier New" panose="02070309020205020404" pitchFamily="49" charset="0"/>
                          <a:cs typeface="Courier New" panose="02070309020205020404" pitchFamily="49" charset="0"/>
                        </a:rPr>
                        <a:t>df.shape</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Get a tuple of rows, columns to understand the size of the dataset</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df.info()</a:t>
                      </a:r>
                    </a:p>
                  </a:txBody>
                  <a:tcPr/>
                </a:tc>
                <a:tc>
                  <a:txBody>
                    <a:bodyPr/>
                    <a:lstStyle/>
                    <a:p>
                      <a:r>
                        <a:rPr lang="en-US" sz="1400" dirty="0"/>
                        <a:t>Get a concise summary of the dataset (column, names, non-null counts, </a:t>
                      </a:r>
                      <a:r>
                        <a:rPr lang="en-US" sz="1400" dirty="0" err="1"/>
                        <a:t>dtypes</a:t>
                      </a:r>
                      <a:r>
                        <a:rPr lang="en-US" sz="1400" dirty="0"/>
                        <a:t>) to understand the data at a high-level</a:t>
                      </a:r>
                    </a:p>
                  </a:txBody>
                  <a:tcPr/>
                </a:tc>
                <a:extLst>
                  <a:ext uri="{0D108BD9-81ED-4DB2-BD59-A6C34878D82A}">
                    <a16:rowId xmlns:a16="http://schemas.microsoft.com/office/drawing/2014/main" val="2124088066"/>
                  </a:ext>
                </a:extLst>
              </a:tr>
              <a:tr h="370840">
                <a:tc>
                  <a:txBody>
                    <a:bodyPr/>
                    <a:lstStyle/>
                    <a:p>
                      <a:r>
                        <a:rPr lang="en-US" sz="1400" dirty="0" err="1">
                          <a:latin typeface="Courier New" panose="02070309020205020404" pitchFamily="49" charset="0"/>
                          <a:cs typeface="Courier New" panose="02070309020205020404" pitchFamily="49" charset="0"/>
                        </a:rPr>
                        <a:t>df.describe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Get summary statistics for all numeric columns, count, mean, standard deviation, min, max, quartiles</a:t>
                      </a:r>
                    </a:p>
                  </a:txBody>
                  <a:tcPr/>
                </a:tc>
                <a:extLst>
                  <a:ext uri="{0D108BD9-81ED-4DB2-BD59-A6C34878D82A}">
                    <a16:rowId xmlns:a16="http://schemas.microsoft.com/office/drawing/2014/main" val="1418808306"/>
                  </a:ext>
                </a:extLst>
              </a:tr>
              <a:tr h="370840">
                <a:tc>
                  <a:txBody>
                    <a:bodyPr/>
                    <a:lstStyle/>
                    <a:p>
                      <a:r>
                        <a:rPr lang="en-US" sz="1400" dirty="0" err="1">
                          <a:latin typeface="Courier New" panose="02070309020205020404" pitchFamily="49" charset="0"/>
                          <a:cs typeface="Courier New" panose="02070309020205020404" pitchFamily="49" charset="0"/>
                        </a:rPr>
                        <a:t>df.head</a:t>
                      </a:r>
                      <a:r>
                        <a:rPr lang="en-US" sz="1400" dirty="0">
                          <a:latin typeface="Courier New" panose="02070309020205020404" pitchFamily="49" charset="0"/>
                          <a:cs typeface="Courier New" panose="02070309020205020404" pitchFamily="49" charset="0"/>
                        </a:rPr>
                        <a:t>(n) | </a:t>
                      </a:r>
                      <a:r>
                        <a:rPr lang="en-US" sz="1400" dirty="0" err="1">
                          <a:latin typeface="Courier New" panose="02070309020205020404" pitchFamily="49" charset="0"/>
                          <a:cs typeface="Courier New" panose="02070309020205020404" pitchFamily="49" charset="0"/>
                        </a:rPr>
                        <a:t>df.tail</a:t>
                      </a:r>
                      <a:r>
                        <a:rPr lang="en-US" sz="1400" dirty="0">
                          <a:latin typeface="Courier New" panose="02070309020205020404" pitchFamily="49" charset="0"/>
                          <a:cs typeface="Courier New" panose="02070309020205020404" pitchFamily="49" charset="0"/>
                        </a:rPr>
                        <a:t>(n)</a:t>
                      </a:r>
                    </a:p>
                  </a:txBody>
                  <a:tcPr/>
                </a:tc>
                <a:tc>
                  <a:txBody>
                    <a:bodyPr/>
                    <a:lstStyle/>
                    <a:p>
                      <a:r>
                        <a:rPr lang="en-US" sz="1400" dirty="0"/>
                        <a:t>Return the first n or last n rows</a:t>
                      </a:r>
                    </a:p>
                  </a:txBody>
                  <a:tcPr/>
                </a:tc>
                <a:extLst>
                  <a:ext uri="{0D108BD9-81ED-4DB2-BD59-A6C34878D82A}">
                    <a16:rowId xmlns:a16="http://schemas.microsoft.com/office/drawing/2014/main" val="2056458437"/>
                  </a:ext>
                </a:extLst>
              </a:tr>
              <a:tr h="370840">
                <a:tc>
                  <a:txBody>
                    <a:bodyPr/>
                    <a:lstStyle/>
                    <a:p>
                      <a:r>
                        <a:rPr lang="en-US" sz="1400" dirty="0" err="1">
                          <a:latin typeface="Courier New" panose="02070309020205020404" pitchFamily="49" charset="0"/>
                          <a:cs typeface="Courier New" panose="02070309020205020404" pitchFamily="49" charset="0"/>
                        </a:rPr>
                        <a:t>df.value_counts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Get the frequency of each unique value in a Series – important to understand categorical columns</a:t>
                      </a:r>
                    </a:p>
                  </a:txBody>
                  <a:tcPr/>
                </a:tc>
                <a:extLst>
                  <a:ext uri="{0D108BD9-81ED-4DB2-BD59-A6C34878D82A}">
                    <a16:rowId xmlns:a16="http://schemas.microsoft.com/office/drawing/2014/main" val="2693395756"/>
                  </a:ext>
                </a:extLst>
              </a:tr>
              <a:tr h="370840">
                <a:tc>
                  <a:txBody>
                    <a:bodyPr/>
                    <a:lstStyle/>
                    <a:p>
                      <a:r>
                        <a:rPr lang="en-US" sz="1400" dirty="0" err="1">
                          <a:latin typeface="Courier New" panose="02070309020205020404" pitchFamily="49" charset="0"/>
                          <a:cs typeface="Courier New" panose="02070309020205020404" pitchFamily="49" charset="0"/>
                        </a:rPr>
                        <a:t>df.nunique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Understand the number of distinct values/column</a:t>
                      </a:r>
                    </a:p>
                  </a:txBody>
                  <a:tcPr/>
                </a:tc>
                <a:extLst>
                  <a:ext uri="{0D108BD9-81ED-4DB2-BD59-A6C34878D82A}">
                    <a16:rowId xmlns:a16="http://schemas.microsoft.com/office/drawing/2014/main" val="1564051272"/>
                  </a:ext>
                </a:extLst>
              </a:tr>
              <a:tr h="370840">
                <a:tc>
                  <a:txBody>
                    <a:bodyPr/>
                    <a:lstStyle/>
                    <a:p>
                      <a:r>
                        <a:rPr lang="en-US" sz="1400" dirty="0" err="1">
                          <a:latin typeface="Courier New" panose="02070309020205020404" pitchFamily="49" charset="0"/>
                          <a:cs typeface="Courier New" panose="02070309020205020404" pitchFamily="49" charset="0"/>
                        </a:rPr>
                        <a:t>df.isnull</a:t>
                      </a:r>
                      <a:r>
                        <a:rPr lang="en-US" sz="1400" dirty="0">
                          <a:latin typeface="Courier New" panose="02070309020205020404" pitchFamily="49" charset="0"/>
                          <a:cs typeface="Courier New" panose="02070309020205020404" pitchFamily="49" charset="0"/>
                        </a:rPr>
                        <a:t>().sum()</a:t>
                      </a:r>
                    </a:p>
                  </a:txBody>
                  <a:tcPr/>
                </a:tc>
                <a:tc>
                  <a:txBody>
                    <a:bodyPr/>
                    <a:lstStyle/>
                    <a:p>
                      <a:r>
                        <a:rPr lang="en-US" sz="1400" dirty="0"/>
                        <a:t>Count of null values per column (initial check for data quality)</a:t>
                      </a:r>
                    </a:p>
                  </a:txBody>
                  <a:tcPr/>
                </a:tc>
                <a:extLst>
                  <a:ext uri="{0D108BD9-81ED-4DB2-BD59-A6C34878D82A}">
                    <a16:rowId xmlns:a16="http://schemas.microsoft.com/office/drawing/2014/main" val="1859701164"/>
                  </a:ext>
                </a:extLst>
              </a:tr>
              <a:tr h="370840">
                <a:tc>
                  <a:txBody>
                    <a:bodyPr/>
                    <a:lstStyle/>
                    <a:p>
                      <a:r>
                        <a:rPr lang="en-US" sz="1400" dirty="0" err="1">
                          <a:latin typeface="Courier New" panose="02070309020205020404" pitchFamily="49" charset="0"/>
                          <a:cs typeface="Courier New" panose="02070309020205020404" pitchFamily="49" charset="0"/>
                        </a:rPr>
                        <a:t>df.sample</a:t>
                      </a:r>
                      <a:r>
                        <a:rPr lang="en-US" sz="1400" dirty="0">
                          <a:latin typeface="Courier New" panose="02070309020205020404" pitchFamily="49" charset="0"/>
                          <a:cs typeface="Courier New" panose="02070309020205020404" pitchFamily="49" charset="0"/>
                        </a:rPr>
                        <a:t>(n)</a:t>
                      </a:r>
                    </a:p>
                  </a:txBody>
                  <a:tcPr/>
                </a:tc>
                <a:tc>
                  <a:txBody>
                    <a:bodyPr/>
                    <a:lstStyle/>
                    <a:p>
                      <a:r>
                        <a:rPr lang="en-US" sz="1400" dirty="0"/>
                        <a:t>Randomly select n rows – less biased look at rows than </a:t>
                      </a:r>
                      <a:r>
                        <a:rPr lang="en-US" sz="1400" dirty="0" err="1"/>
                        <a:t>than</a:t>
                      </a:r>
                      <a:r>
                        <a:rPr lang="en-US" sz="1400" dirty="0"/>
                        <a:t> head() or tail()</a:t>
                      </a:r>
                    </a:p>
                  </a:txBody>
                  <a:tcPr/>
                </a:tc>
                <a:extLst>
                  <a:ext uri="{0D108BD9-81ED-4DB2-BD59-A6C34878D82A}">
                    <a16:rowId xmlns:a16="http://schemas.microsoft.com/office/drawing/2014/main" val="3954834041"/>
                  </a:ext>
                </a:extLst>
              </a:tr>
            </a:tbl>
          </a:graphicData>
        </a:graphic>
      </p:graphicFrame>
    </p:spTree>
    <p:extLst>
      <p:ext uri="{BB962C8B-B14F-4D97-AF65-F5344CB8AC3E}">
        <p14:creationId xmlns:p14="http://schemas.microsoft.com/office/powerpoint/2010/main" val="338507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C1149-3C9B-703E-825C-D4C3C37AA3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518C66-D6CD-3313-7F73-BC4E688DEB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Content Placeholder 5">
            <a:extLst>
              <a:ext uri="{FF2B5EF4-FFF2-40B4-BE49-F238E27FC236}">
                <a16:creationId xmlns:a16="http://schemas.microsoft.com/office/drawing/2014/main" id="{DEEB8674-CF70-FB55-4C3E-F3F00F1981CA}"/>
              </a:ext>
            </a:extLst>
          </p:cNvPr>
          <p:cNvSpPr>
            <a:spLocks noGrp="1"/>
          </p:cNvSpPr>
          <p:nvPr>
            <p:ph idx="1"/>
          </p:nvPr>
        </p:nvSpPr>
        <p:spPr>
          <a:xfrm>
            <a:off x="380010" y="1208223"/>
            <a:ext cx="8383980" cy="1224150"/>
          </a:xfrm>
        </p:spPr>
        <p:txBody>
          <a:bodyPr>
            <a:normAutofit fontScale="92500" lnSpcReduction="10000"/>
          </a:bodyPr>
          <a:lstStyle/>
          <a:p>
            <a:r>
              <a:rPr lang="en-US" dirty="0"/>
              <a:t>Cleaning data is rarely glamorous, but is one of the most critical skills in a Data Engineer’s toolkit</a:t>
            </a:r>
          </a:p>
          <a:p>
            <a:pPr lvl="1"/>
            <a:r>
              <a:rPr lang="en-US" dirty="0"/>
              <a:t>If we take garbage data in, we will get garbage data out</a:t>
            </a:r>
          </a:p>
        </p:txBody>
      </p:sp>
      <p:sp>
        <p:nvSpPr>
          <p:cNvPr id="5" name="Title 4">
            <a:extLst>
              <a:ext uri="{FF2B5EF4-FFF2-40B4-BE49-F238E27FC236}">
                <a16:creationId xmlns:a16="http://schemas.microsoft.com/office/drawing/2014/main" id="{ED3431CC-AB92-0AEC-9718-104C898D02A0}"/>
              </a:ext>
            </a:extLst>
          </p:cNvPr>
          <p:cNvSpPr>
            <a:spLocks noGrp="1"/>
          </p:cNvSpPr>
          <p:nvPr>
            <p:ph type="title"/>
          </p:nvPr>
        </p:nvSpPr>
        <p:spPr/>
        <p:txBody>
          <a:bodyPr/>
          <a:lstStyle/>
          <a:p>
            <a:r>
              <a:rPr lang="en-US" dirty="0"/>
              <a:t>Pandas – Cleaning &amp; Preparing Data</a:t>
            </a:r>
          </a:p>
        </p:txBody>
      </p:sp>
      <p:graphicFrame>
        <p:nvGraphicFramePr>
          <p:cNvPr id="7" name="Table 6">
            <a:extLst>
              <a:ext uri="{FF2B5EF4-FFF2-40B4-BE49-F238E27FC236}">
                <a16:creationId xmlns:a16="http://schemas.microsoft.com/office/drawing/2014/main" id="{281C7D1D-F01A-9B5C-FB62-D910E1643A85}"/>
              </a:ext>
            </a:extLst>
          </p:cNvPr>
          <p:cNvGraphicFramePr>
            <a:graphicFrameLocks noGrp="1"/>
          </p:cNvGraphicFramePr>
          <p:nvPr>
            <p:extLst>
              <p:ext uri="{D42A27DB-BD31-4B8C-83A1-F6EECF244321}">
                <p14:modId xmlns:p14="http://schemas.microsoft.com/office/powerpoint/2010/main" val="344359550"/>
              </p:ext>
            </p:extLst>
          </p:nvPr>
        </p:nvGraphicFramePr>
        <p:xfrm>
          <a:off x="159572" y="2418080"/>
          <a:ext cx="8824855" cy="3997960"/>
        </p:xfrm>
        <a:graphic>
          <a:graphicData uri="http://schemas.openxmlformats.org/drawingml/2006/table">
            <a:tbl>
              <a:tblPr firstRow="1" bandRow="1">
                <a:tableStyleId>{5C22544A-7EE6-4342-B048-85BDC9FD1C3A}</a:tableStyleId>
              </a:tblPr>
              <a:tblGrid>
                <a:gridCol w="3014949">
                  <a:extLst>
                    <a:ext uri="{9D8B030D-6E8A-4147-A177-3AD203B41FA5}">
                      <a16:colId xmlns:a16="http://schemas.microsoft.com/office/drawing/2014/main" val="4202507141"/>
                    </a:ext>
                  </a:extLst>
                </a:gridCol>
                <a:gridCol w="5809906">
                  <a:extLst>
                    <a:ext uri="{9D8B030D-6E8A-4147-A177-3AD203B41FA5}">
                      <a16:colId xmlns:a16="http://schemas.microsoft.com/office/drawing/2014/main" val="2653014772"/>
                    </a:ext>
                  </a:extLst>
                </a:gridCol>
              </a:tblGrid>
              <a:tr h="0">
                <a:tc>
                  <a:txBody>
                    <a:bodyPr/>
                    <a:lstStyle/>
                    <a:p>
                      <a:r>
                        <a:rPr lang="en-US" dirty="0" err="1"/>
                        <a:t>Df</a:t>
                      </a:r>
                      <a:r>
                        <a:rPr lang="en-US" dirty="0"/>
                        <a:t> Method/Attribute</a:t>
                      </a:r>
                    </a:p>
                  </a:txBody>
                  <a:tcPr/>
                </a:tc>
                <a:tc>
                  <a:txBody>
                    <a:bodyPr/>
                    <a:lstStyle/>
                    <a:p>
                      <a:r>
                        <a:rPr lang="en-US" dirty="0"/>
                        <a:t>Purpose</a:t>
                      </a:r>
                    </a:p>
                  </a:txBody>
                  <a:tcPr/>
                </a:tc>
                <a:extLst>
                  <a:ext uri="{0D108BD9-81ED-4DB2-BD59-A6C34878D82A}">
                    <a16:rowId xmlns:a16="http://schemas.microsoft.com/office/drawing/2014/main" val="3394265451"/>
                  </a:ext>
                </a:extLst>
              </a:tr>
              <a:tr h="370840">
                <a:tc>
                  <a:txBody>
                    <a:bodyPr/>
                    <a:lstStyle/>
                    <a:p>
                      <a:r>
                        <a:rPr lang="en-US" sz="1400" dirty="0" err="1">
                          <a:latin typeface="Courier New" panose="02070309020205020404" pitchFamily="49" charset="0"/>
                          <a:cs typeface="Courier New" panose="02070309020205020404" pitchFamily="49" charset="0"/>
                        </a:rPr>
                        <a:t>df.isnull</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df.notnull</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Get a Boolean mask to filter null or non-null values</a:t>
                      </a:r>
                    </a:p>
                  </a:txBody>
                  <a:tcPr/>
                </a:tc>
                <a:extLst>
                  <a:ext uri="{0D108BD9-81ED-4DB2-BD59-A6C34878D82A}">
                    <a16:rowId xmlns:a16="http://schemas.microsoft.com/office/drawing/2014/main" val="2748510336"/>
                  </a:ext>
                </a:extLst>
              </a:tr>
              <a:tr h="370840">
                <a:tc>
                  <a:txBody>
                    <a:bodyPr/>
                    <a:lstStyle/>
                    <a:p>
                      <a:r>
                        <a:rPr lang="en-US" sz="1400" dirty="0" err="1">
                          <a:latin typeface="Courier New" panose="02070309020205020404" pitchFamily="49" charset="0"/>
                          <a:cs typeface="Courier New" panose="02070309020205020404" pitchFamily="49" charset="0"/>
                        </a:rPr>
                        <a:t>df.dropna</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Removes rows/columns containing nulls</a:t>
                      </a:r>
                    </a:p>
                  </a:txBody>
                  <a:tcPr/>
                </a:tc>
                <a:extLst>
                  <a:ext uri="{0D108BD9-81ED-4DB2-BD59-A6C34878D82A}">
                    <a16:rowId xmlns:a16="http://schemas.microsoft.com/office/drawing/2014/main" val="2124088066"/>
                  </a:ext>
                </a:extLst>
              </a:tr>
              <a:tr h="370840">
                <a:tc>
                  <a:txBody>
                    <a:bodyPr/>
                    <a:lstStyle/>
                    <a:p>
                      <a:r>
                        <a:rPr lang="en-US" sz="1400" dirty="0" err="1">
                          <a:latin typeface="Courier New" panose="02070309020205020404" pitchFamily="49" charset="0"/>
                          <a:cs typeface="Courier New" panose="02070309020205020404" pitchFamily="49" charset="0"/>
                        </a:rPr>
                        <a:t>df.fillna</a:t>
                      </a:r>
                      <a:r>
                        <a:rPr lang="en-US" sz="1400" dirty="0">
                          <a:latin typeface="Courier New" panose="02070309020205020404" pitchFamily="49" charset="0"/>
                          <a:cs typeface="Courier New" panose="02070309020205020404" pitchFamily="49" charset="0"/>
                        </a:rPr>
                        <a:t>()</a:t>
                      </a:r>
                    </a:p>
                    <a:p>
                      <a:r>
                        <a:rPr lang="en-US" sz="1400" dirty="0" err="1">
                          <a:latin typeface="Courier New" panose="02070309020205020404" pitchFamily="49" charset="0"/>
                          <a:cs typeface="Courier New" panose="02070309020205020404" pitchFamily="49" charset="0"/>
                        </a:rPr>
                        <a:t>Ffill</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bfill</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Fills null values with a specified value, can use forward fill (</a:t>
                      </a:r>
                      <a:r>
                        <a:rPr lang="en-US" sz="1400" dirty="0" err="1"/>
                        <a:t>ffill</a:t>
                      </a:r>
                      <a:r>
                        <a:rPr lang="en-US" sz="1400" dirty="0"/>
                        <a:t>) or backward fill (</a:t>
                      </a:r>
                      <a:r>
                        <a:rPr lang="en-US" sz="1400" dirty="0" err="1"/>
                        <a:t>bfill</a:t>
                      </a:r>
                      <a:r>
                        <a:rPr lang="en-US" sz="1400" dirty="0"/>
                        <a:t>) strategies</a:t>
                      </a:r>
                    </a:p>
                  </a:txBody>
                  <a:tcPr/>
                </a:tc>
                <a:extLst>
                  <a:ext uri="{0D108BD9-81ED-4DB2-BD59-A6C34878D82A}">
                    <a16:rowId xmlns:a16="http://schemas.microsoft.com/office/drawing/2014/main" val="1418808306"/>
                  </a:ext>
                </a:extLst>
              </a:tr>
              <a:tr h="370840">
                <a:tc>
                  <a:txBody>
                    <a:bodyPr/>
                    <a:lstStyle/>
                    <a:p>
                      <a:r>
                        <a:rPr lang="en-US" sz="1400" dirty="0" err="1">
                          <a:latin typeface="Courier New" panose="02070309020205020404" pitchFamily="49" charset="0"/>
                          <a:cs typeface="Courier New" panose="02070309020205020404" pitchFamily="49" charset="0"/>
                        </a:rPr>
                        <a:t>df.astype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Converts a column to a specified type</a:t>
                      </a:r>
                    </a:p>
                  </a:txBody>
                  <a:tcPr/>
                </a:tc>
                <a:extLst>
                  <a:ext uri="{0D108BD9-81ED-4DB2-BD59-A6C34878D82A}">
                    <a16:rowId xmlns:a16="http://schemas.microsoft.com/office/drawing/2014/main" val="2056458437"/>
                  </a:ext>
                </a:extLst>
              </a:tr>
              <a:tr h="370840">
                <a:tc>
                  <a:txBody>
                    <a:bodyPr/>
                    <a:lstStyle/>
                    <a:p>
                      <a:r>
                        <a:rPr lang="en-US" sz="1400" dirty="0" err="1">
                          <a:latin typeface="Courier New" panose="02070309020205020404" pitchFamily="49" charset="0"/>
                          <a:cs typeface="Courier New" panose="02070309020205020404" pitchFamily="49" charset="0"/>
                        </a:rPr>
                        <a:t>df.rename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Renames columns – accepts a dictionary mapping old names to new names</a:t>
                      </a:r>
                    </a:p>
                  </a:txBody>
                  <a:tcPr/>
                </a:tc>
                <a:extLst>
                  <a:ext uri="{0D108BD9-81ED-4DB2-BD59-A6C34878D82A}">
                    <a16:rowId xmlns:a16="http://schemas.microsoft.com/office/drawing/2014/main" val="2693395756"/>
                  </a:ext>
                </a:extLst>
              </a:tr>
              <a:tr h="370840">
                <a:tc>
                  <a:txBody>
                    <a:bodyPr/>
                    <a:lstStyle/>
                    <a:p>
                      <a:r>
                        <a:rPr lang="en-US" sz="1400" dirty="0" err="1">
                          <a:latin typeface="Courier New" panose="02070309020205020404" pitchFamily="49" charset="0"/>
                          <a:cs typeface="Courier New" panose="02070309020205020404" pitchFamily="49" charset="0"/>
                        </a:rPr>
                        <a:t>df.drop_duplicates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Removes duplicate rows</a:t>
                      </a:r>
                    </a:p>
                  </a:txBody>
                  <a:tcPr/>
                </a:tc>
                <a:extLst>
                  <a:ext uri="{0D108BD9-81ED-4DB2-BD59-A6C34878D82A}">
                    <a16:rowId xmlns:a16="http://schemas.microsoft.com/office/drawing/2014/main" val="1564051272"/>
                  </a:ext>
                </a:extLst>
              </a:tr>
              <a:tr h="370840">
                <a:tc>
                  <a:txBody>
                    <a:bodyPr/>
                    <a:lstStyle/>
                    <a:p>
                      <a:r>
                        <a:rPr lang="en-US" sz="1400" dirty="0" err="1">
                          <a:latin typeface="Courier New" panose="02070309020205020404" pitchFamily="49" charset="0"/>
                          <a:cs typeface="Courier New" panose="02070309020205020404" pitchFamily="49" charset="0"/>
                        </a:rPr>
                        <a:t>df.drop</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Removes specified rows or columns</a:t>
                      </a:r>
                    </a:p>
                  </a:txBody>
                  <a:tcPr/>
                </a:tc>
                <a:extLst>
                  <a:ext uri="{0D108BD9-81ED-4DB2-BD59-A6C34878D82A}">
                    <a16:rowId xmlns:a16="http://schemas.microsoft.com/office/drawing/2014/main" val="1859701164"/>
                  </a:ext>
                </a:extLst>
              </a:tr>
              <a:tr h="370840">
                <a:tc>
                  <a:txBody>
                    <a:bodyPr/>
                    <a:lstStyle/>
                    <a:p>
                      <a:r>
                        <a:rPr lang="en-US" sz="1400" dirty="0" err="1">
                          <a:latin typeface="Courier New" panose="02070309020205020404" pitchFamily="49" charset="0"/>
                          <a:cs typeface="Courier New" panose="02070309020205020404" pitchFamily="49" charset="0"/>
                        </a:rPr>
                        <a:t>df.replace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Replaces specific values across a column or entire </a:t>
                      </a:r>
                      <a:r>
                        <a:rPr lang="en-US" sz="1400" dirty="0" err="1"/>
                        <a:t>DataFrame</a:t>
                      </a:r>
                      <a:endParaRPr lang="en-US" sz="1400" dirty="0"/>
                    </a:p>
                  </a:txBody>
                  <a:tcPr/>
                </a:tc>
                <a:extLst>
                  <a:ext uri="{0D108BD9-81ED-4DB2-BD59-A6C34878D82A}">
                    <a16:rowId xmlns:a16="http://schemas.microsoft.com/office/drawing/2014/main" val="3954834041"/>
                  </a:ext>
                </a:extLst>
              </a:tr>
              <a:tr h="370840">
                <a:tc>
                  <a:txBody>
                    <a:bodyPr/>
                    <a:lstStyle/>
                    <a:p>
                      <a:r>
                        <a:rPr lang="en-US" sz="1400" dirty="0" err="1">
                          <a:latin typeface="Courier New" panose="02070309020205020404" pitchFamily="49" charset="0"/>
                          <a:cs typeface="Courier New" panose="02070309020205020404" pitchFamily="49" charset="0"/>
                        </a:rPr>
                        <a:t>df.clip</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Caps values at a specified minimum or maximum </a:t>
                      </a:r>
                    </a:p>
                  </a:txBody>
                  <a:tcPr/>
                </a:tc>
                <a:extLst>
                  <a:ext uri="{0D108BD9-81ED-4DB2-BD59-A6C34878D82A}">
                    <a16:rowId xmlns:a16="http://schemas.microsoft.com/office/drawing/2014/main" val="1024329234"/>
                  </a:ext>
                </a:extLst>
              </a:tr>
            </a:tbl>
          </a:graphicData>
        </a:graphic>
      </p:graphicFrame>
    </p:spTree>
    <p:extLst>
      <p:ext uri="{BB962C8B-B14F-4D97-AF65-F5344CB8AC3E}">
        <p14:creationId xmlns:p14="http://schemas.microsoft.com/office/powerpoint/2010/main" val="120441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B97B0-F653-A041-0451-4211EA6261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D58139-63D9-D982-59E5-0D8F576C49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6" name="Content Placeholder 5">
            <a:extLst>
              <a:ext uri="{FF2B5EF4-FFF2-40B4-BE49-F238E27FC236}">
                <a16:creationId xmlns:a16="http://schemas.microsoft.com/office/drawing/2014/main" id="{B54B6EC9-25DC-10B0-C932-21A9B715FEB5}"/>
              </a:ext>
            </a:extLst>
          </p:cNvPr>
          <p:cNvSpPr>
            <a:spLocks noGrp="1"/>
          </p:cNvSpPr>
          <p:nvPr>
            <p:ph idx="1"/>
          </p:nvPr>
        </p:nvSpPr>
        <p:spPr>
          <a:xfrm>
            <a:off x="380010" y="1208222"/>
            <a:ext cx="8383980" cy="1675689"/>
          </a:xfrm>
        </p:spPr>
        <p:txBody>
          <a:bodyPr>
            <a:normAutofit fontScale="77500" lnSpcReduction="20000"/>
          </a:bodyPr>
          <a:lstStyle/>
          <a:p>
            <a:r>
              <a:rPr lang="en-US" dirty="0"/>
              <a:t>Pandas exposes string methods on a Series via the .str accessor. This avoids the need for loops or </a:t>
            </a:r>
            <a:r>
              <a:rPr lang="en-US" dirty="0">
                <a:latin typeface="Courier New" panose="02070309020205020404" pitchFamily="49" charset="0"/>
                <a:cs typeface="Courier New" panose="02070309020205020404" pitchFamily="49" charset="0"/>
              </a:rPr>
              <a:t>apply()</a:t>
            </a:r>
            <a:r>
              <a:rPr lang="en-US" dirty="0"/>
              <a:t> for more text operations</a:t>
            </a:r>
          </a:p>
          <a:p>
            <a:r>
              <a:rPr lang="en-US" dirty="0"/>
              <a:t>All </a:t>
            </a:r>
            <a:r>
              <a:rPr lang="en-US" dirty="0">
                <a:latin typeface="Courier New" panose="02070309020205020404" pitchFamily="49" charset="0"/>
                <a:cs typeface="Courier New" panose="02070309020205020404" pitchFamily="49" charset="0"/>
              </a:rPr>
              <a:t>.str</a:t>
            </a:r>
            <a:r>
              <a:rPr lang="en-US" dirty="0"/>
              <a:t> methods return </a:t>
            </a:r>
            <a:r>
              <a:rPr lang="en-US" dirty="0" err="1">
                <a:latin typeface="Courier New" panose="02070309020205020404" pitchFamily="49" charset="0"/>
                <a:cs typeface="Courier New" panose="02070309020205020404" pitchFamily="49" charset="0"/>
              </a:rPr>
              <a:t>NaN</a:t>
            </a:r>
            <a:r>
              <a:rPr lang="en-US" dirty="0"/>
              <a:t> for null values rather than raising an error – this makes for null-safe checks by default.</a:t>
            </a:r>
          </a:p>
        </p:txBody>
      </p:sp>
      <p:sp>
        <p:nvSpPr>
          <p:cNvPr id="5" name="Title 4">
            <a:extLst>
              <a:ext uri="{FF2B5EF4-FFF2-40B4-BE49-F238E27FC236}">
                <a16:creationId xmlns:a16="http://schemas.microsoft.com/office/drawing/2014/main" id="{8AFD0CE9-85DE-09EA-4478-3ABA54797EE8}"/>
              </a:ext>
            </a:extLst>
          </p:cNvPr>
          <p:cNvSpPr>
            <a:spLocks noGrp="1"/>
          </p:cNvSpPr>
          <p:nvPr>
            <p:ph type="title"/>
          </p:nvPr>
        </p:nvSpPr>
        <p:spPr/>
        <p:txBody>
          <a:bodyPr/>
          <a:lstStyle/>
          <a:p>
            <a:r>
              <a:rPr lang="en-US" dirty="0"/>
              <a:t>Pandas – Manipulating Text</a:t>
            </a:r>
          </a:p>
        </p:txBody>
      </p:sp>
      <p:graphicFrame>
        <p:nvGraphicFramePr>
          <p:cNvPr id="7" name="Table 6">
            <a:extLst>
              <a:ext uri="{FF2B5EF4-FFF2-40B4-BE49-F238E27FC236}">
                <a16:creationId xmlns:a16="http://schemas.microsoft.com/office/drawing/2014/main" id="{1FC761E2-8E86-7E39-B480-68BE04AA7490}"/>
              </a:ext>
            </a:extLst>
          </p:cNvPr>
          <p:cNvGraphicFramePr>
            <a:graphicFrameLocks noGrp="1"/>
          </p:cNvGraphicFramePr>
          <p:nvPr>
            <p:extLst>
              <p:ext uri="{D42A27DB-BD31-4B8C-83A1-F6EECF244321}">
                <p14:modId xmlns:p14="http://schemas.microsoft.com/office/powerpoint/2010/main" val="240774899"/>
              </p:ext>
            </p:extLst>
          </p:nvPr>
        </p:nvGraphicFramePr>
        <p:xfrm>
          <a:off x="159572" y="2883912"/>
          <a:ext cx="8824855" cy="3479800"/>
        </p:xfrm>
        <a:graphic>
          <a:graphicData uri="http://schemas.openxmlformats.org/drawingml/2006/table">
            <a:tbl>
              <a:tblPr firstRow="1" bandRow="1">
                <a:tableStyleId>{5C22544A-7EE6-4342-B048-85BDC9FD1C3A}</a:tableStyleId>
              </a:tblPr>
              <a:tblGrid>
                <a:gridCol w="3342753">
                  <a:extLst>
                    <a:ext uri="{9D8B030D-6E8A-4147-A177-3AD203B41FA5}">
                      <a16:colId xmlns:a16="http://schemas.microsoft.com/office/drawing/2014/main" val="4202507141"/>
                    </a:ext>
                  </a:extLst>
                </a:gridCol>
                <a:gridCol w="5482102">
                  <a:extLst>
                    <a:ext uri="{9D8B030D-6E8A-4147-A177-3AD203B41FA5}">
                      <a16:colId xmlns:a16="http://schemas.microsoft.com/office/drawing/2014/main" val="2653014772"/>
                    </a:ext>
                  </a:extLst>
                </a:gridCol>
              </a:tblGrid>
              <a:tr h="0">
                <a:tc>
                  <a:txBody>
                    <a:bodyPr/>
                    <a:lstStyle/>
                    <a:p>
                      <a:r>
                        <a:rPr lang="en-US" dirty="0"/>
                        <a:t>.str Methods</a:t>
                      </a:r>
                    </a:p>
                  </a:txBody>
                  <a:tcPr/>
                </a:tc>
                <a:tc>
                  <a:txBody>
                    <a:bodyPr/>
                    <a:lstStyle/>
                    <a:p>
                      <a:r>
                        <a:rPr lang="en-US" dirty="0"/>
                        <a:t>Purpose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str.lower</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str.upper</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Standardize casing</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str.strip</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Removing trailing or leading whitespaces</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str.replace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Replace substrings</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str.contains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Filter rows when columns contain a substring or pattern</a:t>
                      </a:r>
                    </a:p>
                  </a:txBody>
                  <a:tcPr/>
                </a:tc>
                <a:extLst>
                  <a:ext uri="{0D108BD9-81ED-4DB2-BD59-A6C34878D82A}">
                    <a16:rowId xmlns:a16="http://schemas.microsoft.com/office/drawing/2014/main" val="2056458437"/>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str.startswith</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str.endswith</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Test for specific prefixes or suffixes</a:t>
                      </a:r>
                    </a:p>
                  </a:txBody>
                  <a:tcPr/>
                </a:tc>
                <a:extLst>
                  <a:ext uri="{0D108BD9-81ED-4DB2-BD59-A6C34878D82A}">
                    <a16:rowId xmlns:a16="http://schemas.microsoft.com/office/drawing/2014/main" val="269339575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str.split</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Split strings on a delimiter</a:t>
                      </a:r>
                    </a:p>
                  </a:txBody>
                  <a:tcPr/>
                </a:tc>
                <a:extLst>
                  <a:ext uri="{0D108BD9-81ED-4DB2-BD59-A6C34878D82A}">
                    <a16:rowId xmlns:a16="http://schemas.microsoft.com/office/drawing/2014/main" val="1564051272"/>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str.extract</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Use regular expressions to extract part of a string</a:t>
                      </a:r>
                    </a:p>
                  </a:txBody>
                  <a:tcPr/>
                </a:tc>
                <a:extLst>
                  <a:ext uri="{0D108BD9-81ED-4DB2-BD59-A6C34878D82A}">
                    <a16:rowId xmlns:a16="http://schemas.microsoft.com/office/drawing/2014/main" val="1859701164"/>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str.len</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Returns the number of characters in a string</a:t>
                      </a:r>
                    </a:p>
                  </a:txBody>
                  <a:tcPr/>
                </a:tc>
                <a:extLst>
                  <a:ext uri="{0D108BD9-81ED-4DB2-BD59-A6C34878D82A}">
                    <a16:rowId xmlns:a16="http://schemas.microsoft.com/office/drawing/2014/main" val="3954834041"/>
                  </a:ext>
                </a:extLst>
              </a:tr>
            </a:tbl>
          </a:graphicData>
        </a:graphic>
      </p:graphicFrame>
    </p:spTree>
    <p:extLst>
      <p:ext uri="{BB962C8B-B14F-4D97-AF65-F5344CB8AC3E}">
        <p14:creationId xmlns:p14="http://schemas.microsoft.com/office/powerpoint/2010/main" val="2862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C6F2D-1FA7-EA8D-FB89-14FDFA381D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B0B41B-2FB6-EC9F-1DC5-241ABCEA58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Content Placeholder 5">
            <a:extLst>
              <a:ext uri="{FF2B5EF4-FFF2-40B4-BE49-F238E27FC236}">
                <a16:creationId xmlns:a16="http://schemas.microsoft.com/office/drawing/2014/main" id="{3F487A6D-7142-61A5-C2A7-77E492C59636}"/>
              </a:ext>
            </a:extLst>
          </p:cNvPr>
          <p:cNvSpPr>
            <a:spLocks noGrp="1"/>
          </p:cNvSpPr>
          <p:nvPr>
            <p:ph idx="1"/>
          </p:nvPr>
        </p:nvSpPr>
        <p:spPr>
          <a:xfrm>
            <a:off x="380010" y="1208222"/>
            <a:ext cx="8383980" cy="2011687"/>
          </a:xfrm>
        </p:spPr>
        <p:txBody>
          <a:bodyPr>
            <a:normAutofit fontScale="62500" lnSpcReduction="20000"/>
          </a:bodyPr>
          <a:lstStyle/>
          <a:p>
            <a:r>
              <a:rPr lang="en-US" dirty="0"/>
              <a:t>Reshaping transforms the layout of a </a:t>
            </a:r>
            <a:r>
              <a:rPr lang="en-US" dirty="0" err="1"/>
              <a:t>DataFrame</a:t>
            </a:r>
            <a:r>
              <a:rPr lang="en-US" dirty="0"/>
              <a:t> without changing the underlying data</a:t>
            </a:r>
          </a:p>
          <a:p>
            <a:r>
              <a:rPr lang="en-US" dirty="0"/>
              <a:t>The two fundamental shapes are wide formant (many columns, fewer rows) and long format (fewer columns, more rows)</a:t>
            </a:r>
          </a:p>
          <a:p>
            <a:r>
              <a:rPr lang="en-US" dirty="0"/>
              <a:t>Understanding when data should be wide vs long is a core data engineering skill – different tools and operations expect different shapes</a:t>
            </a:r>
          </a:p>
          <a:p>
            <a:r>
              <a:rPr lang="en-US" dirty="0"/>
              <a:t>Long format is generally preferred for storage and pipelines; wide format is often preferred for reporting and displays</a:t>
            </a:r>
          </a:p>
        </p:txBody>
      </p:sp>
      <p:sp>
        <p:nvSpPr>
          <p:cNvPr id="5" name="Title 4">
            <a:extLst>
              <a:ext uri="{FF2B5EF4-FFF2-40B4-BE49-F238E27FC236}">
                <a16:creationId xmlns:a16="http://schemas.microsoft.com/office/drawing/2014/main" id="{BEAECF7B-F284-7328-63B8-FDF7749E07F6}"/>
              </a:ext>
            </a:extLst>
          </p:cNvPr>
          <p:cNvSpPr>
            <a:spLocks noGrp="1"/>
          </p:cNvSpPr>
          <p:nvPr>
            <p:ph type="title"/>
          </p:nvPr>
        </p:nvSpPr>
        <p:spPr/>
        <p:txBody>
          <a:bodyPr/>
          <a:lstStyle/>
          <a:p>
            <a:r>
              <a:rPr lang="en-US" dirty="0"/>
              <a:t>Pandas – Reshaping Data</a:t>
            </a:r>
          </a:p>
        </p:txBody>
      </p:sp>
      <p:graphicFrame>
        <p:nvGraphicFramePr>
          <p:cNvPr id="7" name="Table 6">
            <a:extLst>
              <a:ext uri="{FF2B5EF4-FFF2-40B4-BE49-F238E27FC236}">
                <a16:creationId xmlns:a16="http://schemas.microsoft.com/office/drawing/2014/main" id="{1097111B-9CCE-053C-2EB9-32CC98722A44}"/>
              </a:ext>
            </a:extLst>
          </p:cNvPr>
          <p:cNvGraphicFramePr>
            <a:graphicFrameLocks noGrp="1"/>
          </p:cNvGraphicFramePr>
          <p:nvPr>
            <p:extLst>
              <p:ext uri="{D42A27DB-BD31-4B8C-83A1-F6EECF244321}">
                <p14:modId xmlns:p14="http://schemas.microsoft.com/office/powerpoint/2010/main" val="3080497355"/>
              </p:ext>
            </p:extLst>
          </p:nvPr>
        </p:nvGraphicFramePr>
        <p:xfrm>
          <a:off x="159572" y="3366194"/>
          <a:ext cx="8824855" cy="3180080"/>
        </p:xfrm>
        <a:graphic>
          <a:graphicData uri="http://schemas.openxmlformats.org/drawingml/2006/table">
            <a:tbl>
              <a:tblPr firstRow="1" bandRow="1">
                <a:tableStyleId>{5C22544A-7EE6-4342-B048-85BDC9FD1C3A}</a:tableStyleId>
              </a:tblPr>
              <a:tblGrid>
                <a:gridCol w="3342753">
                  <a:extLst>
                    <a:ext uri="{9D8B030D-6E8A-4147-A177-3AD203B41FA5}">
                      <a16:colId xmlns:a16="http://schemas.microsoft.com/office/drawing/2014/main" val="4202507141"/>
                    </a:ext>
                  </a:extLst>
                </a:gridCol>
                <a:gridCol w="5482102">
                  <a:extLst>
                    <a:ext uri="{9D8B030D-6E8A-4147-A177-3AD203B41FA5}">
                      <a16:colId xmlns:a16="http://schemas.microsoft.com/office/drawing/2014/main" val="2653014772"/>
                    </a:ext>
                  </a:extLst>
                </a:gridCol>
              </a:tblGrid>
              <a:tr h="0">
                <a:tc>
                  <a:txBody>
                    <a:bodyPr/>
                    <a:lstStyle/>
                    <a:p>
                      <a:r>
                        <a:rPr lang="en-US" dirty="0"/>
                        <a:t>Methods</a:t>
                      </a:r>
                    </a:p>
                  </a:txBody>
                  <a:tcPr/>
                </a:tc>
                <a:tc>
                  <a:txBody>
                    <a:bodyPr/>
                    <a:lstStyle/>
                    <a:p>
                      <a:r>
                        <a:rPr lang="en-US" dirty="0"/>
                        <a:t>Purpose</a:t>
                      </a:r>
                    </a:p>
                  </a:txBody>
                  <a:tcPr/>
                </a:tc>
                <a:extLst>
                  <a:ext uri="{0D108BD9-81ED-4DB2-BD59-A6C34878D82A}">
                    <a16:rowId xmlns:a16="http://schemas.microsoft.com/office/drawing/2014/main" val="3394265451"/>
                  </a:ext>
                </a:extLst>
              </a:tr>
              <a:tr h="370840">
                <a:tc>
                  <a:txBody>
                    <a:bodyPr/>
                    <a:lstStyle/>
                    <a:p>
                      <a:r>
                        <a:rPr lang="en-US" sz="1400" dirty="0" err="1">
                          <a:latin typeface="Courier New" panose="02070309020205020404" pitchFamily="49" charset="0"/>
                          <a:cs typeface="Courier New" panose="02070309020205020404" pitchFamily="49" charset="0"/>
                        </a:rPr>
                        <a:t>df.pivot</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Reshapes from long to wide (requires specifying index, columns and values). Duplicate entries may cause this to fail.</a:t>
                      </a:r>
                    </a:p>
                  </a:txBody>
                  <a:tcPr/>
                </a:tc>
                <a:extLst>
                  <a:ext uri="{0D108BD9-81ED-4DB2-BD59-A6C34878D82A}">
                    <a16:rowId xmlns:a16="http://schemas.microsoft.com/office/drawing/2014/main" val="2748510336"/>
                  </a:ext>
                </a:extLst>
              </a:tr>
              <a:tr h="370840">
                <a:tc>
                  <a:txBody>
                    <a:bodyPr/>
                    <a:lstStyle/>
                    <a:p>
                      <a:r>
                        <a:rPr lang="en-US" sz="1400" dirty="0" err="1">
                          <a:latin typeface="Courier New" panose="02070309020205020404" pitchFamily="49" charset="0"/>
                          <a:cs typeface="Courier New" panose="02070309020205020404" pitchFamily="49" charset="0"/>
                        </a:rPr>
                        <a:t>df.pivot_table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Extends pivot with aggregation – handles duplicate entries that could cause pivot to fail</a:t>
                      </a:r>
                    </a:p>
                  </a:txBody>
                  <a:tcPr/>
                </a:tc>
                <a:extLst>
                  <a:ext uri="{0D108BD9-81ED-4DB2-BD59-A6C34878D82A}">
                    <a16:rowId xmlns:a16="http://schemas.microsoft.com/office/drawing/2014/main" val="2124088066"/>
                  </a:ext>
                </a:extLst>
              </a:tr>
              <a:tr h="370840">
                <a:tc>
                  <a:txBody>
                    <a:bodyPr/>
                    <a:lstStyle/>
                    <a:p>
                      <a:r>
                        <a:rPr lang="en-US" sz="1400" dirty="0" err="1">
                          <a:latin typeface="Courier New" panose="02070309020205020404" pitchFamily="49" charset="0"/>
                          <a:cs typeface="Courier New" panose="02070309020205020404" pitchFamily="49" charset="0"/>
                        </a:rPr>
                        <a:t>df.melt</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Reshapes from wide to long (inverse of pivot())</a:t>
                      </a:r>
                    </a:p>
                  </a:txBody>
                  <a:tcPr/>
                </a:tc>
                <a:extLst>
                  <a:ext uri="{0D108BD9-81ED-4DB2-BD59-A6C34878D82A}">
                    <a16:rowId xmlns:a16="http://schemas.microsoft.com/office/drawing/2014/main" val="1418808306"/>
                  </a:ext>
                </a:extLst>
              </a:tr>
              <a:tr h="370840">
                <a:tc>
                  <a:txBody>
                    <a:bodyPr/>
                    <a:lstStyle/>
                    <a:p>
                      <a:r>
                        <a:rPr lang="en-US" sz="1400" dirty="0" err="1">
                          <a:latin typeface="Courier New" panose="02070309020205020404" pitchFamily="49" charset="0"/>
                          <a:cs typeface="Courier New" panose="02070309020205020404" pitchFamily="49" charset="0"/>
                        </a:rPr>
                        <a:t>df.stack</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Moves column labels into the row index (producing multi-level index)</a:t>
                      </a:r>
                    </a:p>
                  </a:txBody>
                  <a:tcPr/>
                </a:tc>
                <a:extLst>
                  <a:ext uri="{0D108BD9-81ED-4DB2-BD59-A6C34878D82A}">
                    <a16:rowId xmlns:a16="http://schemas.microsoft.com/office/drawing/2014/main" val="2056458437"/>
                  </a:ext>
                </a:extLst>
              </a:tr>
              <a:tr h="370840">
                <a:tc>
                  <a:txBody>
                    <a:bodyPr/>
                    <a:lstStyle/>
                    <a:p>
                      <a:r>
                        <a:rPr lang="en-US" sz="1400" dirty="0" err="1">
                          <a:latin typeface="Courier New" panose="02070309020205020404" pitchFamily="49" charset="0"/>
                          <a:cs typeface="Courier New" panose="02070309020205020404" pitchFamily="49" charset="0"/>
                        </a:rPr>
                        <a:t>df.unstack</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Inverse of stack() – moves a level of the row index back into columns</a:t>
                      </a:r>
                    </a:p>
                  </a:txBody>
                  <a:tcPr/>
                </a:tc>
                <a:extLst>
                  <a:ext uri="{0D108BD9-81ED-4DB2-BD59-A6C34878D82A}">
                    <a16:rowId xmlns:a16="http://schemas.microsoft.com/office/drawing/2014/main" val="2693395756"/>
                  </a:ext>
                </a:extLst>
              </a:tr>
              <a:tr h="370840">
                <a:tc>
                  <a:txBody>
                    <a:bodyPr/>
                    <a:lstStyle/>
                    <a:p>
                      <a:r>
                        <a:rPr lang="en-US" sz="1400" dirty="0" err="1">
                          <a:latin typeface="Courier New" panose="02070309020205020404" pitchFamily="49" charset="0"/>
                          <a:cs typeface="Courier New" panose="02070309020205020404" pitchFamily="49" charset="0"/>
                        </a:rPr>
                        <a:t>df.transpose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err="1"/>
                        <a:t>Filps</a:t>
                      </a:r>
                      <a:r>
                        <a:rPr lang="en-US" sz="1400" dirty="0"/>
                        <a:t> rows and columns entirely</a:t>
                      </a:r>
                    </a:p>
                  </a:txBody>
                  <a:tcPr/>
                </a:tc>
                <a:extLst>
                  <a:ext uri="{0D108BD9-81ED-4DB2-BD59-A6C34878D82A}">
                    <a16:rowId xmlns:a16="http://schemas.microsoft.com/office/drawing/2014/main" val="1564051272"/>
                  </a:ext>
                </a:extLst>
              </a:tr>
            </a:tbl>
          </a:graphicData>
        </a:graphic>
      </p:graphicFrame>
    </p:spTree>
    <p:extLst>
      <p:ext uri="{BB962C8B-B14F-4D97-AF65-F5344CB8AC3E}">
        <p14:creationId xmlns:p14="http://schemas.microsoft.com/office/powerpoint/2010/main" val="114309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268A7-B330-DBB2-C9AA-66DD08E5E2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B363B5-FD2F-DEF4-E19B-34F020D5A6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6" name="Content Placeholder 5">
            <a:extLst>
              <a:ext uri="{FF2B5EF4-FFF2-40B4-BE49-F238E27FC236}">
                <a16:creationId xmlns:a16="http://schemas.microsoft.com/office/drawing/2014/main" id="{56649A48-A715-6D09-C68A-B0491A9109A5}"/>
              </a:ext>
            </a:extLst>
          </p:cNvPr>
          <p:cNvSpPr>
            <a:spLocks noGrp="1"/>
          </p:cNvSpPr>
          <p:nvPr>
            <p:ph idx="1"/>
          </p:nvPr>
        </p:nvSpPr>
        <p:spPr>
          <a:xfrm>
            <a:off x="380010" y="1481446"/>
            <a:ext cx="8383980" cy="5247391"/>
          </a:xfrm>
        </p:spPr>
        <p:txBody>
          <a:bodyPr>
            <a:normAutofit fontScale="92500" lnSpcReduction="10000"/>
          </a:bodyPr>
          <a:lstStyle/>
          <a:p>
            <a:r>
              <a:rPr lang="en-US" dirty="0"/>
              <a:t>Pandas provides three primary ways to combine </a:t>
            </a:r>
            <a:r>
              <a:rPr lang="en-US" dirty="0" err="1"/>
              <a:t>DataFrames</a:t>
            </a:r>
            <a:r>
              <a:rPr lang="en-US" dirty="0"/>
              <a:t>:</a:t>
            </a:r>
          </a:p>
          <a:p>
            <a:pPr lvl="1"/>
            <a:r>
              <a:rPr lang="en-US" dirty="0" err="1">
                <a:latin typeface="Courier New" panose="02070309020205020404" pitchFamily="49" charset="0"/>
                <a:cs typeface="Courier New" panose="02070309020205020404" pitchFamily="49" charset="0"/>
              </a:rPr>
              <a:t>pd.merge</a:t>
            </a:r>
            <a:r>
              <a:rPr lang="en-US" dirty="0">
                <a:latin typeface="Courier New" panose="02070309020205020404" pitchFamily="49" charset="0"/>
                <a:cs typeface="Courier New" panose="02070309020205020404" pitchFamily="49" charset="0"/>
              </a:rPr>
              <a:t>()</a:t>
            </a:r>
            <a:r>
              <a:rPr lang="en-US" dirty="0"/>
              <a:t>: pandas equivalent of SQL JOIN.</a:t>
            </a:r>
          </a:p>
          <a:p>
            <a:pPr lvl="2"/>
            <a:r>
              <a:rPr lang="en-US" dirty="0"/>
              <a:t>4 merge types, inner (default), left, right and outer</a:t>
            </a:r>
          </a:p>
          <a:p>
            <a:pPr lvl="2"/>
            <a:r>
              <a:rPr lang="en-US" dirty="0" err="1">
                <a:latin typeface="Courier New" panose="02070309020205020404" pitchFamily="49" charset="0"/>
                <a:cs typeface="Courier New" panose="02070309020205020404" pitchFamily="49" charset="0"/>
              </a:rPr>
              <a:t>left_on</a:t>
            </a:r>
            <a:r>
              <a:rPr lang="en-US" dirty="0"/>
              <a:t> and </a:t>
            </a:r>
            <a:r>
              <a:rPr lang="en-US" dirty="0" err="1">
                <a:latin typeface="Courier New" panose="02070309020205020404" pitchFamily="49" charset="0"/>
                <a:cs typeface="Courier New" panose="02070309020205020404" pitchFamily="49" charset="0"/>
              </a:rPr>
              <a:t>right_on</a:t>
            </a:r>
            <a:r>
              <a:rPr lang="en-US" dirty="0"/>
              <a:t> are used when key columns have different names in each </a:t>
            </a:r>
            <a:r>
              <a:rPr lang="en-US" dirty="0" err="1"/>
              <a:t>DataFrame</a:t>
            </a:r>
            <a:endParaRPr lang="en-US" dirty="0"/>
          </a:p>
          <a:p>
            <a:pPr lvl="1"/>
            <a:r>
              <a:rPr lang="en-US" dirty="0" err="1"/>
              <a:t>df.join</a:t>
            </a:r>
            <a:r>
              <a:rPr lang="en-US" dirty="0"/>
              <a:t>(): Convenience methods for joining on the index, rather than a column</a:t>
            </a:r>
          </a:p>
          <a:p>
            <a:pPr lvl="1"/>
            <a:r>
              <a:rPr lang="en-US" dirty="0" err="1"/>
              <a:t>pd.concat</a:t>
            </a:r>
            <a:r>
              <a:rPr lang="en-US" dirty="0"/>
              <a:t>(): stacks </a:t>
            </a:r>
            <a:r>
              <a:rPr lang="en-US" dirty="0" err="1"/>
              <a:t>DataFrames</a:t>
            </a:r>
            <a:r>
              <a:rPr lang="en-US" dirty="0"/>
              <a:t> together (either vertically or </a:t>
            </a:r>
            <a:r>
              <a:rPr lang="en-US" dirty="0" err="1"/>
              <a:t>horizonally</a:t>
            </a:r>
            <a:endParaRPr lang="en-US" dirty="0"/>
          </a:p>
          <a:p>
            <a:pPr lvl="2"/>
            <a:r>
              <a:rPr lang="en-US" dirty="0">
                <a:latin typeface="Courier New" panose="02070309020205020404" pitchFamily="49" charset="0"/>
                <a:cs typeface="Courier New" panose="02070309020205020404" pitchFamily="49" charset="0"/>
              </a:rPr>
              <a:t>axis=0</a:t>
            </a:r>
            <a:r>
              <a:rPr lang="en-US" dirty="0"/>
              <a:t> (default) stacks rows; </a:t>
            </a:r>
            <a:r>
              <a:rPr lang="en-US" dirty="0">
                <a:latin typeface="Courier New" panose="02070309020205020404" pitchFamily="49" charset="0"/>
                <a:cs typeface="Courier New" panose="02070309020205020404" pitchFamily="49" charset="0"/>
              </a:rPr>
              <a:t>axis=1</a:t>
            </a:r>
            <a:r>
              <a:rPr lang="en-US" dirty="0"/>
              <a:t> stacks column side-by-side</a:t>
            </a:r>
          </a:p>
          <a:p>
            <a:r>
              <a:rPr lang="en-US" dirty="0"/>
              <a:t>Note: Combining data always requires care around duplicate column names, mismatches </a:t>
            </a:r>
            <a:r>
              <a:rPr lang="en-US" dirty="0" err="1"/>
              <a:t>dtypes</a:t>
            </a:r>
            <a:r>
              <a:rPr lang="en-US" dirty="0"/>
              <a:t>, and null values (potentially introduced by outer joins)</a:t>
            </a:r>
          </a:p>
          <a:p>
            <a:endParaRPr lang="en-US" dirty="0"/>
          </a:p>
        </p:txBody>
      </p:sp>
      <p:sp>
        <p:nvSpPr>
          <p:cNvPr id="5" name="Title 4">
            <a:extLst>
              <a:ext uri="{FF2B5EF4-FFF2-40B4-BE49-F238E27FC236}">
                <a16:creationId xmlns:a16="http://schemas.microsoft.com/office/drawing/2014/main" id="{BF04D319-C3FC-8546-9EA3-050E19534107}"/>
              </a:ext>
            </a:extLst>
          </p:cNvPr>
          <p:cNvSpPr>
            <a:spLocks noGrp="1"/>
          </p:cNvSpPr>
          <p:nvPr>
            <p:ph type="title"/>
          </p:nvPr>
        </p:nvSpPr>
        <p:spPr/>
        <p:txBody>
          <a:bodyPr/>
          <a:lstStyle/>
          <a:p>
            <a:r>
              <a:rPr lang="en-US" dirty="0"/>
              <a:t>Pandas – Combining Data from Multiple Sources</a:t>
            </a:r>
          </a:p>
        </p:txBody>
      </p:sp>
    </p:spTree>
    <p:extLst>
      <p:ext uri="{BB962C8B-B14F-4D97-AF65-F5344CB8AC3E}">
        <p14:creationId xmlns:p14="http://schemas.microsoft.com/office/powerpoint/2010/main" val="385917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625FC-261B-6188-8400-194D6F81D0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802F38-E415-6E44-D6FA-ED0ABD82CF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Content Placeholder 5">
            <a:extLst>
              <a:ext uri="{FF2B5EF4-FFF2-40B4-BE49-F238E27FC236}">
                <a16:creationId xmlns:a16="http://schemas.microsoft.com/office/drawing/2014/main" id="{A3949672-8986-508A-88D2-1771D0DFE663}"/>
              </a:ext>
            </a:extLst>
          </p:cNvPr>
          <p:cNvSpPr>
            <a:spLocks noGrp="1"/>
          </p:cNvSpPr>
          <p:nvPr>
            <p:ph idx="1"/>
          </p:nvPr>
        </p:nvSpPr>
        <p:spPr>
          <a:xfrm>
            <a:off x="380010" y="1481446"/>
            <a:ext cx="8383980" cy="4882266"/>
          </a:xfrm>
        </p:spPr>
        <p:txBody>
          <a:bodyPr>
            <a:normAutofit fontScale="77500" lnSpcReduction="20000"/>
          </a:bodyPr>
          <a:lstStyle/>
          <a:p>
            <a:r>
              <a:rPr lang="en-US" dirty="0"/>
              <a:t>Pandas has first-class support for time series data – datetime handling is one of it’s strongest features</a:t>
            </a:r>
          </a:p>
          <a:p>
            <a:r>
              <a:rPr lang="en-US" dirty="0" err="1">
                <a:latin typeface="Courier New" panose="02070309020205020404" pitchFamily="49" charset="0"/>
                <a:cs typeface="Courier New" panose="02070309020205020404" pitchFamily="49" charset="0"/>
              </a:rPr>
              <a:t>pd.to_datetime</a:t>
            </a:r>
            <a:r>
              <a:rPr lang="en-US" dirty="0">
                <a:latin typeface="Courier New" panose="02070309020205020404" pitchFamily="49" charset="0"/>
                <a:cs typeface="Courier New" panose="02070309020205020404" pitchFamily="49" charset="0"/>
              </a:rPr>
              <a:t>()</a:t>
            </a:r>
            <a:r>
              <a:rPr lang="en-US" dirty="0"/>
              <a:t> converts a column to datetime64 </a:t>
            </a:r>
            <a:r>
              <a:rPr lang="en-US" dirty="0" err="1"/>
              <a:t>dtype</a:t>
            </a:r>
            <a:r>
              <a:rPr lang="en-US" dirty="0"/>
              <a:t>. This is the foundation of all time series work in pandas.</a:t>
            </a:r>
          </a:p>
          <a:p>
            <a:r>
              <a:rPr lang="en-US" dirty="0"/>
              <a:t>The </a:t>
            </a:r>
            <a:r>
              <a:rPr lang="en-US" dirty="0">
                <a:latin typeface="Courier New" panose="02070309020205020404" pitchFamily="49" charset="0"/>
                <a:cs typeface="Courier New" panose="02070309020205020404" pitchFamily="49" charset="0"/>
              </a:rPr>
              <a:t>.dt</a:t>
            </a:r>
            <a:r>
              <a:rPr lang="en-US" dirty="0"/>
              <a:t> accessor exposes datetime properties on a series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dt.year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dt.month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dt.day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dt.day_name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dt.quarter</a:t>
            </a:r>
            <a:r>
              <a:rPr lang="en-US" dirty="0"/>
              <a:t>, etc…)</a:t>
            </a:r>
          </a:p>
          <a:p>
            <a:r>
              <a:rPr lang="en-US" dirty="0" err="1">
                <a:latin typeface="Courier New" panose="02070309020205020404" pitchFamily="49" charset="0"/>
                <a:cs typeface="Courier New" panose="02070309020205020404" pitchFamily="49" charset="0"/>
              </a:rPr>
              <a:t>df.set_index</a:t>
            </a:r>
            <a:r>
              <a:rPr lang="en-US" dirty="0">
                <a:latin typeface="Courier New" panose="02070309020205020404" pitchFamily="49" charset="0"/>
                <a:cs typeface="Courier New" panose="02070309020205020404" pitchFamily="49" charset="0"/>
              </a:rPr>
              <a:t>()</a:t>
            </a:r>
            <a:r>
              <a:rPr lang="en-US" dirty="0"/>
              <a:t> with a datetime column creates a </a:t>
            </a:r>
            <a:r>
              <a:rPr lang="en-US" dirty="0" err="1"/>
              <a:t>DatetimeIndex</a:t>
            </a:r>
            <a:r>
              <a:rPr lang="en-US" dirty="0"/>
              <a:t> which enables time-based slicing and resampling</a:t>
            </a:r>
          </a:p>
          <a:p>
            <a:r>
              <a:rPr lang="en-US" dirty="0" err="1">
                <a:latin typeface="Courier New" panose="02070309020205020404" pitchFamily="49" charset="0"/>
                <a:cs typeface="Courier New" panose="02070309020205020404" pitchFamily="49" charset="0"/>
              </a:rPr>
              <a:t>df.resample</a:t>
            </a:r>
            <a:r>
              <a:rPr lang="en-US" dirty="0">
                <a:latin typeface="Courier New" panose="02070309020205020404" pitchFamily="49" charset="0"/>
                <a:cs typeface="Courier New" panose="02070309020205020404" pitchFamily="49" charset="0"/>
              </a:rPr>
              <a:t>()</a:t>
            </a:r>
            <a:r>
              <a:rPr lang="en-US" dirty="0"/>
              <a:t> groups time series data into regular time buckets (time series equivalent of group-by)</a:t>
            </a:r>
          </a:p>
          <a:p>
            <a:r>
              <a:rPr lang="en-US" dirty="0"/>
              <a:t>Common resample frequencies: </a:t>
            </a:r>
            <a:r>
              <a:rPr lang="en-US" dirty="0">
                <a:latin typeface="Courier New" panose="02070309020205020404" pitchFamily="49" charset="0"/>
                <a:cs typeface="Courier New" panose="02070309020205020404" pitchFamily="49" charset="0"/>
              </a:rPr>
              <a:t>“D”</a:t>
            </a:r>
            <a:r>
              <a:rPr lang="en-US" dirty="0"/>
              <a:t> (day), </a:t>
            </a:r>
            <a:r>
              <a:rPr lang="en-US" dirty="0">
                <a:latin typeface="Courier New" panose="02070309020205020404" pitchFamily="49" charset="0"/>
                <a:cs typeface="Courier New" panose="02070309020205020404" pitchFamily="49" charset="0"/>
              </a:rPr>
              <a:t>“W”</a:t>
            </a:r>
            <a:r>
              <a:rPr lang="en-US" dirty="0"/>
              <a:t> (week), </a:t>
            </a:r>
            <a:r>
              <a:rPr lang="en-US" dirty="0">
                <a:latin typeface="Courier New" panose="02070309020205020404" pitchFamily="49" charset="0"/>
                <a:cs typeface="Courier New" panose="02070309020205020404" pitchFamily="49" charset="0"/>
              </a:rPr>
              <a:t>“ME”</a:t>
            </a:r>
            <a:r>
              <a:rPr lang="en-US" dirty="0"/>
              <a:t> (month), </a:t>
            </a:r>
            <a:r>
              <a:rPr lang="en-US" dirty="0">
                <a:latin typeface="Courier New" panose="02070309020205020404" pitchFamily="49" charset="0"/>
                <a:cs typeface="Courier New" panose="02070309020205020404" pitchFamily="49" charset="0"/>
              </a:rPr>
              <a:t>“QE”</a:t>
            </a:r>
            <a:r>
              <a:rPr lang="en-US" dirty="0"/>
              <a:t> (quarter end), </a:t>
            </a:r>
            <a:r>
              <a:rPr lang="en-US" dirty="0">
                <a:latin typeface="Courier New" panose="02070309020205020404" pitchFamily="49" charset="0"/>
                <a:cs typeface="Courier New" panose="02070309020205020404" pitchFamily="49" charset="0"/>
              </a:rPr>
              <a:t>“YE”</a:t>
            </a:r>
            <a:r>
              <a:rPr lang="en-US" dirty="0"/>
              <a:t> (year end)</a:t>
            </a:r>
          </a:p>
          <a:p>
            <a:r>
              <a:rPr lang="en-US" i="1" dirty="0"/>
              <a:t>Time series is a deep topic – this covers the basics, but you should explore more on your own!</a:t>
            </a:r>
          </a:p>
        </p:txBody>
      </p:sp>
      <p:sp>
        <p:nvSpPr>
          <p:cNvPr id="5" name="Title 4">
            <a:extLst>
              <a:ext uri="{FF2B5EF4-FFF2-40B4-BE49-F238E27FC236}">
                <a16:creationId xmlns:a16="http://schemas.microsoft.com/office/drawing/2014/main" id="{8542A70E-E23C-812A-E9A0-C3C94BBDD4BF}"/>
              </a:ext>
            </a:extLst>
          </p:cNvPr>
          <p:cNvSpPr>
            <a:spLocks noGrp="1"/>
          </p:cNvSpPr>
          <p:nvPr>
            <p:ph type="title"/>
          </p:nvPr>
        </p:nvSpPr>
        <p:spPr/>
        <p:txBody>
          <a:bodyPr/>
          <a:lstStyle/>
          <a:p>
            <a:r>
              <a:rPr lang="en-US" dirty="0"/>
              <a:t>Pandas – Time Series Data</a:t>
            </a:r>
          </a:p>
        </p:txBody>
      </p:sp>
    </p:spTree>
    <p:extLst>
      <p:ext uri="{BB962C8B-B14F-4D97-AF65-F5344CB8AC3E}">
        <p14:creationId xmlns:p14="http://schemas.microsoft.com/office/powerpoint/2010/main" val="301621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B6DA-2FBF-7423-7FFC-04B2B6BB04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5E9D4E-038B-E34E-F4FB-012DE323BE1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22</a:t>
            </a:fld>
            <a:endParaRPr lang="en-US"/>
          </a:p>
        </p:txBody>
      </p:sp>
      <p:sp>
        <p:nvSpPr>
          <p:cNvPr id="4" name="Google Shape;212;p15">
            <a:extLst>
              <a:ext uri="{FF2B5EF4-FFF2-40B4-BE49-F238E27FC236}">
                <a16:creationId xmlns:a16="http://schemas.microsoft.com/office/drawing/2014/main" id="{FAC513E4-B607-EB93-99AD-8A7D890E756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err="1">
                <a:solidFill>
                  <a:schemeClr val="dk2"/>
                </a:solidFill>
              </a:rPr>
              <a:t>MatPlotLib</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ED6E418A-ACAA-39B0-04AB-F1A6912FD098}"/>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267461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5B8CC-D6FD-7B61-0BE8-77A2C351CD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236FBC-ABBF-BA28-2F02-AF537C999C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6" name="Content Placeholder 5">
            <a:extLst>
              <a:ext uri="{FF2B5EF4-FFF2-40B4-BE49-F238E27FC236}">
                <a16:creationId xmlns:a16="http://schemas.microsoft.com/office/drawing/2014/main" id="{CDFFABE8-080F-1CB8-5C0F-898AA0F56CE6}"/>
              </a:ext>
            </a:extLst>
          </p:cNvPr>
          <p:cNvSpPr>
            <a:spLocks noGrp="1"/>
          </p:cNvSpPr>
          <p:nvPr>
            <p:ph idx="1"/>
          </p:nvPr>
        </p:nvSpPr>
        <p:spPr>
          <a:xfrm>
            <a:off x="380010" y="1481446"/>
            <a:ext cx="8383980" cy="5247391"/>
          </a:xfrm>
        </p:spPr>
        <p:txBody>
          <a:bodyPr>
            <a:normAutofit fontScale="85000" lnSpcReduction="10000"/>
          </a:bodyPr>
          <a:lstStyle/>
          <a:p>
            <a:r>
              <a:rPr lang="en-US" dirty="0"/>
              <a:t>Matplotlib is python’s foundational </a:t>
            </a:r>
            <a:r>
              <a:rPr lang="en-US" i="1" dirty="0"/>
              <a:t>plotting</a:t>
            </a:r>
            <a:r>
              <a:rPr lang="en-US" dirty="0"/>
              <a:t> library, most other data visualization tools are built on top of it.</a:t>
            </a:r>
          </a:p>
          <a:p>
            <a:r>
              <a:rPr lang="en-US" dirty="0"/>
              <a:t>pandas </a:t>
            </a:r>
            <a:r>
              <a:rPr lang="en-US" dirty="0">
                <a:latin typeface="Courier New" panose="02070309020205020404" pitchFamily="49" charset="0"/>
                <a:cs typeface="Courier New" panose="02070309020205020404" pitchFamily="49" charset="0"/>
              </a:rPr>
              <a:t>.plot()</a:t>
            </a:r>
            <a:r>
              <a:rPr lang="en-US" dirty="0"/>
              <a:t> is a wrapper around Matplotlib</a:t>
            </a:r>
          </a:p>
          <a:p>
            <a:r>
              <a:rPr lang="en-US" dirty="0" err="1"/>
              <a:t>MatPlotLib</a:t>
            </a:r>
            <a:r>
              <a:rPr lang="en-US" dirty="0"/>
              <a:t> is accessed via the </a:t>
            </a:r>
            <a:r>
              <a:rPr lang="en-US" dirty="0" err="1"/>
              <a:t>pyplot</a:t>
            </a:r>
            <a:r>
              <a:rPr lang="en-US" dirty="0"/>
              <a:t> submodule. The typical import looks like this:</a:t>
            </a:r>
          </a:p>
          <a:p>
            <a:pPr lvl="1"/>
            <a:r>
              <a:rPr lang="en-US" dirty="0"/>
              <a:t>Import </a:t>
            </a:r>
            <a:r>
              <a:rPr lang="en-US" dirty="0" err="1"/>
              <a:t>matplotlib.pyplot</a:t>
            </a:r>
            <a:r>
              <a:rPr lang="en-US" dirty="0"/>
              <a:t> as </a:t>
            </a:r>
            <a:r>
              <a:rPr lang="en-US" dirty="0" err="1"/>
              <a:t>plt</a:t>
            </a:r>
            <a:endParaRPr lang="en-US" dirty="0"/>
          </a:p>
          <a:p>
            <a:r>
              <a:rPr lang="en-US" dirty="0"/>
              <a:t>The two core objects are </a:t>
            </a:r>
            <a:r>
              <a:rPr lang="en-US" dirty="0">
                <a:latin typeface="Courier New" panose="02070309020205020404" pitchFamily="49" charset="0"/>
                <a:cs typeface="Courier New" panose="02070309020205020404" pitchFamily="49" charset="0"/>
              </a:rPr>
              <a:t>Figure</a:t>
            </a:r>
            <a:r>
              <a:rPr lang="en-US" dirty="0"/>
              <a:t> (the overall canvas) and the </a:t>
            </a:r>
            <a:r>
              <a:rPr lang="en-US" dirty="0">
                <a:latin typeface="Courier New" panose="02070309020205020404" pitchFamily="49" charset="0"/>
                <a:cs typeface="Courier New" panose="02070309020205020404" pitchFamily="49" charset="0"/>
              </a:rPr>
              <a:t>Axes </a:t>
            </a:r>
            <a:r>
              <a:rPr lang="en-US" dirty="0"/>
              <a:t>(the individual plot area within it.</a:t>
            </a:r>
          </a:p>
          <a:p>
            <a:pPr lvl="1"/>
            <a:r>
              <a:rPr lang="en-US" dirty="0"/>
              <a:t>A Figure can contain one or more Axes</a:t>
            </a:r>
          </a:p>
          <a:p>
            <a:pPr lvl="1"/>
            <a:r>
              <a:rPr lang="en-US" dirty="0">
                <a:latin typeface="+mj-lt"/>
                <a:cs typeface="Courier New" panose="02070309020205020404" pitchFamily="49" charset="0"/>
              </a:rPr>
              <a:t>You can save a plot using </a:t>
            </a:r>
            <a:r>
              <a:rPr lang="en-US" dirty="0" err="1">
                <a:latin typeface="Courier New" panose="02070309020205020404" pitchFamily="49" charset="0"/>
                <a:cs typeface="Courier New" panose="02070309020205020404" pitchFamily="49" charset="0"/>
              </a:rPr>
              <a:t>savefig</a:t>
            </a:r>
            <a:r>
              <a:rPr lang="en-US" dirty="0">
                <a:latin typeface="Courier New" panose="02070309020205020404" pitchFamily="49" charset="0"/>
                <a:cs typeface="Courier New" panose="02070309020205020404" pitchFamily="49" charset="0"/>
              </a:rPr>
              <a:t>(“path-to-file”)</a:t>
            </a:r>
          </a:p>
          <a:p>
            <a:r>
              <a:rPr lang="en-US" dirty="0"/>
              <a:t>There are two coding styles: the </a:t>
            </a:r>
            <a:r>
              <a:rPr lang="en-US" dirty="0" err="1">
                <a:latin typeface="Courier New" panose="02070309020205020404" pitchFamily="49" charset="0"/>
                <a:cs typeface="Courier New" panose="02070309020205020404" pitchFamily="49" charset="0"/>
              </a:rPr>
              <a:t>plt</a:t>
            </a:r>
            <a:r>
              <a:rPr lang="en-US" dirty="0">
                <a:latin typeface="Courier New" panose="02070309020205020404" pitchFamily="49" charset="0"/>
                <a:cs typeface="Courier New" panose="02070309020205020404" pitchFamily="49" charset="0"/>
              </a:rPr>
              <a:t>.</a:t>
            </a:r>
            <a:r>
              <a:rPr lang="en-US" dirty="0"/>
              <a:t> interface (quick and concise, good for simple, single plots) and the </a:t>
            </a:r>
            <a:r>
              <a:rPr lang="en-US" dirty="0">
                <a:latin typeface="Courier New" panose="02070309020205020404" pitchFamily="49" charset="0"/>
                <a:cs typeface="Courier New" panose="02070309020205020404" pitchFamily="49" charset="0"/>
              </a:rPr>
              <a:t>ax.</a:t>
            </a:r>
            <a:r>
              <a:rPr lang="en-US" dirty="0"/>
              <a:t> Object-oriented interface (more explicit, better for complex or multi-panel figures)</a:t>
            </a:r>
          </a:p>
        </p:txBody>
      </p:sp>
      <p:sp>
        <p:nvSpPr>
          <p:cNvPr id="5" name="Title 4">
            <a:extLst>
              <a:ext uri="{FF2B5EF4-FFF2-40B4-BE49-F238E27FC236}">
                <a16:creationId xmlns:a16="http://schemas.microsoft.com/office/drawing/2014/main" id="{D20DAC71-254C-2DE7-DA0C-DBD17FB6EDD3}"/>
              </a:ext>
            </a:extLst>
          </p:cNvPr>
          <p:cNvSpPr>
            <a:spLocks noGrp="1"/>
          </p:cNvSpPr>
          <p:nvPr>
            <p:ph type="title"/>
          </p:nvPr>
        </p:nvSpPr>
        <p:spPr/>
        <p:txBody>
          <a:bodyPr/>
          <a:lstStyle/>
          <a:p>
            <a:r>
              <a:rPr lang="en-US" dirty="0" err="1"/>
              <a:t>MatPlotLib</a:t>
            </a:r>
            <a:r>
              <a:rPr lang="en-US" dirty="0"/>
              <a:t> - Intro</a:t>
            </a:r>
          </a:p>
        </p:txBody>
      </p:sp>
    </p:spTree>
    <p:extLst>
      <p:ext uri="{BB962C8B-B14F-4D97-AF65-F5344CB8AC3E}">
        <p14:creationId xmlns:p14="http://schemas.microsoft.com/office/powerpoint/2010/main" val="296492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0D899-61B7-A429-A876-F09DD547C6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FE4AE0-F6C5-C73F-1FF0-9CE05093B9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5" name="Title 4">
            <a:extLst>
              <a:ext uri="{FF2B5EF4-FFF2-40B4-BE49-F238E27FC236}">
                <a16:creationId xmlns:a16="http://schemas.microsoft.com/office/drawing/2014/main" id="{F91F6067-F826-5F66-3C96-06BC7686FE70}"/>
              </a:ext>
            </a:extLst>
          </p:cNvPr>
          <p:cNvSpPr>
            <a:spLocks noGrp="1"/>
          </p:cNvSpPr>
          <p:nvPr>
            <p:ph type="title"/>
          </p:nvPr>
        </p:nvSpPr>
        <p:spPr/>
        <p:txBody>
          <a:bodyPr/>
          <a:lstStyle/>
          <a:p>
            <a:r>
              <a:rPr lang="en-US" dirty="0" err="1"/>
              <a:t>MatPlotLib</a:t>
            </a:r>
            <a:r>
              <a:rPr lang="en-US" dirty="0"/>
              <a:t> – Plot Types &amp; When to Use Them</a:t>
            </a:r>
          </a:p>
        </p:txBody>
      </p:sp>
      <p:graphicFrame>
        <p:nvGraphicFramePr>
          <p:cNvPr id="3" name="Table 2">
            <a:extLst>
              <a:ext uri="{FF2B5EF4-FFF2-40B4-BE49-F238E27FC236}">
                <a16:creationId xmlns:a16="http://schemas.microsoft.com/office/drawing/2014/main" id="{B9EF16F5-2DC9-E832-7C69-2F380F4601A1}"/>
              </a:ext>
            </a:extLst>
          </p:cNvPr>
          <p:cNvGraphicFramePr>
            <a:graphicFrameLocks noGrp="1"/>
          </p:cNvGraphicFramePr>
          <p:nvPr>
            <p:extLst>
              <p:ext uri="{D42A27DB-BD31-4B8C-83A1-F6EECF244321}">
                <p14:modId xmlns:p14="http://schemas.microsoft.com/office/powerpoint/2010/main" val="2105214887"/>
              </p:ext>
            </p:extLst>
          </p:nvPr>
        </p:nvGraphicFramePr>
        <p:xfrm>
          <a:off x="159574" y="3040492"/>
          <a:ext cx="8824854" cy="3799716"/>
        </p:xfrm>
        <a:graphic>
          <a:graphicData uri="http://schemas.openxmlformats.org/drawingml/2006/table">
            <a:tbl>
              <a:tblPr firstRow="1" bandRow="1">
                <a:tableStyleId>{5C22544A-7EE6-4342-B048-85BDC9FD1C3A}</a:tableStyleId>
              </a:tblPr>
              <a:tblGrid>
                <a:gridCol w="1824501">
                  <a:extLst>
                    <a:ext uri="{9D8B030D-6E8A-4147-A177-3AD203B41FA5}">
                      <a16:colId xmlns:a16="http://schemas.microsoft.com/office/drawing/2014/main" val="4202507141"/>
                    </a:ext>
                  </a:extLst>
                </a:gridCol>
                <a:gridCol w="4726968">
                  <a:extLst>
                    <a:ext uri="{9D8B030D-6E8A-4147-A177-3AD203B41FA5}">
                      <a16:colId xmlns:a16="http://schemas.microsoft.com/office/drawing/2014/main" val="2653014772"/>
                    </a:ext>
                  </a:extLst>
                </a:gridCol>
                <a:gridCol w="2273385">
                  <a:extLst>
                    <a:ext uri="{9D8B030D-6E8A-4147-A177-3AD203B41FA5}">
                      <a16:colId xmlns:a16="http://schemas.microsoft.com/office/drawing/2014/main" val="3231311561"/>
                    </a:ext>
                  </a:extLst>
                </a:gridCol>
              </a:tblGrid>
              <a:tr h="416436">
                <a:tc>
                  <a:txBody>
                    <a:bodyPr/>
                    <a:lstStyle/>
                    <a:p>
                      <a:r>
                        <a:rPr lang="en-US" dirty="0"/>
                        <a:t>Chat Type</a:t>
                      </a:r>
                    </a:p>
                  </a:txBody>
                  <a:tcPr/>
                </a:tc>
                <a:tc>
                  <a:txBody>
                    <a:bodyPr/>
                    <a:lstStyle/>
                    <a:p>
                      <a:r>
                        <a:rPr lang="en-US" dirty="0"/>
                        <a:t>When to use</a:t>
                      </a:r>
                    </a:p>
                  </a:txBody>
                  <a:tcPr/>
                </a:tc>
                <a:tc>
                  <a:txBody>
                    <a:bodyPr/>
                    <a:lstStyle/>
                    <a:p>
                      <a:r>
                        <a:rPr lang="en-US" dirty="0"/>
                        <a:t>Matplotlib method</a:t>
                      </a:r>
                    </a:p>
                  </a:txBody>
                  <a:tcPr/>
                </a:tc>
                <a:extLst>
                  <a:ext uri="{0D108BD9-81ED-4DB2-BD59-A6C34878D82A}">
                    <a16:rowId xmlns:a16="http://schemas.microsoft.com/office/drawing/2014/main" val="3394265451"/>
                  </a:ext>
                </a:extLst>
              </a:tr>
              <a:tr h="548907">
                <a:tc>
                  <a:txBody>
                    <a:bodyPr/>
                    <a:lstStyle/>
                    <a:p>
                      <a:r>
                        <a:rPr lang="en-US" sz="1800" dirty="0">
                          <a:latin typeface="+mj-lt"/>
                          <a:cs typeface="Courier New" panose="02070309020205020404" pitchFamily="49" charset="0"/>
                        </a:rPr>
                        <a:t>Line Chart</a:t>
                      </a:r>
                    </a:p>
                  </a:txBody>
                  <a:tcPr/>
                </a:tc>
                <a:tc>
                  <a:txBody>
                    <a:bodyPr/>
                    <a:lstStyle/>
                    <a:p>
                      <a:r>
                        <a:rPr lang="en-US" sz="1800" dirty="0"/>
                        <a:t>Best for showing trends over time; each point is connected to show continuity</a:t>
                      </a:r>
                    </a:p>
                  </a:txBody>
                  <a:tcPr/>
                </a:tc>
                <a:tc>
                  <a:txBody>
                    <a:bodyPr/>
                    <a:lstStyle/>
                    <a:p>
                      <a:r>
                        <a:rPr lang="en-US" sz="1800" dirty="0" err="1">
                          <a:latin typeface="Courier New" panose="02070309020205020404" pitchFamily="49" charset="0"/>
                          <a:cs typeface="Courier New" panose="02070309020205020404" pitchFamily="49" charset="0"/>
                        </a:rPr>
                        <a:t>ax.plot</a:t>
                      </a:r>
                      <a:r>
                        <a:rPr lang="en-US" sz="1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748510336"/>
                  </a:ext>
                </a:extLst>
              </a:tr>
              <a:tr h="774928">
                <a:tc>
                  <a:txBody>
                    <a:bodyPr/>
                    <a:lstStyle/>
                    <a:p>
                      <a:r>
                        <a:rPr lang="en-US" sz="1800" dirty="0">
                          <a:latin typeface="+mj-lt"/>
                          <a:cs typeface="Courier New" panose="02070309020205020404" pitchFamily="49" charset="0"/>
                        </a:rPr>
                        <a:t>Bar Chart</a:t>
                      </a:r>
                    </a:p>
                  </a:txBody>
                  <a:tcPr/>
                </a:tc>
                <a:tc>
                  <a:txBody>
                    <a:bodyPr/>
                    <a:lstStyle/>
                    <a:p>
                      <a:r>
                        <a:rPr lang="en-US" sz="1800" dirty="0"/>
                        <a:t>Best for comparing values across categories; use horizontal bars (</a:t>
                      </a:r>
                      <a:r>
                        <a:rPr lang="en-US" sz="1800" dirty="0" err="1"/>
                        <a:t>barh</a:t>
                      </a:r>
                      <a:r>
                        <a:rPr lang="en-US" sz="1800" dirty="0"/>
                        <a:t>) when category labels are long</a:t>
                      </a:r>
                    </a:p>
                  </a:txBody>
                  <a:tcPr/>
                </a:tc>
                <a:tc>
                  <a:txBody>
                    <a:bodyPr/>
                    <a:lstStyle/>
                    <a:p>
                      <a:r>
                        <a:rPr lang="en-US" sz="1800" dirty="0" err="1">
                          <a:latin typeface="Courier New" panose="02070309020205020404" pitchFamily="49" charset="0"/>
                          <a:cs typeface="Courier New" panose="02070309020205020404" pitchFamily="49" charset="0"/>
                        </a:rPr>
                        <a:t>ax.bar</a:t>
                      </a:r>
                      <a:r>
                        <a:rPr lang="en-US" sz="1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r h="774928">
                <a:tc>
                  <a:txBody>
                    <a:bodyPr/>
                    <a:lstStyle/>
                    <a:p>
                      <a:r>
                        <a:rPr lang="en-US" sz="1800" dirty="0">
                          <a:latin typeface="+mj-lt"/>
                          <a:cs typeface="Courier New" panose="02070309020205020404" pitchFamily="49" charset="0"/>
                        </a:rPr>
                        <a:t>Scatter Plot</a:t>
                      </a:r>
                    </a:p>
                  </a:txBody>
                  <a:tcPr/>
                </a:tc>
                <a:tc>
                  <a:txBody>
                    <a:bodyPr/>
                    <a:lstStyle/>
                    <a:p>
                      <a:r>
                        <a:rPr lang="en-US" sz="1800" dirty="0"/>
                        <a:t>Best for showing the relationship between two numeric columns; revealing correlations and outliers</a:t>
                      </a:r>
                    </a:p>
                  </a:txBody>
                  <a:tcPr/>
                </a:tc>
                <a:tc>
                  <a:txBody>
                    <a:bodyPr/>
                    <a:lstStyle/>
                    <a:p>
                      <a:r>
                        <a:rPr lang="en-US" sz="1800" dirty="0" err="1">
                          <a:latin typeface="Courier New" panose="02070309020205020404" pitchFamily="49" charset="0"/>
                          <a:cs typeface="Courier New" panose="02070309020205020404" pitchFamily="49" charset="0"/>
                        </a:rPr>
                        <a:t>ax.scatter</a:t>
                      </a:r>
                      <a:r>
                        <a:rPr lang="en-US" sz="1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418808306"/>
                  </a:ext>
                </a:extLst>
              </a:tr>
              <a:tr h="774928">
                <a:tc>
                  <a:txBody>
                    <a:bodyPr/>
                    <a:lstStyle/>
                    <a:p>
                      <a:r>
                        <a:rPr lang="en-US" sz="1800" dirty="0">
                          <a:latin typeface="+mj-lt"/>
                          <a:cs typeface="Courier New" panose="02070309020205020404" pitchFamily="49" charset="0"/>
                        </a:rPr>
                        <a:t>Histogram</a:t>
                      </a:r>
                    </a:p>
                  </a:txBody>
                  <a:tcPr/>
                </a:tc>
                <a:tc>
                  <a:txBody>
                    <a:bodyPr/>
                    <a:lstStyle/>
                    <a:p>
                      <a:r>
                        <a:rPr lang="en-US" sz="1800" dirty="0"/>
                        <a:t>Best for showing the distribution of a single numeric column; reveals spread, skew and outliers</a:t>
                      </a:r>
                    </a:p>
                  </a:txBody>
                  <a:tcPr/>
                </a:tc>
                <a:tc>
                  <a:txBody>
                    <a:bodyPr/>
                    <a:lstStyle/>
                    <a:p>
                      <a:r>
                        <a:rPr lang="en-US" sz="1800" dirty="0" err="1">
                          <a:latin typeface="Courier New" panose="02070309020205020404" pitchFamily="49" charset="0"/>
                          <a:cs typeface="Courier New" panose="02070309020205020404" pitchFamily="49" charset="0"/>
                        </a:rPr>
                        <a:t>ax.hist</a:t>
                      </a:r>
                      <a:r>
                        <a:rPr lang="en-US" sz="1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056458437"/>
                  </a:ext>
                </a:extLst>
              </a:tr>
            </a:tbl>
          </a:graphicData>
        </a:graphic>
      </p:graphicFrame>
      <p:sp>
        <p:nvSpPr>
          <p:cNvPr id="8" name="Content Placeholder 7">
            <a:extLst>
              <a:ext uri="{FF2B5EF4-FFF2-40B4-BE49-F238E27FC236}">
                <a16:creationId xmlns:a16="http://schemas.microsoft.com/office/drawing/2014/main" id="{BD5E8FDD-491A-5A0C-0540-26327312D05B}"/>
              </a:ext>
            </a:extLst>
          </p:cNvPr>
          <p:cNvSpPr>
            <a:spLocks noGrp="1"/>
          </p:cNvSpPr>
          <p:nvPr>
            <p:ph idx="1"/>
          </p:nvPr>
        </p:nvSpPr>
        <p:spPr>
          <a:xfrm>
            <a:off x="380010" y="1383474"/>
            <a:ext cx="8383980" cy="1657018"/>
          </a:xfrm>
        </p:spPr>
        <p:txBody>
          <a:bodyPr>
            <a:normAutofit fontScale="77500" lnSpcReduction="20000"/>
          </a:bodyPr>
          <a:lstStyle/>
          <a:p>
            <a:r>
              <a:rPr lang="en-US" dirty="0"/>
              <a:t>There are near countless way to visualize your data.</a:t>
            </a:r>
          </a:p>
          <a:p>
            <a:r>
              <a:rPr lang="en-US" dirty="0"/>
              <a:t>Visualizations allow you to understand data more easily at a glance.</a:t>
            </a:r>
          </a:p>
          <a:p>
            <a:r>
              <a:rPr lang="en-US" dirty="0"/>
              <a:t>Choosing the correct visualization is important, the wrong visualization can produce incorrect assumptions and analysis.</a:t>
            </a:r>
          </a:p>
        </p:txBody>
      </p:sp>
    </p:spTree>
    <p:extLst>
      <p:ext uri="{BB962C8B-B14F-4D97-AF65-F5344CB8AC3E}">
        <p14:creationId xmlns:p14="http://schemas.microsoft.com/office/powerpoint/2010/main" val="202447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3AA7B-C117-1993-505B-CDA1CD3C92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F50A31-3313-4EC4-541A-38F706EFEC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Title 4">
            <a:extLst>
              <a:ext uri="{FF2B5EF4-FFF2-40B4-BE49-F238E27FC236}">
                <a16:creationId xmlns:a16="http://schemas.microsoft.com/office/drawing/2014/main" id="{BEAA948C-0A4D-B104-675E-43DFE76060FA}"/>
              </a:ext>
            </a:extLst>
          </p:cNvPr>
          <p:cNvSpPr>
            <a:spLocks noGrp="1"/>
          </p:cNvSpPr>
          <p:nvPr>
            <p:ph type="title"/>
          </p:nvPr>
        </p:nvSpPr>
        <p:spPr/>
        <p:txBody>
          <a:bodyPr/>
          <a:lstStyle/>
          <a:p>
            <a:r>
              <a:rPr lang="en-US" dirty="0" err="1"/>
              <a:t>MatPlotLib</a:t>
            </a:r>
            <a:r>
              <a:rPr lang="en-US" dirty="0"/>
              <a:t> – Plot Types and When to Use Them (</a:t>
            </a:r>
            <a:r>
              <a:rPr lang="en-US" dirty="0" err="1"/>
              <a:t>cont</a:t>
            </a:r>
            <a:r>
              <a:rPr lang="en-US" dirty="0"/>
              <a:t>)</a:t>
            </a:r>
          </a:p>
        </p:txBody>
      </p:sp>
      <p:pic>
        <p:nvPicPr>
          <p:cNvPr id="3" name="Picture 2">
            <a:extLst>
              <a:ext uri="{FF2B5EF4-FFF2-40B4-BE49-F238E27FC236}">
                <a16:creationId xmlns:a16="http://schemas.microsoft.com/office/drawing/2014/main" id="{4A4A67D4-3441-E9B2-80CB-752E976922EB}"/>
              </a:ext>
            </a:extLst>
          </p:cNvPr>
          <p:cNvPicPr>
            <a:picLocks noChangeAspect="1"/>
          </p:cNvPicPr>
          <p:nvPr/>
        </p:nvPicPr>
        <p:blipFill>
          <a:blip r:embed="rId2"/>
          <a:stretch>
            <a:fillRect/>
          </a:stretch>
        </p:blipFill>
        <p:spPr>
          <a:xfrm>
            <a:off x="593725" y="1338262"/>
            <a:ext cx="3477986" cy="2608490"/>
          </a:xfrm>
          <a:prstGeom prst="rect">
            <a:avLst/>
          </a:prstGeom>
        </p:spPr>
      </p:pic>
      <p:pic>
        <p:nvPicPr>
          <p:cNvPr id="8" name="Picture 7">
            <a:extLst>
              <a:ext uri="{FF2B5EF4-FFF2-40B4-BE49-F238E27FC236}">
                <a16:creationId xmlns:a16="http://schemas.microsoft.com/office/drawing/2014/main" id="{ECB2962B-CCB6-65DE-D41C-77ED0967B8E9}"/>
              </a:ext>
            </a:extLst>
          </p:cNvPr>
          <p:cNvPicPr>
            <a:picLocks noChangeAspect="1"/>
          </p:cNvPicPr>
          <p:nvPr/>
        </p:nvPicPr>
        <p:blipFill>
          <a:blip r:embed="rId3"/>
          <a:stretch>
            <a:fillRect/>
          </a:stretch>
        </p:blipFill>
        <p:spPr>
          <a:xfrm>
            <a:off x="5151749" y="1354931"/>
            <a:ext cx="3832679" cy="2874509"/>
          </a:xfrm>
          <a:prstGeom prst="rect">
            <a:avLst/>
          </a:prstGeom>
        </p:spPr>
      </p:pic>
      <p:pic>
        <p:nvPicPr>
          <p:cNvPr id="9" name="Picture 8">
            <a:extLst>
              <a:ext uri="{FF2B5EF4-FFF2-40B4-BE49-F238E27FC236}">
                <a16:creationId xmlns:a16="http://schemas.microsoft.com/office/drawing/2014/main" id="{DEBE55BB-FBA4-E3AB-8843-DCD34808AC01}"/>
              </a:ext>
            </a:extLst>
          </p:cNvPr>
          <p:cNvPicPr>
            <a:picLocks noChangeAspect="1"/>
          </p:cNvPicPr>
          <p:nvPr/>
        </p:nvPicPr>
        <p:blipFill>
          <a:blip r:embed="rId4"/>
          <a:stretch>
            <a:fillRect/>
          </a:stretch>
        </p:blipFill>
        <p:spPr>
          <a:xfrm>
            <a:off x="520247" y="4065814"/>
            <a:ext cx="3624943" cy="2718707"/>
          </a:xfrm>
          <a:prstGeom prst="rect">
            <a:avLst/>
          </a:prstGeom>
        </p:spPr>
      </p:pic>
      <p:pic>
        <p:nvPicPr>
          <p:cNvPr id="10" name="Picture 9">
            <a:extLst>
              <a:ext uri="{FF2B5EF4-FFF2-40B4-BE49-F238E27FC236}">
                <a16:creationId xmlns:a16="http://schemas.microsoft.com/office/drawing/2014/main" id="{0BAC7AD9-D873-7675-3513-439D398E5BC1}"/>
              </a:ext>
            </a:extLst>
          </p:cNvPr>
          <p:cNvPicPr>
            <a:picLocks noChangeAspect="1"/>
          </p:cNvPicPr>
          <p:nvPr/>
        </p:nvPicPr>
        <p:blipFill>
          <a:blip r:embed="rId5"/>
          <a:stretch>
            <a:fillRect/>
          </a:stretch>
        </p:blipFill>
        <p:spPr>
          <a:xfrm>
            <a:off x="5671995" y="4065814"/>
            <a:ext cx="2792186" cy="2792186"/>
          </a:xfrm>
          <a:prstGeom prst="rect">
            <a:avLst/>
          </a:prstGeom>
        </p:spPr>
      </p:pic>
    </p:spTree>
    <p:extLst>
      <p:ext uri="{BB962C8B-B14F-4D97-AF65-F5344CB8AC3E}">
        <p14:creationId xmlns:p14="http://schemas.microsoft.com/office/powerpoint/2010/main" val="327439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E3CAE-4FB0-B3B8-A514-C9F2021ECB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70C945-0E6C-63CB-E8FC-23756C4F2F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6" name="Content Placeholder 5">
            <a:extLst>
              <a:ext uri="{FF2B5EF4-FFF2-40B4-BE49-F238E27FC236}">
                <a16:creationId xmlns:a16="http://schemas.microsoft.com/office/drawing/2014/main" id="{5A4E508C-610B-8D2F-9DD7-5C8F314CB665}"/>
              </a:ext>
            </a:extLst>
          </p:cNvPr>
          <p:cNvSpPr>
            <a:spLocks noGrp="1"/>
          </p:cNvSpPr>
          <p:nvPr>
            <p:ph idx="1"/>
          </p:nvPr>
        </p:nvSpPr>
        <p:spPr>
          <a:xfrm>
            <a:off x="380010" y="1481446"/>
            <a:ext cx="8383980" cy="5247391"/>
          </a:xfrm>
        </p:spPr>
        <p:txBody>
          <a:bodyPr>
            <a:normAutofit fontScale="77500" lnSpcReduction="20000"/>
          </a:bodyPr>
          <a:lstStyle/>
          <a:p>
            <a:r>
              <a:rPr lang="en-US" dirty="0"/>
              <a:t>Good formatting transforms a rough exploratory chart into something communicable and readable</a:t>
            </a:r>
          </a:p>
          <a:p>
            <a:r>
              <a:rPr lang="en-US" dirty="0"/>
              <a:t>Titles and axis labels are the minimum required for any chart that will be shared (</a:t>
            </a:r>
            <a:r>
              <a:rPr lang="en-US" dirty="0" err="1">
                <a:latin typeface="Courier New" panose="02070309020205020404" pitchFamily="49" charset="0"/>
                <a:cs typeface="Courier New" panose="02070309020205020404" pitchFamily="49" charset="0"/>
              </a:rPr>
              <a:t>ax.set_title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ax.set_xlabel</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ax.set_ylabel</a:t>
            </a:r>
            <a:r>
              <a:rPr lang="en-US" dirty="0">
                <a:latin typeface="Courier New" panose="02070309020205020404" pitchFamily="49" charset="0"/>
                <a:cs typeface="Courier New" panose="02070309020205020404" pitchFamily="49" charset="0"/>
              </a:rPr>
              <a:t>()</a:t>
            </a:r>
            <a:r>
              <a:rPr lang="en-US" dirty="0"/>
              <a:t>)</a:t>
            </a:r>
          </a:p>
          <a:p>
            <a:r>
              <a:rPr lang="en-US" dirty="0" err="1">
                <a:latin typeface="Courier New" panose="02070309020205020404" pitchFamily="49" charset="0"/>
                <a:cs typeface="Courier New" panose="02070309020205020404" pitchFamily="49" charset="0"/>
              </a:rPr>
              <a:t>ax.legend</a:t>
            </a:r>
            <a:r>
              <a:rPr lang="en-US" dirty="0">
                <a:latin typeface="Courier New" panose="02070309020205020404" pitchFamily="49" charset="0"/>
                <a:cs typeface="Courier New" panose="02070309020205020404" pitchFamily="49" charset="0"/>
              </a:rPr>
              <a:t>()</a:t>
            </a:r>
            <a:r>
              <a:rPr lang="en-US" dirty="0"/>
              <a:t> adds a legend – essential when a chart contains multiple lines, bars or series</a:t>
            </a:r>
          </a:p>
          <a:p>
            <a:r>
              <a:rPr lang="en-US" dirty="0"/>
              <a:t>Line properties: </a:t>
            </a:r>
            <a:r>
              <a:rPr lang="en-US" dirty="0">
                <a:latin typeface="Courier New" panose="02070309020205020404" pitchFamily="49" charset="0"/>
                <a:cs typeface="Courier New" panose="02070309020205020404" pitchFamily="49" charset="0"/>
              </a:rPr>
              <a:t>color</a:t>
            </a:r>
            <a:r>
              <a:rPr lang="en-US" dirty="0"/>
              <a:t>, </a:t>
            </a:r>
            <a:r>
              <a:rPr lang="en-US" dirty="0" err="1">
                <a:latin typeface="Courier New" panose="02070309020205020404" pitchFamily="49" charset="0"/>
                <a:cs typeface="Courier New" panose="02070309020205020404" pitchFamily="49" charset="0"/>
              </a:rPr>
              <a:t>linestyle</a:t>
            </a:r>
            <a:r>
              <a:rPr lang="en-US" dirty="0"/>
              <a:t> </a:t>
            </a:r>
            <a:r>
              <a:rPr lang="en-US" dirty="0">
                <a:latin typeface="Courier New" panose="02070309020205020404" pitchFamily="49" charset="0"/>
                <a:cs typeface="Courier New" panose="02070309020205020404" pitchFamily="49" charset="0"/>
              </a:rPr>
              <a:t>(“-”, “—”, “-.”, “:”</a:t>
            </a:r>
            <a:r>
              <a:rPr lang="en-US" dirty="0"/>
              <a:t>), </a:t>
            </a:r>
            <a:r>
              <a:rPr lang="en-US" dirty="0">
                <a:latin typeface="Courier New" panose="02070309020205020404" pitchFamily="49" charset="0"/>
                <a:cs typeface="Courier New" panose="02070309020205020404" pitchFamily="49" charset="0"/>
              </a:rPr>
              <a:t>linewidth</a:t>
            </a:r>
            <a:r>
              <a:rPr lang="en-US" dirty="0"/>
              <a:t>, and </a:t>
            </a:r>
            <a:r>
              <a:rPr lang="en-US" dirty="0">
                <a:latin typeface="Courier New" panose="02070309020205020404" pitchFamily="49" charset="0"/>
                <a:cs typeface="Courier New" panose="02070309020205020404" pitchFamily="49" charset="0"/>
              </a:rPr>
              <a:t>marker</a:t>
            </a:r>
            <a:r>
              <a:rPr lang="en-US" dirty="0"/>
              <a:t> </a:t>
            </a:r>
            <a:r>
              <a:rPr lang="en-US" dirty="0">
                <a:latin typeface="Courier New" panose="02070309020205020404" pitchFamily="49" charset="0"/>
                <a:cs typeface="Courier New" panose="02070309020205020404" pitchFamily="49" charset="0"/>
              </a:rPr>
              <a:t>(“o”, “s”, “^”, “x”</a:t>
            </a:r>
            <a:r>
              <a:rPr lang="en-US" dirty="0"/>
              <a:t>)</a:t>
            </a:r>
          </a:p>
          <a:p>
            <a:r>
              <a:rPr lang="en-US" dirty="0"/>
              <a:t>Bar and Scatter properties: </a:t>
            </a:r>
            <a:r>
              <a:rPr lang="en-US" dirty="0">
                <a:latin typeface="Courier New" panose="02070309020205020404" pitchFamily="49" charset="0"/>
                <a:cs typeface="Courier New" panose="02070309020205020404" pitchFamily="49" charset="0"/>
              </a:rPr>
              <a:t>color, </a:t>
            </a:r>
            <a:r>
              <a:rPr lang="en-US" dirty="0" err="1">
                <a:latin typeface="Courier New" panose="02070309020205020404" pitchFamily="49" charset="0"/>
                <a:cs typeface="Courier New" panose="02070309020205020404" pitchFamily="49" charset="0"/>
              </a:rPr>
              <a:t>edgecolor</a:t>
            </a:r>
            <a:r>
              <a:rPr lang="en-US" dirty="0">
                <a:latin typeface="Courier New" panose="02070309020205020404" pitchFamily="49" charset="0"/>
                <a:cs typeface="Courier New" panose="02070309020205020404" pitchFamily="49" charset="0"/>
              </a:rPr>
              <a:t>, alpha</a:t>
            </a:r>
            <a:r>
              <a:rPr lang="en-US" dirty="0"/>
              <a:t> (transparency between 0-1)</a:t>
            </a:r>
          </a:p>
          <a:p>
            <a:r>
              <a:rPr lang="en-US" dirty="0" err="1">
                <a:latin typeface="Courier New" panose="02070309020205020404" pitchFamily="49" charset="0"/>
                <a:cs typeface="Courier New" panose="02070309020205020404" pitchFamily="49" charset="0"/>
              </a:rPr>
              <a:t>ax.set_xlim</a:t>
            </a:r>
            <a:r>
              <a:rPr lang="en-US" dirty="0">
                <a:latin typeface="Courier New" panose="02070309020205020404" pitchFamily="49" charset="0"/>
                <a:cs typeface="Courier New" panose="02070309020205020404" pitchFamily="49" charset="0"/>
              </a:rPr>
              <a:t>()</a:t>
            </a:r>
            <a:r>
              <a:rPr lang="en-US" dirty="0"/>
              <a:t> and </a:t>
            </a:r>
            <a:r>
              <a:rPr lang="en-US" dirty="0" err="1">
                <a:latin typeface="Courier New" panose="02070309020205020404" pitchFamily="49" charset="0"/>
                <a:cs typeface="Courier New" panose="02070309020205020404" pitchFamily="49" charset="0"/>
              </a:rPr>
              <a:t>ax.set_ylim</a:t>
            </a:r>
            <a:r>
              <a:rPr lang="en-US" dirty="0">
                <a:latin typeface="Courier New" panose="02070309020205020404" pitchFamily="49" charset="0"/>
                <a:cs typeface="Courier New" panose="02070309020205020404" pitchFamily="49" charset="0"/>
              </a:rPr>
              <a:t>()</a:t>
            </a:r>
            <a:r>
              <a:rPr lang="en-US" dirty="0"/>
              <a:t> control the visible range of each axis</a:t>
            </a:r>
          </a:p>
          <a:p>
            <a:r>
              <a:rPr lang="en-US" dirty="0" err="1">
                <a:latin typeface="Courier New" panose="02070309020205020404" pitchFamily="49" charset="0"/>
                <a:cs typeface="Courier New" panose="02070309020205020404" pitchFamily="49" charset="0"/>
              </a:rPr>
              <a:t>ax.tick_params</a:t>
            </a:r>
            <a:r>
              <a:rPr lang="en-US" dirty="0">
                <a:latin typeface="Courier New" panose="02070309020205020404" pitchFamily="49" charset="0"/>
                <a:cs typeface="Courier New" panose="02070309020205020404" pitchFamily="49" charset="0"/>
              </a:rPr>
              <a:t>()</a:t>
            </a:r>
            <a:r>
              <a:rPr lang="en-US" dirty="0"/>
              <a:t> and </a:t>
            </a:r>
            <a:r>
              <a:rPr lang="en-US" dirty="0" err="1">
                <a:latin typeface="Courier New" panose="02070309020205020404" pitchFamily="49" charset="0"/>
                <a:cs typeface="Courier New" panose="02070309020205020404" pitchFamily="49" charset="0"/>
              </a:rPr>
              <a:t>plt.xticks</a:t>
            </a:r>
            <a:r>
              <a:rPr lang="en-US" dirty="0">
                <a:latin typeface="Courier New" panose="02070309020205020404" pitchFamily="49" charset="0"/>
                <a:cs typeface="Courier New" panose="02070309020205020404" pitchFamily="49" charset="0"/>
              </a:rPr>
              <a:t>(rotation=45)</a:t>
            </a:r>
            <a:r>
              <a:rPr lang="en-US" dirty="0"/>
              <a:t>, control tick label formatting</a:t>
            </a:r>
          </a:p>
          <a:p>
            <a:r>
              <a:rPr lang="en-US" dirty="0" err="1">
                <a:latin typeface="Courier New" panose="02070309020205020404" pitchFamily="49" charset="0"/>
                <a:cs typeface="Courier New" panose="02070309020205020404" pitchFamily="49" charset="0"/>
              </a:rPr>
              <a:t>plt.tight_layout</a:t>
            </a:r>
            <a:r>
              <a:rPr lang="en-US" dirty="0">
                <a:latin typeface="Courier New" panose="02070309020205020404" pitchFamily="49" charset="0"/>
                <a:cs typeface="Courier New" panose="02070309020205020404" pitchFamily="49" charset="0"/>
              </a:rPr>
              <a:t>()</a:t>
            </a:r>
            <a:r>
              <a:rPr lang="en-US" dirty="0"/>
              <a:t> automatically adjusts spacing to prevent labels and titles from being clipped</a:t>
            </a:r>
          </a:p>
          <a:p>
            <a:endParaRPr lang="en-US" dirty="0"/>
          </a:p>
        </p:txBody>
      </p:sp>
      <p:sp>
        <p:nvSpPr>
          <p:cNvPr id="5" name="Title 4">
            <a:extLst>
              <a:ext uri="{FF2B5EF4-FFF2-40B4-BE49-F238E27FC236}">
                <a16:creationId xmlns:a16="http://schemas.microsoft.com/office/drawing/2014/main" id="{FE10307D-15D8-F482-0B9D-FBDDDCD9E036}"/>
              </a:ext>
            </a:extLst>
          </p:cNvPr>
          <p:cNvSpPr>
            <a:spLocks noGrp="1"/>
          </p:cNvSpPr>
          <p:nvPr>
            <p:ph type="title"/>
          </p:nvPr>
        </p:nvSpPr>
        <p:spPr/>
        <p:txBody>
          <a:bodyPr/>
          <a:lstStyle/>
          <a:p>
            <a:r>
              <a:rPr lang="en-US" dirty="0" err="1"/>
              <a:t>MatPlotLib</a:t>
            </a:r>
            <a:r>
              <a:rPr lang="en-US" dirty="0"/>
              <a:t> – Formatting and Labelling</a:t>
            </a:r>
          </a:p>
        </p:txBody>
      </p:sp>
    </p:spTree>
    <p:extLst>
      <p:ext uri="{BB962C8B-B14F-4D97-AF65-F5344CB8AC3E}">
        <p14:creationId xmlns:p14="http://schemas.microsoft.com/office/powerpoint/2010/main" val="354929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428E-CB66-EFA0-8931-3AE2C6C576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A463B8-389E-B545-AA71-DFBEA66CFB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6" name="Content Placeholder 5">
            <a:extLst>
              <a:ext uri="{FF2B5EF4-FFF2-40B4-BE49-F238E27FC236}">
                <a16:creationId xmlns:a16="http://schemas.microsoft.com/office/drawing/2014/main" id="{53EC6227-C42E-CA8D-839F-6E07306A275D}"/>
              </a:ext>
            </a:extLst>
          </p:cNvPr>
          <p:cNvSpPr>
            <a:spLocks noGrp="1"/>
          </p:cNvSpPr>
          <p:nvPr>
            <p:ph idx="1"/>
          </p:nvPr>
        </p:nvSpPr>
        <p:spPr>
          <a:xfrm>
            <a:off x="380010" y="1481446"/>
            <a:ext cx="8383980" cy="5247391"/>
          </a:xfrm>
        </p:spPr>
        <p:txBody>
          <a:bodyPr>
            <a:normAutofit fontScale="85000" lnSpcReduction="20000"/>
          </a:bodyPr>
          <a:lstStyle/>
          <a:p>
            <a:r>
              <a:rPr lang="en-US" dirty="0"/>
              <a:t>Subplots are the standard pattern for presenting related charts together, a common output when summarizing processed pandas data.</a:t>
            </a:r>
          </a:p>
          <a:p>
            <a:r>
              <a:rPr lang="en-US" dirty="0" err="1">
                <a:latin typeface="Courier New" panose="02070309020205020404" pitchFamily="49" charset="0"/>
                <a:cs typeface="Courier New" panose="02070309020205020404" pitchFamily="49" charset="0"/>
              </a:rPr>
              <a:t>plt.subplots</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nrows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ncols</a:t>
            </a:r>
            <a:r>
              <a:rPr lang="en-US" dirty="0">
                <a:latin typeface="Courier New" panose="02070309020205020404" pitchFamily="49" charset="0"/>
                <a:cs typeface="Courier New" panose="02070309020205020404" pitchFamily="49" charset="0"/>
              </a:rPr>
              <a:t>)</a:t>
            </a:r>
            <a:r>
              <a:rPr lang="en-US" dirty="0"/>
              <a:t> creates a Figure with multiple Axes arranged in a grid. This returns a fig and an array of ax objects</a:t>
            </a:r>
          </a:p>
          <a:p>
            <a:r>
              <a:rPr lang="en-US" dirty="0"/>
              <a:t>Each ax in the array is an independent plot area, formatted and populated individually</a:t>
            </a:r>
          </a:p>
          <a:p>
            <a:r>
              <a:rPr lang="en-US" dirty="0" err="1">
                <a:latin typeface="Courier New" panose="02070309020205020404" pitchFamily="49" charset="0"/>
                <a:cs typeface="Courier New" panose="02070309020205020404" pitchFamily="49" charset="0"/>
              </a:rPr>
              <a:t>figsize</a:t>
            </a:r>
            <a:r>
              <a:rPr lang="en-US" dirty="0"/>
              <a:t> on </a:t>
            </a:r>
            <a:r>
              <a:rPr lang="en-US" dirty="0" err="1">
                <a:latin typeface="Courier New" panose="02070309020205020404" pitchFamily="49" charset="0"/>
                <a:cs typeface="Courier New" panose="02070309020205020404" pitchFamily="49" charset="0"/>
              </a:rPr>
              <a:t>plt.subplots</a:t>
            </a:r>
            <a:r>
              <a:rPr lang="en-US" dirty="0">
                <a:latin typeface="Courier New" panose="02070309020205020404" pitchFamily="49" charset="0"/>
                <a:cs typeface="Courier New" panose="02070309020205020404" pitchFamily="49" charset="0"/>
              </a:rPr>
              <a:t>()</a:t>
            </a:r>
            <a:r>
              <a:rPr lang="en-US" dirty="0"/>
              <a:t> controls the size of the entire Figure, not individual panels</a:t>
            </a:r>
          </a:p>
          <a:p>
            <a:r>
              <a:rPr lang="en-US" dirty="0" err="1">
                <a:latin typeface="Courier New" panose="02070309020205020404" pitchFamily="49" charset="0"/>
                <a:cs typeface="Courier New" panose="02070309020205020404" pitchFamily="49" charset="0"/>
              </a:rPr>
              <a:t>ax.flatten</a:t>
            </a:r>
            <a:r>
              <a:rPr lang="en-US" dirty="0">
                <a:latin typeface="Courier New" panose="02070309020205020404" pitchFamily="49" charset="0"/>
                <a:cs typeface="Courier New" panose="02070309020205020404" pitchFamily="49" charset="0"/>
              </a:rPr>
              <a:t>()</a:t>
            </a:r>
            <a:r>
              <a:rPr lang="en-US" dirty="0"/>
              <a:t> converts a 2D array of axes into a 1D array. This simplifies iteration when creation many subplots</a:t>
            </a:r>
          </a:p>
          <a:p>
            <a:r>
              <a:rPr lang="en-US" dirty="0" err="1">
                <a:latin typeface="Courier New" panose="02070309020205020404" pitchFamily="49" charset="0"/>
                <a:cs typeface="Courier New" panose="02070309020205020404" pitchFamily="49" charset="0"/>
              </a:rPr>
              <a:t>fig.suptitle</a:t>
            </a:r>
            <a:r>
              <a:rPr lang="en-US" dirty="0"/>
              <a:t> adds a title to the overall Figure, distinct from individual subplot titles set with </a:t>
            </a:r>
            <a:r>
              <a:rPr lang="en-US" dirty="0" err="1">
                <a:latin typeface="Courier New" panose="02070309020205020404" pitchFamily="49" charset="0"/>
                <a:cs typeface="Courier New" panose="02070309020205020404" pitchFamily="49" charset="0"/>
              </a:rPr>
              <a:t>ax.set_title</a:t>
            </a:r>
            <a:r>
              <a:rPr lang="en-US" dirty="0">
                <a:latin typeface="Courier New" panose="02070309020205020404" pitchFamily="49" charset="0"/>
                <a:cs typeface="Courier New" panose="02070309020205020404" pitchFamily="49" charset="0"/>
              </a:rPr>
              <a:t>()</a:t>
            </a:r>
          </a:p>
          <a:p>
            <a:endParaRPr lang="en-US" dirty="0"/>
          </a:p>
        </p:txBody>
      </p:sp>
      <p:sp>
        <p:nvSpPr>
          <p:cNvPr id="5" name="Title 4">
            <a:extLst>
              <a:ext uri="{FF2B5EF4-FFF2-40B4-BE49-F238E27FC236}">
                <a16:creationId xmlns:a16="http://schemas.microsoft.com/office/drawing/2014/main" id="{9F9478CB-2A71-B5F5-01D8-EAEDB9432B64}"/>
              </a:ext>
            </a:extLst>
          </p:cNvPr>
          <p:cNvSpPr>
            <a:spLocks noGrp="1"/>
          </p:cNvSpPr>
          <p:nvPr>
            <p:ph type="title"/>
          </p:nvPr>
        </p:nvSpPr>
        <p:spPr/>
        <p:txBody>
          <a:bodyPr/>
          <a:lstStyle/>
          <a:p>
            <a:r>
              <a:rPr lang="en-US" dirty="0" err="1"/>
              <a:t>MatPlotLib</a:t>
            </a:r>
            <a:r>
              <a:rPr lang="en-US" dirty="0"/>
              <a:t> – Subplots &amp; Plotting from pandas</a:t>
            </a:r>
          </a:p>
        </p:txBody>
      </p:sp>
    </p:spTree>
    <p:extLst>
      <p:ext uri="{BB962C8B-B14F-4D97-AF65-F5344CB8AC3E}">
        <p14:creationId xmlns:p14="http://schemas.microsoft.com/office/powerpoint/2010/main" val="372758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562CE-4E64-1B02-319C-1CF8E23879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9F156B-30B5-9382-3E30-D2827E27D4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6" name="Content Placeholder 5">
            <a:extLst>
              <a:ext uri="{FF2B5EF4-FFF2-40B4-BE49-F238E27FC236}">
                <a16:creationId xmlns:a16="http://schemas.microsoft.com/office/drawing/2014/main" id="{46A7C35F-7C1B-349D-39DB-E37DD4237BCD}"/>
              </a:ext>
            </a:extLst>
          </p:cNvPr>
          <p:cNvSpPr>
            <a:spLocks noGrp="1"/>
          </p:cNvSpPr>
          <p:nvPr>
            <p:ph idx="1"/>
          </p:nvPr>
        </p:nvSpPr>
        <p:spPr>
          <a:xfrm>
            <a:off x="380010" y="1481446"/>
            <a:ext cx="8383980" cy="5247391"/>
          </a:xfrm>
        </p:spPr>
        <p:txBody>
          <a:bodyPr>
            <a:normAutofit/>
          </a:bodyPr>
          <a:lstStyle/>
          <a:p>
            <a:r>
              <a:rPr lang="en-US" dirty="0"/>
              <a:t>Pandas </a:t>
            </a:r>
            <a:r>
              <a:rPr lang="en-US" dirty="0">
                <a:latin typeface="Courier New" panose="02070309020205020404" pitchFamily="49" charset="0"/>
                <a:cs typeface="Courier New" panose="02070309020205020404" pitchFamily="49" charset="0"/>
              </a:rPr>
              <a:t>.plot()</a:t>
            </a:r>
            <a:r>
              <a:rPr lang="en-US" dirty="0"/>
              <a:t> accepts an ax parameter, passing an existing axes object tells pandas exactly where to draw the chart</a:t>
            </a:r>
          </a:p>
          <a:p>
            <a:r>
              <a:rPr lang="en-US" dirty="0"/>
              <a:t>The ax object returned by </a:t>
            </a:r>
            <a:r>
              <a:rPr lang="en-US" dirty="0" err="1">
                <a:latin typeface="Courier New" panose="02070309020205020404" pitchFamily="49" charset="0"/>
                <a:cs typeface="Courier New" panose="02070309020205020404" pitchFamily="49" charset="0"/>
              </a:rPr>
              <a:t>pandas.plot</a:t>
            </a:r>
            <a:r>
              <a:rPr lang="en-US" dirty="0">
                <a:latin typeface="Courier New" panose="02070309020205020404" pitchFamily="49" charset="0"/>
                <a:cs typeface="Courier New" panose="02070309020205020404" pitchFamily="49" charset="0"/>
              </a:rPr>
              <a:t>()</a:t>
            </a:r>
            <a:r>
              <a:rPr lang="en-US" dirty="0"/>
              <a:t> is a standard matplotlib Axes – all Matplotlib formatting methods apply directly to it</a:t>
            </a:r>
          </a:p>
          <a:p>
            <a:r>
              <a:rPr lang="en-US" dirty="0" err="1">
                <a:latin typeface="Courier New" panose="02070309020205020404" pitchFamily="49" charset="0"/>
                <a:cs typeface="Courier New" panose="02070309020205020404" pitchFamily="49" charset="0"/>
              </a:rPr>
              <a:t>plt.subplots_adjust</a:t>
            </a:r>
            <a:r>
              <a:rPr lang="en-US" dirty="0">
                <a:latin typeface="Courier New" panose="02070309020205020404" pitchFamily="49" charset="0"/>
                <a:cs typeface="Courier New" panose="02070309020205020404" pitchFamily="49" charset="0"/>
              </a:rPr>
              <a:t>()</a:t>
            </a:r>
            <a:r>
              <a:rPr lang="en-US" dirty="0"/>
              <a:t> gives manual control over spacing between subplots when </a:t>
            </a:r>
            <a:r>
              <a:rPr lang="en-US" dirty="0" err="1">
                <a:latin typeface="Courier New" panose="02070309020205020404" pitchFamily="49" charset="0"/>
                <a:cs typeface="Courier New" panose="02070309020205020404" pitchFamily="49" charset="0"/>
              </a:rPr>
              <a:t>tight_layout</a:t>
            </a:r>
            <a:r>
              <a:rPr lang="en-US" dirty="0">
                <a:latin typeface="Courier New" panose="02070309020205020404" pitchFamily="49" charset="0"/>
                <a:cs typeface="Courier New" panose="02070309020205020404" pitchFamily="49" charset="0"/>
              </a:rPr>
              <a:t>()</a:t>
            </a:r>
            <a:r>
              <a:rPr lang="en-US" dirty="0"/>
              <a:t> is not sufficient</a:t>
            </a:r>
          </a:p>
          <a:p>
            <a:endParaRPr lang="en-US" dirty="0"/>
          </a:p>
        </p:txBody>
      </p:sp>
      <p:sp>
        <p:nvSpPr>
          <p:cNvPr id="5" name="Title 4">
            <a:extLst>
              <a:ext uri="{FF2B5EF4-FFF2-40B4-BE49-F238E27FC236}">
                <a16:creationId xmlns:a16="http://schemas.microsoft.com/office/drawing/2014/main" id="{290F5590-68FF-FCD7-F223-F121F219A829}"/>
              </a:ext>
            </a:extLst>
          </p:cNvPr>
          <p:cNvSpPr>
            <a:spLocks noGrp="1"/>
          </p:cNvSpPr>
          <p:nvPr>
            <p:ph type="title"/>
          </p:nvPr>
        </p:nvSpPr>
        <p:spPr/>
        <p:txBody>
          <a:bodyPr/>
          <a:lstStyle/>
          <a:p>
            <a:r>
              <a:rPr lang="en-US" dirty="0" err="1"/>
              <a:t>MatPlotLib</a:t>
            </a:r>
            <a:r>
              <a:rPr lang="en-US" dirty="0"/>
              <a:t> – Subplots &amp; Plotting from pandas</a:t>
            </a:r>
          </a:p>
        </p:txBody>
      </p:sp>
    </p:spTree>
    <p:extLst>
      <p:ext uri="{BB962C8B-B14F-4D97-AF65-F5344CB8AC3E}">
        <p14:creationId xmlns:p14="http://schemas.microsoft.com/office/powerpoint/2010/main" val="375511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40FB2-7E07-A422-6675-8E03A27BD4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7980C8-1A8E-E918-ABDE-2AD54BC30B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6" name="Content Placeholder 5">
            <a:extLst>
              <a:ext uri="{FF2B5EF4-FFF2-40B4-BE49-F238E27FC236}">
                <a16:creationId xmlns:a16="http://schemas.microsoft.com/office/drawing/2014/main" id="{6839CE49-FA59-68E2-4C4D-51D3C77176FB}"/>
              </a:ext>
            </a:extLst>
          </p:cNvPr>
          <p:cNvSpPr>
            <a:spLocks noGrp="1"/>
          </p:cNvSpPr>
          <p:nvPr>
            <p:ph idx="1"/>
          </p:nvPr>
        </p:nvSpPr>
        <p:spPr/>
        <p:txBody>
          <a:bodyPr>
            <a:normAutofit/>
          </a:bodyPr>
          <a:lstStyle/>
          <a:p>
            <a:endParaRPr lang="en-US" dirty="0"/>
          </a:p>
        </p:txBody>
      </p:sp>
      <p:sp>
        <p:nvSpPr>
          <p:cNvPr id="5" name="Title 4">
            <a:extLst>
              <a:ext uri="{FF2B5EF4-FFF2-40B4-BE49-F238E27FC236}">
                <a16:creationId xmlns:a16="http://schemas.microsoft.com/office/drawing/2014/main" id="{E8F8DAE7-29F8-96AF-A0E4-6826D48773A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23113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19446</TotalTime>
  <Words>3596</Words>
  <Application>Microsoft Office PowerPoint</Application>
  <PresentationFormat>On-screen Show (4:3)</PresentationFormat>
  <Paragraphs>343</Paragraphs>
  <Slides>30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Courier New</vt:lpstr>
      <vt:lpstr>2_Custom Design</vt:lpstr>
      <vt:lpstr>Using Python with Data</vt:lpstr>
      <vt:lpstr>Outline</vt:lpstr>
      <vt:lpstr>PowerPoint Presentation</vt:lpstr>
      <vt:lpstr>NumPy</vt:lpstr>
      <vt:lpstr>Common NumPy Methods – Array Creation</vt:lpstr>
      <vt:lpstr>Common NumPy Methods – Array Properties &amp; Manipulation</vt:lpstr>
      <vt:lpstr>Common NumPy Methods - Statistics</vt:lpstr>
      <vt:lpstr>PowerPoint Presentation</vt:lpstr>
      <vt:lpstr>Pandas – Intro</vt:lpstr>
      <vt:lpstr>Pandas – DataFrames &amp; Series</vt:lpstr>
      <vt:lpstr>Pandas – DataFrames &amp; Series</vt:lpstr>
      <vt:lpstr>Pandas – Reading &amp; Writing CSV</vt:lpstr>
      <vt:lpstr>Pandas – Reading &amp; Writing CSV (cont)</vt:lpstr>
      <vt:lpstr>Pandas – Reading &amp; Writing JSON</vt:lpstr>
      <vt:lpstr>Pandas – Reading &amp; Writing JSON (cont)</vt:lpstr>
      <vt:lpstr>Pandas – Reading and Writing Parquet Files</vt:lpstr>
      <vt:lpstr>Pandas – Summary Statistics &amp; Exploration</vt:lpstr>
      <vt:lpstr>Pandas – Cleaning &amp; Preparing Data</vt:lpstr>
      <vt:lpstr>Pandas – Manipulating Text</vt:lpstr>
      <vt:lpstr>Pandas – Reshaping Data</vt:lpstr>
      <vt:lpstr>Pandas – Combining Data from Multiple Sources</vt:lpstr>
      <vt:lpstr>Pandas – Time Series Data</vt:lpstr>
      <vt:lpstr>PowerPoint Presentation</vt:lpstr>
      <vt:lpstr>MatPlotLib - Intro</vt:lpstr>
      <vt:lpstr>MatPlotLib – Plot Types &amp; When to Use Them</vt:lpstr>
      <vt:lpstr>MatPlotLib – Plot Types and When to Use Them (cont)</vt:lpstr>
      <vt:lpstr>MatPlotLib – Formatting and Labelling</vt:lpstr>
      <vt:lpstr>MatPlotLib – Subplots &amp; Plotting from pandas</vt:lpstr>
      <vt:lpstr>MatPlotLib – Subplots &amp; Plotting from pandas</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41</cp:revision>
  <cp:lastPrinted>2016-06-20T20:58:50Z</cp:lastPrinted>
  <dcterms:created xsi:type="dcterms:W3CDTF">2016-11-09T18:19:08Z</dcterms:created>
  <dcterms:modified xsi:type="dcterms:W3CDTF">2026-06-16T19:12:44Z</dcterms:modified>
</cp:coreProperties>
</file>