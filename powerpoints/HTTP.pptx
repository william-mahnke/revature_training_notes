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60" r:id="rId4"/>
    <p:sldId id="270" r:id="rId5"/>
    <p:sldId id="274" r:id="rId6"/>
    <p:sldId id="259" r:id="rId7"/>
    <p:sldId id="359" r:id="rId8"/>
    <p:sldId id="271" r:id="rId9"/>
    <p:sldId id="263" r:id="rId10"/>
    <p:sldId id="358" r:id="rId11"/>
    <p:sldId id="260" r:id="rId12"/>
    <p:sldId id="272" r:id="rId13"/>
    <p:sldId id="261" r:id="rId14"/>
    <p:sldId id="277" r:id="rId15"/>
    <p:sldId id="357" r:id="rId16"/>
    <p:sldId id="278" r:id="rId17"/>
    <p:sldId id="276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47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872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943E-A361-4BEF-8B49-046E502FA2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427350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Web App Communication</a:t>
            </a:r>
          </a:p>
          <a:p>
            <a:r>
              <a:rPr lang="en-US" dirty="0"/>
              <a:t>HTTP Intro</a:t>
            </a:r>
          </a:p>
          <a:p>
            <a:r>
              <a:rPr lang="en-US" dirty="0"/>
              <a:t>HTTP Methods</a:t>
            </a:r>
          </a:p>
          <a:p>
            <a:r>
              <a:rPr lang="en-US" dirty="0"/>
              <a:t>HTTP Status Codes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91D5A-0093-EDE8-F77A-513D3E6A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52CDFF-8FA0-BBE6-E276-D01F571499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D2D52BE-D079-C50A-1A72-460E4E003B8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Web App Communication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9FBE2-0518-3FBA-21C9-7F57B994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2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3F0195-44DD-4F67-887B-8D65D7F4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Client-Server-Database Architecture</a:t>
            </a:r>
          </a:p>
        </p:txBody>
      </p:sp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08D9CB31-2FB7-467E-BB6F-EE780E9E5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06" y="1219200"/>
            <a:ext cx="6969188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0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DAD86-3470-4F5D-98DB-2BE4DF41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Client-Server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A584CB-6F0D-4C74-B535-D14AE624C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2 tier architecture</a:t>
            </a:r>
            <a:r>
              <a:rPr lang="en-US" dirty="0"/>
              <a:t> – </a:t>
            </a:r>
          </a:p>
          <a:p>
            <a:pPr lvl="1"/>
            <a:r>
              <a:rPr lang="en-US" dirty="0"/>
              <a:t>UI on client machine</a:t>
            </a:r>
          </a:p>
          <a:p>
            <a:pPr lvl="1"/>
            <a:r>
              <a:rPr lang="en-US" dirty="0"/>
              <a:t>the database stored on the server</a:t>
            </a:r>
          </a:p>
          <a:p>
            <a:pPr lvl="2"/>
            <a:r>
              <a:rPr lang="en-US" i="1" dirty="0"/>
              <a:t>fat client thin server architecture</a:t>
            </a:r>
          </a:p>
          <a:p>
            <a:pPr lvl="2"/>
            <a:r>
              <a:rPr lang="en-US" i="1" dirty="0"/>
              <a:t>thin client fat server architecture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limitations in performance, security, and portability.</a:t>
            </a:r>
          </a:p>
          <a:p>
            <a:r>
              <a:rPr lang="en-US" b="1" dirty="0"/>
              <a:t>3 tier architecture</a:t>
            </a:r>
            <a:r>
              <a:rPr lang="en-US" dirty="0"/>
              <a:t> – </a:t>
            </a:r>
          </a:p>
          <a:p>
            <a:pPr lvl="1"/>
            <a:r>
              <a:rPr lang="en-US" dirty="0"/>
              <a:t>presentation tier, </a:t>
            </a:r>
          </a:p>
          <a:p>
            <a:pPr lvl="1"/>
            <a:r>
              <a:rPr lang="en-US" dirty="0"/>
              <a:t>application tier, and </a:t>
            </a:r>
          </a:p>
          <a:p>
            <a:pPr lvl="1"/>
            <a:r>
              <a:rPr lang="en-US" dirty="0"/>
              <a:t>data tier</a:t>
            </a:r>
          </a:p>
          <a:p>
            <a:r>
              <a:rPr lang="en-US" b="1" dirty="0"/>
              <a:t>n-tier architecture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multiple Business Logic &amp; Data Logic layers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E19324-0F62-4653-AD52-5DA5A593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2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E0C7-C4CB-480B-A65C-1DA753DC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Internet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9FDE-5698-442E-9415-1CE6DAA6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Browsers and servers generally do not keep open connections to each other.</a:t>
            </a:r>
          </a:p>
          <a:p>
            <a:pPr lvl="1"/>
            <a:r>
              <a:rPr lang="en-US" dirty="0"/>
              <a:t>Browser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Request  </a:t>
            </a:r>
            <a:r>
              <a:rPr lang="en-US" dirty="0">
                <a:sym typeface="Wingdings" panose="05000000000000000000" pitchFamily="2" charset="2"/>
              </a:rPr>
              <a:t>  Server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Browser    Response    Server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Connection is closed</a:t>
            </a:r>
          </a:p>
          <a:p>
            <a:r>
              <a:rPr lang="en-US" dirty="0">
                <a:sym typeface="Wingdings" panose="05000000000000000000" pitchFamily="2" charset="2"/>
              </a:rPr>
              <a:t>HTTP is a protocol. It defines how communication happens.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Other protocols: FTP, SMTP, HTTPS, Telnet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Browser sends HTTP request to URL.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HTTP request arrives at server.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Server finds requested resource (page, file, or program). Server may forward request to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Server returns requested resource in HTTP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Browser renders (draws) response to screen, or downloads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07AC5-F15C-44CC-A6D7-F57DE9A9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2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6EA4-DA79-BB47-5AED-754B3021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3A9DD6-B5B9-3BE9-4DF5-E51BC9286C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6BA64C1-AE9C-3B9C-7058-84D57A26769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HTTP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706B7-FB95-C2FB-1BC7-B34FE429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1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B68B-6801-4A3C-83B7-008BD4929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Requests are composed of: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Verb </a:t>
            </a:r>
          </a:p>
          <a:p>
            <a:pPr marL="857250" lvl="2" indent="0">
              <a:buNone/>
            </a:pPr>
            <a:r>
              <a:rPr lang="en-US" dirty="0"/>
              <a:t>Indicates the executing HTTP method.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URI </a:t>
            </a:r>
          </a:p>
          <a:p>
            <a:pPr lvl="2" indent="-285750"/>
            <a:r>
              <a:rPr lang="en-US" dirty="0"/>
              <a:t>Specifies the endpoint where resource is located.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HTTP Version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Request Header </a:t>
            </a:r>
          </a:p>
          <a:p>
            <a:pPr lvl="2" indent="-285750"/>
            <a:r>
              <a:rPr lang="en-US" dirty="0"/>
              <a:t>META-DATA (information) of the Request as key-value pairs such as: format supported by client, browser type,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Request Body </a:t>
            </a:r>
          </a:p>
          <a:p>
            <a:pPr lvl="2" indent="-285750"/>
            <a:r>
              <a:rPr lang="en-US" dirty="0"/>
              <a:t>Message content or resource representation.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9868-3CC7-417F-9B1B-89B236C8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A883C-F233-8A55-4996-10F958C3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/>
          <a:lstStyle/>
          <a:p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64545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7B7F-27F1-417B-A9AF-3B601410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HTTP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71418-CB55-4A74-9B27-7741EF970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1258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HTTP Requests have a head (filled with “headers”) and a body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www.test101.com/doc/test.html?bookId=12345&amp;author</a:t>
            </a:r>
            <a:r>
              <a:rPr lang="en-US" sz="1700" dirty="0"/>
              <a:t>=Tan+Ah+Teck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Request Line: method, path, protocol</a:t>
            </a:r>
          </a:p>
          <a:p>
            <a:r>
              <a:rPr lang="en-US" dirty="0"/>
              <a:t>“Accept” headers: What types of data can be in the response. Restrictive. No match: no response/404.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3CD85-D0CA-4E98-81EF-CEBD9220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6" name="Picture 2" descr="Image result for HTTP request">
            <a:extLst>
              <a:ext uri="{FF2B5EF4-FFF2-40B4-BE49-F238E27FC236}">
                <a16:creationId xmlns:a16="http://schemas.microsoft.com/office/drawing/2014/main" id="{08F600C9-1D5B-43CD-BF31-18AFC2FFF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55" y="2701005"/>
            <a:ext cx="7036090" cy="237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0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194A-1488-EE72-B02F-CA88D8D0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51DC3-58B4-0ABC-D2A2-211FB8CD0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A5AF06F-575C-23E8-C244-6A4BD70D48D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 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5B51D-0E8D-CA20-4891-72E2AB50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73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B575-EFE2-4897-B81A-45EB7D68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Verbs/Methods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69B17-BC32-412E-AF30-724D7450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HTTP request verbs or methods indicate the action that a client hopes to perform.</a:t>
            </a:r>
          </a:p>
          <a:p>
            <a:r>
              <a:rPr lang="en-US" dirty="0"/>
              <a:t>Characteristics of requests: (Basically a request either is or isn't each of these)</a:t>
            </a:r>
          </a:p>
          <a:p>
            <a:pPr lvl="1"/>
            <a:r>
              <a:rPr lang="en-US" dirty="0"/>
              <a:t>idempotent </a:t>
            </a:r>
          </a:p>
          <a:p>
            <a:pPr lvl="2"/>
            <a:r>
              <a:rPr lang="en-US" dirty="0"/>
              <a:t>"identical request can be made once or several times in a row with the same effect while leaving the server in the same state"- MDN</a:t>
            </a:r>
          </a:p>
          <a:p>
            <a:pPr lvl="1"/>
            <a:r>
              <a:rPr lang="en-US" dirty="0"/>
              <a:t>safe </a:t>
            </a:r>
          </a:p>
          <a:p>
            <a:pPr lvl="2"/>
            <a:r>
              <a:rPr lang="en-US" dirty="0"/>
              <a:t>doesn't alter server's state</a:t>
            </a:r>
          </a:p>
          <a:p>
            <a:pPr lvl="2"/>
            <a:r>
              <a:rPr lang="en-US" dirty="0"/>
              <a:t>read-only</a:t>
            </a:r>
          </a:p>
          <a:p>
            <a:pPr lvl="1"/>
            <a:r>
              <a:rPr lang="en-US" dirty="0"/>
              <a:t>cacheable </a:t>
            </a:r>
          </a:p>
          <a:p>
            <a:pPr lvl="2"/>
            <a:r>
              <a:rPr lang="en-US" dirty="0"/>
              <a:t>Determines if there is a chance the response to the corresponding method can be cached</a:t>
            </a:r>
          </a:p>
          <a:p>
            <a:pPr lvl="1"/>
            <a:r>
              <a:rPr lang="en-US" dirty="0"/>
              <a:t>allowed in html forms</a:t>
            </a:r>
          </a:p>
          <a:p>
            <a:pPr lvl="1"/>
            <a:r>
              <a:rPr lang="en-US" dirty="0"/>
              <a:t>request has a body</a:t>
            </a:r>
          </a:p>
          <a:p>
            <a:r>
              <a:rPr lang="en-US" dirty="0"/>
              <a:t>GET, POST, PUT, PATCH, DELETE, OPTION, TRACE, HEAD etc</a:t>
            </a:r>
          </a:p>
          <a:p>
            <a:pPr lvl="1"/>
            <a:r>
              <a:rPr lang="en-US" dirty="0"/>
              <a:t>Also called “HTTP methods”.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98E6D-C9FE-4B3A-9A89-86441B20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1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BA98-71C7-41C6-B57E-05F8CF7C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E8550-5F78-4221-B453-530556A34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“retrieve” data from the server</a:t>
            </a:r>
          </a:p>
          <a:p>
            <a:r>
              <a:rPr lang="en-US" dirty="0"/>
              <a:t>Parameters will be included in the URL after ‘?’</a:t>
            </a:r>
          </a:p>
          <a:p>
            <a:r>
              <a:rPr lang="en-US" dirty="0"/>
              <a:t>Whenever an HTTP request is generated from typing a URL into an address bar, or clicking a link, it’s a GET request.</a:t>
            </a:r>
          </a:p>
          <a:p>
            <a:r>
              <a:rPr lang="en-US" dirty="0"/>
              <a:t>URLs typically have a character limit depending on browser and server settings. Generally &lt; 2000 characters is safe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16BDA-8826-4B86-AA71-1C746E02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8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FFC3-0255-47C5-ADF1-8A2DF339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7DC9-AD33-4B10-85FC-09824E13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requests:</a:t>
            </a:r>
          </a:p>
          <a:p>
            <a:pPr lvl="1"/>
            <a:r>
              <a:rPr lang="en-US" dirty="0"/>
              <a:t>Used to send data to a server</a:t>
            </a:r>
          </a:p>
          <a:p>
            <a:pPr lvl="1"/>
            <a:r>
              <a:rPr lang="en-US" dirty="0"/>
              <a:t>Parameters are only in the “body” of the request, do not appear in URL</a:t>
            </a:r>
          </a:p>
          <a:p>
            <a:pPr lvl="1"/>
            <a:r>
              <a:rPr lang="en-US" dirty="0"/>
              <a:t>Data is sent as key-value pairs</a:t>
            </a:r>
          </a:p>
          <a:p>
            <a:pPr lvl="1"/>
            <a:r>
              <a:rPr lang="en-US" dirty="0"/>
              <a:t>HTTP POST requests typically have a maximum size depending on the server configuration (~2-10 MB)</a:t>
            </a:r>
          </a:p>
          <a:p>
            <a:pPr lvl="2"/>
            <a:r>
              <a:rPr lang="en-US" dirty="0"/>
              <a:t>What if I need to send a bigger file?</a:t>
            </a:r>
          </a:p>
          <a:p>
            <a:pPr lvl="2"/>
            <a:r>
              <a:rPr lang="en-US" dirty="0"/>
              <a:t>Multipart POST requests: used to break data up across multiple requests to respect size limits.</a:t>
            </a:r>
          </a:p>
          <a:p>
            <a:pPr lvl="2"/>
            <a:r>
              <a:rPr lang="en-US" dirty="0"/>
              <a:t>Server must be configured to accept multipart requests.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7F96-6539-4D2E-8A75-83C1E64E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5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FFC3-0255-47C5-ADF1-8A2DF339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HTTP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7DC9-AD33-4B10-85FC-09824E133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Delete requests:</a:t>
            </a:r>
          </a:p>
          <a:p>
            <a:pPr lvl="1"/>
            <a:r>
              <a:rPr lang="en-US" dirty="0"/>
              <a:t>Used to send requests which remove data from a server database</a:t>
            </a:r>
          </a:p>
          <a:p>
            <a:pPr lvl="1"/>
            <a:r>
              <a:rPr lang="en-US" dirty="0"/>
              <a:t>Content can appear in the body or </a:t>
            </a:r>
            <a:r>
              <a:rPr lang="en-US" dirty="0" err="1"/>
              <a:t>url</a:t>
            </a:r>
            <a:endParaRPr lang="en-US" dirty="0"/>
          </a:p>
          <a:p>
            <a:r>
              <a:rPr lang="en-US" dirty="0"/>
              <a:t>PUT (Update) requests:</a:t>
            </a:r>
          </a:p>
          <a:p>
            <a:pPr lvl="1"/>
            <a:r>
              <a:rPr lang="en-US" dirty="0"/>
              <a:t>Used to send requests which perform larger changes and/or updates to the content in a database</a:t>
            </a:r>
          </a:p>
          <a:p>
            <a:pPr lvl="2"/>
            <a:r>
              <a:rPr lang="en-US" dirty="0"/>
              <a:t>i.e. restructure a table, or make a change that effects all values of one or more records across your database</a:t>
            </a:r>
          </a:p>
          <a:p>
            <a:pPr lvl="1"/>
            <a:r>
              <a:rPr lang="en-US" dirty="0"/>
              <a:t>Content should appear in the body of the request</a:t>
            </a:r>
          </a:p>
          <a:p>
            <a:r>
              <a:rPr lang="en-US" dirty="0"/>
              <a:t>Patch requests:</a:t>
            </a:r>
          </a:p>
          <a:p>
            <a:pPr lvl="1"/>
            <a:r>
              <a:rPr lang="en-US" dirty="0"/>
              <a:t>Used to send requests which perform smaller changes and/or updates to the content of a database</a:t>
            </a:r>
          </a:p>
          <a:p>
            <a:pPr lvl="2"/>
            <a:r>
              <a:rPr lang="en-US" dirty="0"/>
              <a:t>i.e. change the value of a few fields on a record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7F96-6539-4D2E-8A75-83C1E64E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617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 Status Codes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FFC3-0255-47C5-ADF1-8A2DF339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7DC9-AD33-4B10-85FC-09824E133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100 series : Informational Response</a:t>
            </a:r>
          </a:p>
          <a:p>
            <a:pPr lvl="1"/>
            <a:r>
              <a:rPr lang="en-US" sz="1900" dirty="0"/>
              <a:t>100 : continue</a:t>
            </a:r>
          </a:p>
          <a:p>
            <a:pPr lvl="1"/>
            <a:r>
              <a:rPr lang="en-US" sz="1900" dirty="0"/>
              <a:t>102 : processing</a:t>
            </a:r>
          </a:p>
          <a:p>
            <a:r>
              <a:rPr lang="en-US" dirty="0"/>
              <a:t>200 series : Successful Response</a:t>
            </a:r>
          </a:p>
          <a:p>
            <a:pPr lvl="1"/>
            <a:r>
              <a:rPr lang="en-US" sz="1900" dirty="0"/>
              <a:t>200 : OK</a:t>
            </a:r>
          </a:p>
          <a:p>
            <a:pPr lvl="1"/>
            <a:r>
              <a:rPr lang="en-US" sz="1900" dirty="0"/>
              <a:t>202 : Accepted</a:t>
            </a:r>
          </a:p>
          <a:p>
            <a:r>
              <a:rPr lang="en-US" dirty="0"/>
              <a:t>300 series : Redirection Response</a:t>
            </a:r>
          </a:p>
          <a:p>
            <a:pPr lvl="1"/>
            <a:r>
              <a:rPr lang="en-US" sz="1900" dirty="0"/>
              <a:t>301 : Resource moved</a:t>
            </a:r>
          </a:p>
          <a:p>
            <a:pPr lvl="1"/>
            <a:r>
              <a:rPr lang="en-US" sz="1900" dirty="0"/>
              <a:t>308 : Permanent Redirect</a:t>
            </a:r>
          </a:p>
          <a:p>
            <a:r>
              <a:rPr lang="en-US" dirty="0"/>
              <a:t>400 series : Client-Side error Response</a:t>
            </a:r>
          </a:p>
          <a:p>
            <a:pPr lvl="1"/>
            <a:r>
              <a:rPr lang="en-US" sz="1900" dirty="0"/>
              <a:t>400 : Bad Request (client error)</a:t>
            </a:r>
          </a:p>
          <a:p>
            <a:pPr lvl="1"/>
            <a:r>
              <a:rPr lang="en-US" sz="1900" dirty="0"/>
              <a:t>403 : Forbidden</a:t>
            </a:r>
          </a:p>
          <a:p>
            <a:pPr lvl="1"/>
            <a:r>
              <a:rPr lang="en-US" sz="1900" dirty="0"/>
              <a:t>404 : Not Found</a:t>
            </a:r>
          </a:p>
          <a:p>
            <a:r>
              <a:rPr lang="en-US" dirty="0"/>
              <a:t>500 series : Server-Side error Response</a:t>
            </a:r>
          </a:p>
          <a:p>
            <a:pPr lvl="1"/>
            <a:r>
              <a:rPr lang="en-US" sz="1900" dirty="0"/>
              <a:t>500 : Internal Server Error</a:t>
            </a:r>
          </a:p>
          <a:p>
            <a:pPr lvl="1"/>
            <a:r>
              <a:rPr lang="en-US" sz="1900" dirty="0"/>
              <a:t>503 : Service Unavailable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57F96-6539-4D2E-8A75-83C1E64E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7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6946-91A1-40A3-89B9-FE378EBD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E90FD7-C0FC-47CF-99EF-DAFC8003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559612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622</TotalTime>
  <Words>795</Words>
  <Application>Microsoft Office PowerPoint</Application>
  <PresentationFormat>On-screen Show (4:3)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Wingdings</vt:lpstr>
      <vt:lpstr>Revature</vt:lpstr>
      <vt:lpstr>HTTP</vt:lpstr>
      <vt:lpstr>Outline</vt:lpstr>
      <vt:lpstr>PowerPoint Presentation</vt:lpstr>
      <vt:lpstr>Client-Server-Database Architecture</vt:lpstr>
      <vt:lpstr>Types of Client-Server Architecture </vt:lpstr>
      <vt:lpstr>How the Internet Works</vt:lpstr>
      <vt:lpstr>PowerPoint Presentation</vt:lpstr>
      <vt:lpstr>HTTP</vt:lpstr>
      <vt:lpstr>Structure of HTTP Requests</vt:lpstr>
      <vt:lpstr>PowerPoint Presentation</vt:lpstr>
      <vt:lpstr>HTTP Request Verbs/Methods</vt:lpstr>
      <vt:lpstr>GET requests</vt:lpstr>
      <vt:lpstr>POST requests</vt:lpstr>
      <vt:lpstr>Other HTTP requests</vt:lpstr>
      <vt:lpstr>PowerPoint Presentation</vt:lpstr>
      <vt:lpstr>HTTP Status Codes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7</cp:revision>
  <dcterms:created xsi:type="dcterms:W3CDTF">2021-05-18T14:05:41Z</dcterms:created>
  <dcterms:modified xsi:type="dcterms:W3CDTF">2026-02-13T20:28:39Z</dcterms:modified>
</cp:coreProperties>
</file>