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661" r:id="rId1"/>
  </p:sldMasterIdLst>
  <p:notesMasterIdLst>
    <p:notesMasterId r:id="rId21"/>
  </p:notesMasterIdLst>
  <p:sldIdLst>
    <p:sldId id="256" r:id="rId2"/>
    <p:sldId id="343" r:id="rId3"/>
    <p:sldId id="357" r:id="rId4"/>
    <p:sldId id="293" r:id="rId5"/>
    <p:sldId id="365" r:id="rId6"/>
    <p:sldId id="323" r:id="rId7"/>
    <p:sldId id="358" r:id="rId8"/>
    <p:sldId id="324" r:id="rId9"/>
    <p:sldId id="322" r:id="rId10"/>
    <p:sldId id="367" r:id="rId11"/>
    <p:sldId id="359" r:id="rId12"/>
    <p:sldId id="325" r:id="rId13"/>
    <p:sldId id="327" r:id="rId14"/>
    <p:sldId id="368" r:id="rId15"/>
    <p:sldId id="369" r:id="rId16"/>
    <p:sldId id="360" r:id="rId17"/>
    <p:sldId id="321" r:id="rId18"/>
    <p:sldId id="320" r:id="rId19"/>
    <p:sldId id="270" r:id="rId20"/>
  </p:sldIdLst>
  <p:sldSz cx="9144000" cy="6858000" type="screen4x3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>
          <p15:clr>
            <a:srgbClr val="A4A3A4"/>
          </p15:clr>
        </p15:guide>
        <p15:guide id="2" pos="228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596" y="96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829965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2"/>
          <p:cNvPicPr preferRelativeResize="0"/>
          <p:nvPr/>
        </p:nvPicPr>
        <p:blipFill rotWithShape="1">
          <a:blip r:embed="rId2">
            <a:alphaModFix/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2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36" name="Google Shape;36;p2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/>
          <p:nvPr/>
        </p:nvSpPr>
        <p:spPr>
          <a:xfrm rot="10800000" flipH="1">
            <a:off x="0" y="1219200"/>
            <a:ext cx="9144000" cy="563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5" name="Google Shape;65;p4"/>
          <p:cNvGrpSpPr/>
          <p:nvPr/>
        </p:nvGrpSpPr>
        <p:grpSpPr>
          <a:xfrm>
            <a:off x="7264458" y="365740"/>
            <a:ext cx="1553308" cy="487719"/>
            <a:chOff x="7264458" y="365740"/>
            <a:chExt cx="1553308" cy="487719"/>
          </a:xfrm>
        </p:grpSpPr>
        <p:sp>
          <p:nvSpPr>
            <p:cNvPr id="66" name="Google Shape;66;p4"/>
            <p:cNvSpPr/>
            <p:nvPr/>
          </p:nvSpPr>
          <p:spPr>
            <a:xfrm>
              <a:off x="7264458" y="705011"/>
              <a:ext cx="148988" cy="144669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7450153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7613446" y="705011"/>
              <a:ext cx="154116" cy="144669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7767562" y="705011"/>
              <a:ext cx="173010" cy="144669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7934364" y="705011"/>
              <a:ext cx="157895" cy="144669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8122758" y="705011"/>
              <a:ext cx="154116" cy="148448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8321678" y="705011"/>
              <a:ext cx="148448" cy="144669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8507374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7785916" y="618911"/>
              <a:ext cx="25911" cy="24831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7868507" y="539289"/>
              <a:ext cx="37247" cy="44804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7965403" y="477481"/>
              <a:ext cx="37787" cy="69366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8070936" y="427548"/>
              <a:ext cx="32119" cy="95546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8178358" y="392731"/>
              <a:ext cx="29690" cy="119568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8280113" y="371948"/>
              <a:ext cx="46154" cy="14143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8379438" y="365740"/>
              <a:ext cx="68826" cy="16167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8477144" y="377076"/>
              <a:ext cx="95007" cy="176788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8573230" y="405416"/>
              <a:ext cx="122537" cy="187584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8663109" y="450760"/>
              <a:ext cx="154656" cy="19352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5"/>
          <p:cNvPicPr preferRelativeResize="0"/>
          <p:nvPr/>
        </p:nvPicPr>
        <p:blipFill rotWithShape="1">
          <a:blip r:embed="rId2">
            <a:alphaModFix/>
          </a:blip>
          <a:srcRect t="33085" b="1379"/>
          <a:stretch/>
        </p:blipFill>
        <p:spPr>
          <a:xfrm rot="10800000" flipH="1">
            <a:off x="0" y="0"/>
            <a:ext cx="9144000" cy="50300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5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87" name="Google Shape;87;p5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5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5"/>
          <p:cNvSpPr txBox="1"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None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section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6"/>
          <p:cNvPicPr preferRelativeResize="0"/>
          <p:nvPr/>
        </p:nvPicPr>
        <p:blipFill rotWithShape="1">
          <a:blip r:embed="rId2">
            <a:alphaModFix/>
          </a:blip>
          <a:srcRect t="67499" b="6701"/>
          <a:stretch/>
        </p:blipFill>
        <p:spPr>
          <a:xfrm rot="10800000" flipH="1">
            <a:off x="0" y="1740436"/>
            <a:ext cx="9144000" cy="1502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6"/>
          <p:cNvPicPr preferRelativeResize="0"/>
          <p:nvPr/>
        </p:nvPicPr>
        <p:blipFill rotWithShape="1">
          <a:blip r:embed="rId3">
            <a:alphaModFix/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p6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3" name="Google Shape;113;p6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6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6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6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6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6"/>
          <p:cNvSpPr txBox="1">
            <a:spLocks noGrp="1"/>
          </p:cNvSpPr>
          <p:nvPr>
            <p:ph type="body" idx="1"/>
          </p:nvPr>
        </p:nvSpPr>
        <p:spPr>
          <a:xfrm>
            <a:off x="323135" y="1846263"/>
            <a:ext cx="8441453" cy="124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2">
  <p:cSld name="section 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7"/>
          <p:cNvPicPr preferRelativeResize="0"/>
          <p:nvPr/>
        </p:nvPicPr>
        <p:blipFill rotWithShape="1">
          <a:blip r:embed="rId2">
            <a:alphaModFix/>
          </a:blip>
          <a:srcRect l="6614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7"/>
          <p:cNvPicPr preferRelativeResize="0"/>
          <p:nvPr/>
        </p:nvPicPr>
        <p:blipFill rotWithShape="1">
          <a:blip r:embed="rId3">
            <a:alphaModFix/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" name="Google Shape;136;p7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37" name="Google Shape;137;p7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7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7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7"/>
          <p:cNvSpPr txBox="1">
            <a:spLocks noGrp="1"/>
          </p:cNvSpPr>
          <p:nvPr>
            <p:ph type="body" idx="1"/>
          </p:nvPr>
        </p:nvSpPr>
        <p:spPr>
          <a:xfrm>
            <a:off x="323135" y="1846263"/>
            <a:ext cx="8441453" cy="124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white">
  <p:cSld name="title only - white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1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6" name="Google Shape;176;p11"/>
          <p:cNvGrpSpPr/>
          <p:nvPr/>
        </p:nvGrpSpPr>
        <p:grpSpPr>
          <a:xfrm>
            <a:off x="7264458" y="365740"/>
            <a:ext cx="1553308" cy="487719"/>
            <a:chOff x="7264458" y="365740"/>
            <a:chExt cx="1553308" cy="487719"/>
          </a:xfrm>
        </p:grpSpPr>
        <p:sp>
          <p:nvSpPr>
            <p:cNvPr id="177" name="Google Shape;177;p11"/>
            <p:cNvSpPr/>
            <p:nvPr/>
          </p:nvSpPr>
          <p:spPr>
            <a:xfrm>
              <a:off x="7264458" y="705011"/>
              <a:ext cx="148988" cy="144669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7450153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7613446" y="705011"/>
              <a:ext cx="154116" cy="144669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7767562" y="705011"/>
              <a:ext cx="173010" cy="144669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7934364" y="705011"/>
              <a:ext cx="157895" cy="144669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8122758" y="705011"/>
              <a:ext cx="154116" cy="148448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8321678" y="705011"/>
              <a:ext cx="148448" cy="144669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8507374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7785916" y="618911"/>
              <a:ext cx="25911" cy="24831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7868507" y="539289"/>
              <a:ext cx="37247" cy="44804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7965403" y="477481"/>
              <a:ext cx="37787" cy="69366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8070936" y="427548"/>
              <a:ext cx="32119" cy="95546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8178358" y="392731"/>
              <a:ext cx="29690" cy="119568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8280113" y="371948"/>
              <a:ext cx="46154" cy="14143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8379438" y="365740"/>
              <a:ext cx="68826" cy="16167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8477144" y="377076"/>
              <a:ext cx="95007" cy="176788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8573230" y="405416"/>
              <a:ext cx="122537" cy="187584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1"/>
            <p:cNvSpPr/>
            <p:nvPr/>
          </p:nvSpPr>
          <p:spPr>
            <a:xfrm>
              <a:off x="8663109" y="450760"/>
              <a:ext cx="154656" cy="19352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Title Only">
  <p:cSld name="3_Title Only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2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2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12"/>
          <p:cNvSpPr>
            <a:spLocks noGrp="1"/>
          </p:cNvSpPr>
          <p:nvPr>
            <p:ph type="dgm" idx="2"/>
          </p:nvPr>
        </p:nvSpPr>
        <p:spPr>
          <a:xfrm>
            <a:off x="133350" y="125413"/>
            <a:ext cx="8850313" cy="6008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Title Only">
  <p:cSld name="2_Title Only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/>
          <p:nvPr/>
        </p:nvSpPr>
        <p:spPr>
          <a:xfrm>
            <a:off x="0" y="6251171"/>
            <a:ext cx="9144000" cy="6068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3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2" name="Google Shape;20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7765" y="6367323"/>
            <a:ext cx="1260213" cy="39476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3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3"/>
          <p:cNvSpPr txBox="1">
            <a:spLocks noGrp="1"/>
          </p:cNvSpPr>
          <p:nvPr>
            <p:ph type="body" idx="1"/>
          </p:nvPr>
        </p:nvSpPr>
        <p:spPr>
          <a:xfrm>
            <a:off x="380010" y="1097280"/>
            <a:ext cx="8383980" cy="491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4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3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808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"/>
          <p:cNvGrpSpPr/>
          <p:nvPr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Google Shape;12;p1"/>
            <p:cNvSpPr/>
            <p:nvPr/>
          </p:nvSpPr>
          <p:spPr>
            <a:xfrm>
              <a:off x="166688" y="-1244600"/>
              <a:ext cx="876300" cy="850900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1258888" y="-1244600"/>
              <a:ext cx="774700" cy="850900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2219326" y="-1244600"/>
              <a:ext cx="906463" cy="850900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3125788" y="-1244600"/>
              <a:ext cx="1017588" cy="850900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4106863" y="-1244600"/>
              <a:ext cx="928688" cy="850900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5214938" y="-1244600"/>
              <a:ext cx="906463" cy="873125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6384926" y="-1244600"/>
              <a:ext cx="873125" cy="850900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7477126" y="-1244600"/>
              <a:ext cx="774700" cy="850900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3233738" y="-1751013"/>
              <a:ext cx="152400" cy="146050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3719513" y="-2219325"/>
              <a:ext cx="219075" cy="263525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4289426" y="-2582863"/>
              <a:ext cx="222250" cy="407988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4910138" y="-2876550"/>
              <a:ext cx="188913" cy="561975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5541963" y="-3081338"/>
              <a:ext cx="174625" cy="70326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6140451" y="-3203575"/>
              <a:ext cx="271463" cy="83185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6724651" y="-3240088"/>
              <a:ext cx="404813" cy="95091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7299326" y="-3173413"/>
              <a:ext cx="558800" cy="1039813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7864476" y="-3006725"/>
              <a:ext cx="720725" cy="1103313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8393113" y="-2740025"/>
              <a:ext cx="909638" cy="1138238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1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1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1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2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721658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 dirty="0"/>
              <a:t>Introduction to Testing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47FC-ED58-14EC-766E-B345CBB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0A314-1889-7642-D5E4-583ADD03E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7"/>
            <a:ext cx="8383980" cy="4316452"/>
          </a:xfrm>
        </p:spPr>
        <p:txBody>
          <a:bodyPr numCol="1">
            <a:normAutofit/>
          </a:bodyPr>
          <a:lstStyle/>
          <a:p>
            <a:r>
              <a:rPr lang="en-US" dirty="0"/>
              <a:t>Introduction to Testing</a:t>
            </a:r>
          </a:p>
          <a:p>
            <a:r>
              <a:rPr lang="en-US" dirty="0"/>
              <a:t>Levels of Testing</a:t>
            </a:r>
          </a:p>
          <a:p>
            <a:r>
              <a:rPr lang="en-US" dirty="0"/>
              <a:t>Unit Testing</a:t>
            </a:r>
          </a:p>
          <a:p>
            <a:r>
              <a:rPr lang="en-US" dirty="0"/>
              <a:t>Test Driven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928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 to Testing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Testing?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Software testing is the process of evaluating and verifying that a software application or system meets specified requirements and functions correctly.</a:t>
            </a:r>
          </a:p>
          <a:p>
            <a:r>
              <a:rPr lang="en-US" dirty="0"/>
              <a:t>During Software testing, software components are executed and evaluated to identify bugs, errors, gaps, or missing requirements compared to expected behavior and/or functionality.</a:t>
            </a:r>
          </a:p>
          <a:p>
            <a:r>
              <a:rPr lang="en-US" dirty="0"/>
              <a:t>Common terminology in testing includes:</a:t>
            </a:r>
          </a:p>
          <a:p>
            <a:pPr lvl="1"/>
            <a:r>
              <a:rPr lang="en-US" b="1" dirty="0"/>
              <a:t>Bug/Defect</a:t>
            </a:r>
            <a:r>
              <a:rPr lang="en-US" dirty="0"/>
              <a:t> - An error or flaw in the software that causes it to produce incorrect or unexpected results.</a:t>
            </a:r>
          </a:p>
          <a:p>
            <a:pPr lvl="1"/>
            <a:r>
              <a:rPr lang="en-US" b="1" dirty="0"/>
              <a:t>Test Case</a:t>
            </a:r>
            <a:r>
              <a:rPr lang="en-US" dirty="0"/>
              <a:t> - A specific set of conditions, inputs, and expected outcomes used to verify a particular aspect of the software.</a:t>
            </a:r>
          </a:p>
          <a:p>
            <a:pPr lvl="1"/>
            <a:r>
              <a:rPr lang="en-US" b="1" dirty="0"/>
              <a:t>Test Suite</a:t>
            </a:r>
            <a:r>
              <a:rPr lang="en-US" dirty="0"/>
              <a:t> - A collection of test cases that are grouped together, often to test a specific feature or module.</a:t>
            </a:r>
          </a:p>
          <a:p>
            <a:pPr lvl="1"/>
            <a:r>
              <a:rPr lang="en-US" b="1" dirty="0"/>
              <a:t>Test Coverage</a:t>
            </a:r>
            <a:r>
              <a:rPr lang="en-US" dirty="0"/>
              <a:t> - A measure of how much of the code or requirements are tested, often expressed as a percentage.</a:t>
            </a:r>
          </a:p>
          <a:p>
            <a:pPr lvl="1"/>
            <a:r>
              <a:rPr lang="en-US" b="1" dirty="0"/>
              <a:t>False Positive/Negative</a:t>
            </a:r>
            <a:r>
              <a:rPr lang="en-US" dirty="0"/>
              <a:t> - A false positive is when a test fails but the software is actually working correctly; a false negative is when a test passes but there's actually a bug.</a:t>
            </a:r>
          </a:p>
          <a:p>
            <a:pPr lvl="1"/>
            <a:r>
              <a:rPr lang="en-US" b="1" dirty="0"/>
              <a:t>Pass/Fail Criteria</a:t>
            </a:r>
            <a:r>
              <a:rPr lang="en-US" dirty="0"/>
              <a:t> - The standards that determine whether a test case has succeeded or failed.</a:t>
            </a:r>
          </a:p>
          <a:p>
            <a:pPr lvl="1"/>
            <a:r>
              <a:rPr lang="en-US" b="1" dirty="0"/>
              <a:t>Test Environment</a:t>
            </a:r>
            <a:r>
              <a:rPr lang="en-US" dirty="0"/>
              <a:t> - The setup of hardware, software, network configurations, and test data where testing is performed.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507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886DB-9FB5-954F-5FED-9C7D4F32A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250C7-78CC-A074-C961-7C4EA0BEA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 of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F51324-7288-FC2B-D2D2-DF74AA085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Testing is a very broad term that encompasses many different strategies, levels and techniques. </a:t>
            </a:r>
          </a:p>
          <a:p>
            <a:r>
              <a:rPr lang="en-US" dirty="0"/>
              <a:t>Software testing can be done either:</a:t>
            </a:r>
          </a:p>
          <a:p>
            <a:pPr lvl="1"/>
            <a:r>
              <a:rPr lang="en-US" dirty="0"/>
              <a:t>Manually (by a human using the system) </a:t>
            </a:r>
          </a:p>
          <a:p>
            <a:pPr lvl="1"/>
            <a:r>
              <a:rPr lang="en-US" dirty="0"/>
              <a:t>automated by writing tests with code. </a:t>
            </a:r>
          </a:p>
          <a:p>
            <a:pPr lvl="2"/>
            <a:r>
              <a:rPr lang="en-US" dirty="0"/>
              <a:t>Generally, when we discuss software testing, we are referring to this approach.</a:t>
            </a:r>
          </a:p>
          <a:p>
            <a:r>
              <a:rPr lang="en-US" dirty="0"/>
              <a:t>You’ve probably already performed </a:t>
            </a:r>
            <a:r>
              <a:rPr lang="en-US" b="1" dirty="0"/>
              <a:t>manual testing</a:t>
            </a:r>
            <a:r>
              <a:rPr lang="en-US" dirty="0"/>
              <a:t> by simply running your application code, providing some user input, and manually observing the resulting behavior.</a:t>
            </a:r>
          </a:p>
          <a:p>
            <a:pPr lvl="1"/>
            <a:r>
              <a:rPr lang="en-US" dirty="0"/>
              <a:t>This kind of testing is effective but does not scale well as the size of an application increases to 100, 1000s or tens of thousands of lines of code.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48626-A465-7699-ED21-1CA41F738F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034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 of Testing (</a:t>
            </a:r>
            <a:r>
              <a:rPr lang="en-US" dirty="0" err="1"/>
              <a:t>cont</a:t>
            </a:r>
            <a:r>
              <a:rPr lang="en-US" dirty="0"/>
              <a:t>…)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Any time you develop software, testing should be considered as a crucial component to your development process.</a:t>
            </a:r>
          </a:p>
          <a:p>
            <a:r>
              <a:rPr lang="en-US" dirty="0"/>
              <a:t>Testing should not be:</a:t>
            </a:r>
          </a:p>
          <a:p>
            <a:pPr lvl="1"/>
            <a:r>
              <a:rPr lang="en-US" dirty="0"/>
              <a:t>Optional</a:t>
            </a:r>
          </a:p>
          <a:p>
            <a:pPr lvl="1"/>
            <a:r>
              <a:rPr lang="en-US" dirty="0"/>
              <a:t>An afterthought</a:t>
            </a:r>
          </a:p>
          <a:p>
            <a:pPr lvl="1"/>
            <a:r>
              <a:rPr lang="en-US" dirty="0"/>
              <a:t>A chore</a:t>
            </a:r>
          </a:p>
          <a:p>
            <a:pPr lvl="1"/>
            <a:r>
              <a:rPr lang="en-US" dirty="0"/>
              <a:t>Time-consuming</a:t>
            </a:r>
          </a:p>
          <a:p>
            <a:pPr lvl="1"/>
            <a:r>
              <a:rPr lang="en-US" dirty="0"/>
              <a:t>Strictly about ‘code coverage’</a:t>
            </a:r>
          </a:p>
          <a:p>
            <a:r>
              <a:rPr lang="en-US" dirty="0"/>
              <a:t>When creating and executing tests you should make sure that you:</a:t>
            </a:r>
          </a:p>
          <a:p>
            <a:pPr lvl="1"/>
            <a:r>
              <a:rPr lang="en-US" dirty="0"/>
              <a:t>Clarify the unambiguously state the requirements of the system</a:t>
            </a:r>
          </a:p>
          <a:p>
            <a:pPr lvl="1"/>
            <a:r>
              <a:rPr lang="en-US" dirty="0"/>
              <a:t>Ensure software meets expectations and helps achieve business objectives</a:t>
            </a:r>
          </a:p>
          <a:p>
            <a:pPr lvl="1"/>
            <a:r>
              <a:rPr lang="en-US" dirty="0"/>
              <a:t>Can easily identify areas that do not meet requirements</a:t>
            </a:r>
          </a:p>
          <a:p>
            <a:pPr lvl="1"/>
            <a:r>
              <a:rPr lang="en-US" dirty="0"/>
              <a:t>Quickly and easily make changes to the application and tests if needed</a:t>
            </a:r>
          </a:p>
          <a:p>
            <a:pPr lvl="1"/>
            <a:r>
              <a:rPr lang="en-US" dirty="0"/>
              <a:t>Assume product quality.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826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D7C16-D3D9-E440-4680-10B01775C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6FB406-FA51-B5B5-759E-E2578C36095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769CED5B-D865-6150-AD3D-05F3B365B6AD}"/>
              </a:ext>
            </a:extLst>
          </p:cNvPr>
          <p:cNvSpPr txBox="1">
            <a:spLocks/>
          </p:cNvSpPr>
          <p:nvPr/>
        </p:nvSpPr>
        <p:spPr>
          <a:xfrm>
            <a:off x="157928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Levels of Testing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834D4A-C5FD-F61C-7EBD-8D29A1F93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458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Pyramid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77585AB-3893-470C-B88D-F491A7407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4449024"/>
            <a:ext cx="8383980" cy="191468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When determining costs for tests, it is useful to keep the ‘Testing Pyramid’ in mind. </a:t>
            </a:r>
          </a:p>
          <a:p>
            <a:r>
              <a:rPr lang="en-US" dirty="0"/>
              <a:t>This is a visual representation of the cost vs abundance of tests based on certain “levels” of testing. </a:t>
            </a:r>
          </a:p>
          <a:p>
            <a:r>
              <a:rPr lang="en-US" dirty="0"/>
              <a:t>More tests exist at lower levels of the pyramid, than the top, because they exist at a lower level of abstraction.</a:t>
            </a:r>
          </a:p>
        </p:txBody>
      </p:sp>
      <p:pic>
        <p:nvPicPr>
          <p:cNvPr id="14" name="Picture 13" descr="Diagram&#10;&#10;Description automatically generated">
            <a:extLst>
              <a:ext uri="{FF2B5EF4-FFF2-40B4-BE49-F238E27FC236}">
                <a16:creationId xmlns:a16="http://schemas.microsoft.com/office/drawing/2014/main" id="{941DCCE8-EBF9-4259-A149-3D704A8F7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114" y="1520543"/>
            <a:ext cx="5939772" cy="292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598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“Levels”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338470"/>
            <a:ext cx="8383980" cy="5025242"/>
          </a:xfrm>
        </p:spPr>
        <p:txBody>
          <a:bodyPr>
            <a:normAutofit fontScale="92500" lnSpcReduction="10000"/>
          </a:bodyPr>
          <a:lstStyle/>
          <a:p>
            <a:r>
              <a:rPr lang="en-US" sz="1600" b="1" dirty="0"/>
              <a:t>*Unit Testing*</a:t>
            </a:r>
          </a:p>
          <a:p>
            <a:pPr lvl="1"/>
            <a:r>
              <a:rPr lang="en-US" sz="1400" dirty="0"/>
              <a:t>Most Micro-level of testing</a:t>
            </a:r>
          </a:p>
          <a:p>
            <a:pPr lvl="1"/>
            <a:r>
              <a:rPr lang="en-US" sz="1400" dirty="0"/>
              <a:t>Test each component in isolation (without dependencies)</a:t>
            </a:r>
          </a:p>
          <a:p>
            <a:pPr lvl="1"/>
            <a:r>
              <a:rPr lang="en-US" sz="1400" dirty="0"/>
              <a:t>Usually requires mocking data</a:t>
            </a:r>
          </a:p>
          <a:p>
            <a:pPr lvl="1"/>
            <a:r>
              <a:rPr lang="en-US" sz="1400" dirty="0"/>
              <a:t>Unit testing tools include JUnit and </a:t>
            </a:r>
            <a:r>
              <a:rPr lang="en-US" sz="1400" dirty="0" err="1"/>
              <a:t>TestNg</a:t>
            </a:r>
            <a:endParaRPr lang="en-US" sz="1400" dirty="0"/>
          </a:p>
          <a:p>
            <a:r>
              <a:rPr lang="en-US" sz="1600" dirty="0"/>
              <a:t>Integration Testing</a:t>
            </a:r>
          </a:p>
          <a:p>
            <a:pPr lvl="1"/>
            <a:r>
              <a:rPr lang="en-US" sz="1400" dirty="0"/>
              <a:t>Test components with dependencies</a:t>
            </a:r>
          </a:p>
          <a:p>
            <a:pPr lvl="1"/>
            <a:r>
              <a:rPr lang="en-US" sz="1400" dirty="0"/>
              <a:t>Check that components work with one another correctly</a:t>
            </a:r>
          </a:p>
          <a:p>
            <a:pPr lvl="1"/>
            <a:r>
              <a:rPr lang="en-US" sz="1400" dirty="0"/>
              <a:t>Logically related modules are tested as a group</a:t>
            </a:r>
          </a:p>
          <a:p>
            <a:pPr lvl="1"/>
            <a:r>
              <a:rPr lang="en-US" sz="1400" dirty="0"/>
              <a:t>Integration testing tools include selenium and protractor</a:t>
            </a:r>
          </a:p>
          <a:p>
            <a:r>
              <a:rPr lang="en-US" sz="1600" dirty="0"/>
              <a:t>System Testing</a:t>
            </a:r>
          </a:p>
          <a:p>
            <a:pPr lvl="1"/>
            <a:r>
              <a:rPr lang="en-US" sz="1400" dirty="0"/>
              <a:t>Test the entire application as a whole</a:t>
            </a:r>
          </a:p>
          <a:p>
            <a:pPr lvl="1"/>
            <a:r>
              <a:rPr lang="en-US" sz="1400" dirty="0"/>
              <a:t>Ensure the entire application works without errors</a:t>
            </a:r>
          </a:p>
          <a:p>
            <a:r>
              <a:rPr lang="en-US" sz="1600" dirty="0"/>
              <a:t>User Acceptance Testing (UAT)</a:t>
            </a:r>
          </a:p>
          <a:p>
            <a:pPr lvl="1"/>
            <a:r>
              <a:rPr lang="en-US" sz="1400" dirty="0"/>
              <a:t>Test that all requirements are met</a:t>
            </a:r>
          </a:p>
          <a:p>
            <a:pPr lvl="1"/>
            <a:r>
              <a:rPr lang="en-US" sz="1400" dirty="0"/>
              <a:t>Simulate an end-user to guarantee that users can perform all the tasks required</a:t>
            </a:r>
          </a:p>
          <a:p>
            <a:pPr lvl="1"/>
            <a:r>
              <a:rPr lang="en-US" sz="1400" dirty="0"/>
              <a:t>Generally, UAT is handled by a physical user</a:t>
            </a:r>
          </a:p>
          <a:p>
            <a:pPr lvl="1"/>
            <a:r>
              <a:rPr lang="en-US" sz="1400" dirty="0"/>
              <a:t>Two forms of UAT exist: Alpha and Beta</a:t>
            </a:r>
          </a:p>
          <a:p>
            <a:pPr lvl="2"/>
            <a:r>
              <a:rPr lang="en-US" sz="1200" dirty="0"/>
              <a:t>Alpha Testing – First round of UAT (normally in-house builds and teams)</a:t>
            </a:r>
          </a:p>
          <a:p>
            <a:pPr lvl="2"/>
            <a:r>
              <a:rPr lang="en-US" sz="1200" dirty="0"/>
              <a:t>Beta testing – Generally, testing done ‘out-of-house’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29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7AA9D-465C-73FD-DD02-FA2734F38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388E3-DF95-A0B8-B5ED-2C5C7F759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Types of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0A7BA-7DDB-149E-AC3B-F569F2CB6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338469"/>
            <a:ext cx="8383980" cy="5390367"/>
          </a:xfrm>
        </p:spPr>
        <p:txBody>
          <a:bodyPr>
            <a:normAutofit fontScale="92500" lnSpcReduction="10000"/>
          </a:bodyPr>
          <a:lstStyle/>
          <a:p>
            <a:r>
              <a:rPr lang="en-US" sz="1600" b="1" dirty="0"/>
              <a:t>Functional Testing</a:t>
            </a:r>
            <a:r>
              <a:rPr lang="en-US" sz="1600" dirty="0"/>
              <a:t> - Verifies that the software performs its intended functions correctly.</a:t>
            </a:r>
          </a:p>
          <a:p>
            <a:pPr lvl="1"/>
            <a:r>
              <a:rPr lang="en-US" sz="1200" dirty="0"/>
              <a:t>This is crucial because it ensures the application delivers the features users actually need.</a:t>
            </a:r>
          </a:p>
          <a:p>
            <a:r>
              <a:rPr lang="en-US" sz="1600" b="1" dirty="0"/>
              <a:t>Performance Testing</a:t>
            </a:r>
            <a:r>
              <a:rPr lang="en-US" sz="1600" dirty="0"/>
              <a:t> - Evaluates how the system performs under various loads, including speed, scalability, and stability. </a:t>
            </a:r>
          </a:p>
          <a:p>
            <a:pPr lvl="1"/>
            <a:r>
              <a:rPr lang="en-US" sz="1200" dirty="0"/>
              <a:t>Important for ensuring the application can handle real-world usage patterns.</a:t>
            </a:r>
          </a:p>
          <a:p>
            <a:r>
              <a:rPr lang="en-US" sz="1600" b="1" dirty="0"/>
              <a:t>Usability Testing</a:t>
            </a:r>
            <a:r>
              <a:rPr lang="en-US" sz="1600" dirty="0"/>
              <a:t> - Assesses how easy and intuitive the application is for end users.</a:t>
            </a:r>
          </a:p>
          <a:p>
            <a:pPr lvl="1"/>
            <a:r>
              <a:rPr lang="en-US" sz="1200" dirty="0"/>
              <a:t>Important because even technically sound software fails if users can't navigate it effectively.</a:t>
            </a:r>
          </a:p>
          <a:p>
            <a:r>
              <a:rPr lang="en-US" sz="1600" b="1" dirty="0"/>
              <a:t>Sanity Testing</a:t>
            </a:r>
            <a:r>
              <a:rPr lang="en-US" sz="1600" dirty="0"/>
              <a:t> - A narrow check of a specific area or function after making a small change.</a:t>
            </a:r>
          </a:p>
          <a:p>
            <a:pPr lvl="1"/>
            <a:r>
              <a:rPr lang="en-US" sz="1200" dirty="0"/>
              <a:t>Important because it quickly confirms a fix didn't break something obvious.</a:t>
            </a:r>
          </a:p>
          <a:p>
            <a:r>
              <a:rPr lang="en-US" sz="1600" b="1" dirty="0"/>
              <a:t>Smoke Testing</a:t>
            </a:r>
            <a:r>
              <a:rPr lang="en-US" sz="1600" dirty="0"/>
              <a:t> - A preliminary test that checks basic, critical functionality to determine if the build is stable enough for further testing. </a:t>
            </a:r>
          </a:p>
          <a:p>
            <a:pPr lvl="1"/>
            <a:r>
              <a:rPr lang="en-US" sz="1200" dirty="0"/>
              <a:t>Saves time by catching major issues early.</a:t>
            </a:r>
          </a:p>
          <a:p>
            <a:r>
              <a:rPr lang="en-US" sz="1600" b="1" dirty="0"/>
              <a:t>Exploratory Testing</a:t>
            </a:r>
            <a:r>
              <a:rPr lang="en-US" sz="1600" dirty="0"/>
              <a:t> - Unscripted testing where testers actively explore the application to find unexpected issues. </a:t>
            </a:r>
          </a:p>
          <a:p>
            <a:pPr lvl="1"/>
            <a:r>
              <a:rPr lang="en-US" sz="1200" dirty="0"/>
              <a:t>Important for discovering edge cases that structured tests might miss.</a:t>
            </a:r>
          </a:p>
          <a:p>
            <a:r>
              <a:rPr lang="en-US" sz="1600" b="1" dirty="0"/>
              <a:t>Load Testing</a:t>
            </a:r>
            <a:r>
              <a:rPr lang="en-US" sz="1600" dirty="0"/>
              <a:t> - Tests system behavior under expected user loads. </a:t>
            </a:r>
          </a:p>
          <a:p>
            <a:pPr lvl="1"/>
            <a:r>
              <a:rPr lang="en-US" sz="1200" dirty="0"/>
              <a:t>Helps prevent crashes or slowdowns during peak usage periods.</a:t>
            </a:r>
          </a:p>
          <a:p>
            <a:r>
              <a:rPr lang="en-US" sz="1600" b="1" dirty="0"/>
              <a:t>Stress Testing</a:t>
            </a:r>
            <a:r>
              <a:rPr lang="en-US" sz="1600" dirty="0"/>
              <a:t> - Pushes the system beyond normal capacity to find its breaking point. </a:t>
            </a:r>
          </a:p>
          <a:p>
            <a:pPr lvl="1"/>
            <a:r>
              <a:rPr lang="en-US" sz="1200" dirty="0"/>
              <a:t>Important for understanding system limits and planning for growth.</a:t>
            </a:r>
          </a:p>
          <a:p>
            <a:r>
              <a:rPr lang="en-US" sz="1600" b="1" dirty="0"/>
              <a:t>Regression Testing</a:t>
            </a:r>
            <a:r>
              <a:rPr lang="en-US" sz="1600" dirty="0"/>
              <a:t> - Re-runs previous tests after changes to ensure new code hasn't broken existing functionality. </a:t>
            </a:r>
          </a:p>
          <a:p>
            <a:pPr lvl="1"/>
            <a:r>
              <a:rPr lang="en-US" sz="1200" dirty="0"/>
              <a:t>Essential for maintaining stability as software evolves.</a:t>
            </a:r>
            <a:endParaRPr lang="en-US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C0C00-B13C-9A05-EDE7-F7B436A8DE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370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BA35F-ED61-935C-4B18-5DA31B4B9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EA3F70-89B9-BF62-943F-6733CE3ED0E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716E5E59-05A7-B877-0AAC-AB212627EEDF}"/>
              </a:ext>
            </a:extLst>
          </p:cNvPr>
          <p:cNvSpPr txBox="1">
            <a:spLocks/>
          </p:cNvSpPr>
          <p:nvPr/>
        </p:nvSpPr>
        <p:spPr>
          <a:xfrm>
            <a:off x="157928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Unit Testing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D611E0-D0AD-EA96-40A4-601CBA15E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81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Unit Testing is the testing of individual software components in isolation from the rest of a system.</a:t>
            </a:r>
          </a:p>
          <a:p>
            <a:r>
              <a:rPr lang="en-US" dirty="0"/>
              <a:t>This is done by writing tests which execute the code on the individual units we want to inspect.</a:t>
            </a:r>
          </a:p>
          <a:p>
            <a:r>
              <a:rPr lang="en-US" dirty="0"/>
              <a:t>When the code under scrutiny deviates from an expected outcome or behavior, the test will fail.</a:t>
            </a:r>
          </a:p>
          <a:p>
            <a:r>
              <a:rPr lang="en-US" dirty="0"/>
              <a:t>If the test passes, this means that application performs as expected (unless there is a problem with the test itself).</a:t>
            </a:r>
          </a:p>
          <a:p>
            <a:r>
              <a:rPr lang="en-US" b="1" u="sng" dirty="0"/>
              <a:t>Unit testing should never manipulate actual databases or use real data. It is the process of testing the functionality, without changing the actual environment.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97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New Code</a:t>
            </a:r>
          </a:p>
          <a:p>
            <a:pPr lvl="1"/>
            <a:r>
              <a:rPr lang="en-US" dirty="0"/>
              <a:t>Once a developer adds more code, they need to write unit tests for the new code to ensure it is working properly</a:t>
            </a:r>
          </a:p>
          <a:p>
            <a:pPr lvl="1"/>
            <a:r>
              <a:rPr lang="en-US" dirty="0"/>
              <a:t>Alternatively, Tests can be written first if utilizing Test Driven Development</a:t>
            </a:r>
          </a:p>
          <a:p>
            <a:r>
              <a:rPr lang="en-US" dirty="0"/>
              <a:t>Refactoring</a:t>
            </a:r>
          </a:p>
          <a:p>
            <a:pPr lvl="1"/>
            <a:r>
              <a:rPr lang="en-US" dirty="0"/>
              <a:t>As projects grow and requirements change, code made need to be updated</a:t>
            </a:r>
          </a:p>
          <a:p>
            <a:pPr lvl="1"/>
            <a:r>
              <a:rPr lang="en-US" dirty="0"/>
              <a:t>Refactoring involves updating code on a later date and testing to make sure everything is still running smoothly, or quickly find what causes tests to fail.</a:t>
            </a:r>
          </a:p>
          <a:p>
            <a:r>
              <a:rPr lang="en-US" dirty="0"/>
              <a:t>What is a Test Case?</a:t>
            </a:r>
          </a:p>
          <a:p>
            <a:pPr lvl="1"/>
            <a:r>
              <a:rPr lang="en-US" dirty="0"/>
              <a:t>A test case is a set of conditions or variables under which a tester will determine whether an application is working correctly</a:t>
            </a:r>
          </a:p>
          <a:p>
            <a:pPr lvl="1"/>
            <a:r>
              <a:rPr lang="en-US" dirty="0"/>
              <a:t>Once we break up our code into a unit, we can come up with test cases that will determine if the unit is working correctly.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13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155C4-0BEB-AE77-A74A-A4039FD59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D6AB0-F81E-49DD-BC64-FEA3456A6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72096-0347-5D4D-724A-B8863B576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Unit Testing is about more than running source code against tests…</a:t>
            </a:r>
          </a:p>
          <a:p>
            <a:r>
              <a:rPr lang="en-US" dirty="0"/>
              <a:t>Unit tests prioritize testing source code in isolation</a:t>
            </a:r>
          </a:p>
          <a:p>
            <a:r>
              <a:rPr lang="en-US" dirty="0"/>
              <a:t>This process entails testing the “smallest unit” of code possible. This unit is often, for instance, a single method.</a:t>
            </a:r>
          </a:p>
          <a:p>
            <a:r>
              <a:rPr lang="en-US" dirty="0"/>
              <a:t>If one of these units (a method) depends on another unit, testers typically use </a:t>
            </a:r>
            <a:r>
              <a:rPr lang="en-US" b="1" dirty="0"/>
              <a:t>mocks</a:t>
            </a:r>
            <a:r>
              <a:rPr lang="en-US" dirty="0"/>
              <a:t> or </a:t>
            </a:r>
            <a:r>
              <a:rPr lang="en-US" b="1" dirty="0"/>
              <a:t>stubs</a:t>
            </a:r>
            <a:r>
              <a:rPr lang="en-US" dirty="0"/>
              <a:t> to isolate the unit from its dependency during the test.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2628D-C846-1FCF-22FA-7163CC7F82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42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53D9A-7FC5-6A7E-A96E-606404CD8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0C41A-CE7E-3E8C-C374-E0941A996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 - Benefits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4D35B-3C98-C925-D5B4-380EB9EE5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Encourages writing testable code</a:t>
            </a:r>
          </a:p>
          <a:p>
            <a:r>
              <a:rPr lang="en-US" dirty="0"/>
              <a:t>Isolate defects in source code</a:t>
            </a:r>
          </a:p>
          <a:p>
            <a:r>
              <a:rPr lang="en-US" dirty="0"/>
              <a:t>Cost-effective</a:t>
            </a:r>
          </a:p>
          <a:p>
            <a:r>
              <a:rPr lang="en-US" dirty="0"/>
              <a:t>Improves Overall Code Quality</a:t>
            </a:r>
          </a:p>
          <a:p>
            <a:r>
              <a:rPr lang="en-US" dirty="0"/>
              <a:t>Promotes Confidence when refactoring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33446-4BC7-95BD-389F-36C127DA20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874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0153C-EDD4-0427-4F32-AF8131AD1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02E951-90BC-A0D3-88D2-B395CAD5B38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C8A17F0E-2E12-477B-5E5B-48278AC5D2CA}"/>
              </a:ext>
            </a:extLst>
          </p:cNvPr>
          <p:cNvSpPr txBox="1">
            <a:spLocks/>
          </p:cNvSpPr>
          <p:nvPr/>
        </p:nvSpPr>
        <p:spPr>
          <a:xfrm>
            <a:off x="157928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 Driven Development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4ACCBB-C7FB-F0A8-A226-FD01C4286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648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Driven Development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When developing software, it is important to ensure that most, if not all, of the code being written is tested to verify the functionality of the code.</a:t>
            </a:r>
          </a:p>
          <a:p>
            <a:r>
              <a:rPr lang="en-US" dirty="0"/>
              <a:t>One way to ensure this, is to follow a process called ‘</a:t>
            </a:r>
            <a:r>
              <a:rPr lang="en-US" b="1" dirty="0"/>
              <a:t>test-driven development</a:t>
            </a:r>
            <a:r>
              <a:rPr lang="en-US" dirty="0"/>
              <a:t>’ or TDD.</a:t>
            </a:r>
          </a:p>
          <a:p>
            <a:r>
              <a:rPr lang="en-US" dirty="0"/>
              <a:t>The TDD process consists of writing unit tests first, </a:t>
            </a:r>
            <a:r>
              <a:rPr lang="en-US" b="1" i="1" dirty="0"/>
              <a:t>before</a:t>
            </a:r>
            <a:r>
              <a:rPr lang="en-US" dirty="0"/>
              <a:t> the application code has been written. Then, code can be written to make the test pass, and the process can be completed for each piece of functionality required.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053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TDD Process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To follow a TDD process you would:</a:t>
            </a:r>
          </a:p>
          <a:p>
            <a:pPr marL="990600" lvl="1" indent="-457200">
              <a:buFont typeface="+mj-lt"/>
              <a:buAutoNum type="arabicPeriod"/>
            </a:pPr>
            <a:r>
              <a:rPr lang="en-US" dirty="0"/>
              <a:t>Write a unit test</a:t>
            </a:r>
          </a:p>
          <a:p>
            <a:pPr marL="990600" lvl="1" indent="-457200">
              <a:buFont typeface="+mj-lt"/>
              <a:buAutoNum type="arabicPeriod"/>
            </a:pPr>
            <a:r>
              <a:rPr lang="en-US" dirty="0"/>
              <a:t>Run the test =&gt; the test will fail</a:t>
            </a:r>
          </a:p>
          <a:p>
            <a:pPr marL="990600" lvl="1" indent="-457200">
              <a:buFont typeface="+mj-lt"/>
              <a:buAutoNum type="arabicPeriod"/>
            </a:pPr>
            <a:r>
              <a:rPr lang="en-US" dirty="0"/>
              <a:t>Fix the text by writing application code</a:t>
            </a:r>
          </a:p>
          <a:p>
            <a:pPr marL="990600" lvl="1" indent="-457200">
              <a:buFont typeface="+mj-lt"/>
              <a:buAutoNum type="arabicPeriod"/>
            </a:pPr>
            <a:r>
              <a:rPr lang="en-US" dirty="0"/>
              <a:t>Retest the code.</a:t>
            </a:r>
          </a:p>
          <a:p>
            <a:pPr marL="1447800" lvl="2" indent="-457200">
              <a:buFont typeface="+mj-lt"/>
              <a:buAutoNum type="arabicPeriod"/>
            </a:pPr>
            <a:r>
              <a:rPr lang="en-US" dirty="0"/>
              <a:t>If the code fails: refactor the application code and test again</a:t>
            </a:r>
          </a:p>
          <a:p>
            <a:pPr marL="1447800" lvl="2" indent="-457200">
              <a:buFont typeface="+mj-lt"/>
              <a:buAutoNum type="arabicPeriod"/>
            </a:pPr>
            <a:r>
              <a:rPr lang="en-US" dirty="0"/>
              <a:t>If the code does not fail: Repeat for the next test</a:t>
            </a:r>
          </a:p>
          <a:p>
            <a:pPr marL="533400" indent="-457200"/>
            <a:r>
              <a:rPr lang="en-US" dirty="0"/>
              <a:t>Following the TDD process can be useful to ensure that a valid unit test always exists for any class or method that is written. </a:t>
            </a:r>
          </a:p>
          <a:p>
            <a:pPr marL="533400" indent="-457200"/>
            <a:r>
              <a:rPr lang="en-US" dirty="0"/>
              <a:t>Later, when refactoring code, the unit tests give us confidence that we can change the source code without breaking functionality. </a:t>
            </a:r>
          </a:p>
          <a:p>
            <a:pPr marL="533400" indent="-457200"/>
            <a:r>
              <a:rPr lang="en-US" dirty="0"/>
              <a:t>If we mess up somewhere, when the unit tests are run, we can pinpoint exactly where the problem lies. </a:t>
            </a:r>
          </a:p>
          <a:p>
            <a:pPr marL="533400" indent="-457200"/>
            <a:r>
              <a:rPr lang="en-US" dirty="0"/>
              <a:t>This makes debugging much easier.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8672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310" name="Google Shape;310;p29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rgbClr val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21041</TotalTime>
  <Words>1513</Words>
  <Application>Microsoft Office PowerPoint</Application>
  <PresentationFormat>On-screen Show (4:3)</PresentationFormat>
  <Paragraphs>148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2_Custom Design</vt:lpstr>
      <vt:lpstr>Introduction to Testing</vt:lpstr>
      <vt:lpstr>Outline</vt:lpstr>
      <vt:lpstr>PowerPoint Presentation</vt:lpstr>
      <vt:lpstr>What is Testing?</vt:lpstr>
      <vt:lpstr>Basics of Testing</vt:lpstr>
      <vt:lpstr>Basics of Testing (cont…)</vt:lpstr>
      <vt:lpstr>PowerPoint Presentation</vt:lpstr>
      <vt:lpstr>Testing Pyramid</vt:lpstr>
      <vt:lpstr>Testing “Levels”</vt:lpstr>
      <vt:lpstr>Common Types of Testing</vt:lpstr>
      <vt:lpstr>PowerPoint Presentation</vt:lpstr>
      <vt:lpstr>Unit Testing</vt:lpstr>
      <vt:lpstr>Unit Testing</vt:lpstr>
      <vt:lpstr>Unit Testing</vt:lpstr>
      <vt:lpstr>Unit Testing - Benefits</vt:lpstr>
      <vt:lpstr>PowerPoint Presentation</vt:lpstr>
      <vt:lpstr>Test Driven Development</vt:lpstr>
      <vt:lpstr>TDD Process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and OOP</dc:title>
  <dc:creator>Joseph Highe</dc:creator>
  <cp:lastModifiedBy>Joseph Highe</cp:lastModifiedBy>
  <cp:revision>234</cp:revision>
  <dcterms:modified xsi:type="dcterms:W3CDTF">2026-05-21T18:07:09Z</dcterms:modified>
</cp:coreProperties>
</file>