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8"/>
  </p:notesMasterIdLst>
  <p:sldIdLst>
    <p:sldId id="256" r:id="rId2"/>
    <p:sldId id="343" r:id="rId3"/>
    <p:sldId id="362" r:id="rId4"/>
    <p:sldId id="274" r:id="rId5"/>
    <p:sldId id="366" r:id="rId6"/>
    <p:sldId id="364" r:id="rId7"/>
    <p:sldId id="365" r:id="rId8"/>
    <p:sldId id="317" r:id="rId9"/>
    <p:sldId id="318" r:id="rId10"/>
    <p:sldId id="319" r:id="rId11"/>
    <p:sldId id="363" r:id="rId12"/>
    <p:sldId id="294" r:id="rId13"/>
    <p:sldId id="300" r:id="rId14"/>
    <p:sldId id="299" r:id="rId15"/>
    <p:sldId id="301" r:id="rId16"/>
    <p:sldId id="270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54" d="100"/>
          <a:sy n="54" d="100"/>
        </p:scale>
        <p:origin x="78" y="39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FBF54-D46F-48F7-AC61-EED38DB2F72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31971-612A-4A21-A4EE-16E1B1A35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3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771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EC7D-3A60-404A-91DB-E1AE2D168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DCL</a:t>
            </a:r>
            <a:br>
              <a:rPr lang="en-US" dirty="0"/>
            </a:br>
            <a:r>
              <a:rPr lang="en-US" dirty="0"/>
              <a:t>Transactions &amp;</a:t>
            </a:r>
            <a:br>
              <a:rPr lang="en-US" dirty="0"/>
            </a:br>
            <a:r>
              <a:rPr lang="en-US" dirty="0"/>
              <a:t>ACID</a:t>
            </a:r>
          </a:p>
        </p:txBody>
      </p:sp>
    </p:spTree>
    <p:extLst>
      <p:ext uri="{BB962C8B-B14F-4D97-AF65-F5344CB8AC3E}">
        <p14:creationId xmlns:p14="http://schemas.microsoft.com/office/powerpoint/2010/main" val="230947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DCL</a:t>
            </a:r>
          </a:p>
          <a:p>
            <a:r>
              <a:rPr lang="en-US" dirty="0"/>
              <a:t>Transactions &amp; TCL</a:t>
            </a:r>
          </a:p>
          <a:p>
            <a:r>
              <a:rPr lang="en-US" dirty="0"/>
              <a:t>ACID</a:t>
            </a:r>
          </a:p>
          <a:p>
            <a:pPr marL="508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Control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Control Language (DCL) is used to </a:t>
            </a:r>
            <a:r>
              <a:rPr lang="en-US" b="1" dirty="0"/>
              <a:t>control access</a:t>
            </a:r>
            <a:r>
              <a:rPr lang="en-US" dirty="0"/>
              <a:t> to data</a:t>
            </a:r>
          </a:p>
          <a:p>
            <a:r>
              <a:rPr lang="en-US" dirty="0"/>
              <a:t>It defines </a:t>
            </a:r>
            <a:r>
              <a:rPr lang="en-US" i="1" dirty="0"/>
              <a:t>who</a:t>
            </a:r>
            <a:r>
              <a:rPr lang="en-US" dirty="0"/>
              <a:t> can do </a:t>
            </a:r>
            <a:r>
              <a:rPr lang="en-US" i="1" dirty="0"/>
              <a:t>what</a:t>
            </a:r>
            <a:r>
              <a:rPr lang="en-US" dirty="0"/>
              <a:t> on </a:t>
            </a:r>
            <a:r>
              <a:rPr lang="en-US" i="1" dirty="0"/>
              <a:t>which</a:t>
            </a:r>
            <a:r>
              <a:rPr lang="en-US" dirty="0"/>
              <a:t> database objects</a:t>
            </a:r>
          </a:p>
          <a:p>
            <a:r>
              <a:rPr lang="en-US" dirty="0"/>
              <a:t>Keywords:</a:t>
            </a:r>
          </a:p>
          <a:p>
            <a:pPr lvl="1"/>
            <a:r>
              <a:rPr lang="en-US" dirty="0"/>
              <a:t>GRANT: Give privileges to users or roles</a:t>
            </a:r>
          </a:p>
          <a:p>
            <a:pPr lvl="1"/>
            <a:r>
              <a:rPr lang="en-US" dirty="0"/>
              <a:t>REVOKE: Remove privileges from users or roles</a:t>
            </a:r>
          </a:p>
          <a:p>
            <a:r>
              <a:rPr lang="en-US" dirty="0"/>
              <a:t>Users – specific users with passwords that can access a database</a:t>
            </a:r>
          </a:p>
          <a:p>
            <a:pPr lvl="1"/>
            <a:r>
              <a:rPr lang="en-US" dirty="0"/>
              <a:t>CREATE USER &lt;</a:t>
            </a:r>
            <a:r>
              <a:rPr lang="en-US" dirty="0" err="1"/>
              <a:t>user_name</a:t>
            </a:r>
            <a:r>
              <a:rPr lang="en-US" dirty="0"/>
              <a:t>&gt; WITH PASSWORD &lt;</a:t>
            </a:r>
            <a:r>
              <a:rPr lang="en-US" dirty="0" err="1"/>
              <a:t>password_string</a:t>
            </a:r>
            <a:r>
              <a:rPr lang="en-US" dirty="0"/>
              <a:t>&gt;</a:t>
            </a:r>
          </a:p>
          <a:p>
            <a:r>
              <a:rPr lang="en-US" dirty="0"/>
              <a:t>Roles – Grouping used to maintain a set of privileges to easily assign to users.</a:t>
            </a:r>
          </a:p>
          <a:p>
            <a:pPr lvl="1"/>
            <a:r>
              <a:rPr lang="en-US" dirty="0"/>
              <a:t>CREATE ROLE &lt;</a:t>
            </a:r>
            <a:r>
              <a:rPr lang="en-US" dirty="0" err="1"/>
              <a:t>role_name</a:t>
            </a:r>
            <a:r>
              <a:rPr lang="en-US" dirty="0"/>
              <a:t>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641F-AF01-5306-E9FB-C5286BAB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0AAB-7510-5A25-7E2B-3FB89478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E6B4C-A433-A9C6-C8B4-C3D7D7ABD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After creating users or roles, privileges (functionality related to operations) must be given to the entity</a:t>
            </a:r>
          </a:p>
          <a:p>
            <a:pPr lvl="1"/>
            <a:r>
              <a:rPr lang="en-US" dirty="0"/>
              <a:t>GRANT &lt;privilege&gt; ON &lt;table&gt; IN &lt;schema&gt; TO &lt;role/user&gt;</a:t>
            </a:r>
          </a:p>
          <a:p>
            <a:pPr lvl="1"/>
            <a:r>
              <a:rPr lang="en-US" dirty="0"/>
              <a:t>Common privileges are the CRUD operations, or you can provide all Privileges:</a:t>
            </a:r>
          </a:p>
          <a:p>
            <a:pPr lvl="2"/>
            <a:r>
              <a:rPr lang="en-US" dirty="0"/>
              <a:t>GRANT ALL PRIVILEGES ON ALL TABLES IN SCHEMA &lt;</a:t>
            </a:r>
            <a:r>
              <a:rPr lang="en-US" dirty="0" err="1"/>
              <a:t>schema_name</a:t>
            </a:r>
            <a:r>
              <a:rPr lang="en-US" dirty="0"/>
              <a:t>&gt; TO &lt;role/user&gt;</a:t>
            </a:r>
          </a:p>
          <a:p>
            <a:r>
              <a:rPr lang="en-US" dirty="0"/>
              <a:t>Privileges are removed using the REVOKE keyword</a:t>
            </a:r>
          </a:p>
          <a:p>
            <a:pPr lvl="1"/>
            <a:r>
              <a:rPr lang="en-US" dirty="0"/>
              <a:t>REVOKE &lt;privilege (or role)&gt; FROM &lt;role or user&gt;</a:t>
            </a:r>
          </a:p>
          <a:p>
            <a:pPr lvl="2"/>
            <a:r>
              <a:rPr lang="en-US" dirty="0"/>
              <a:t>NOTE: we revoke a roles from a user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1B92-286D-85C1-9E6B-F3B4F6B5B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8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5B21-7BD9-0CE7-170B-C68A7E813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CBB114-EE49-907E-D79C-4F020AB438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8F2336-94E7-577B-7CAC-53E1A35DAD6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Transactions &amp; TCL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52919-075A-0B78-E83F-B812463F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5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3259-795B-BD31-1A19-86667EED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0B83-EFB5-C79E-1818-05F8C516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0E4DF-8282-7D73-C567-38ED5C60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Transaction is a unit of work performed against a database. It is the propagation of one or more changes to the database.</a:t>
            </a:r>
          </a:p>
          <a:p>
            <a:r>
              <a:rPr lang="en-US" dirty="0"/>
              <a:t>Ex: UPDATE, DELETE, INSERT</a:t>
            </a:r>
          </a:p>
          <a:p>
            <a:r>
              <a:rPr lang="en-US" dirty="0"/>
              <a:t>In practice, you will group multiple operations together, and then execute them all at once.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9527-B44D-84EE-3E82-8358D2651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Control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0D3F-47B1-4AC0-8E3B-EC95A40A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 to manage the transactions that are saved to the database </a:t>
            </a:r>
          </a:p>
          <a:p>
            <a:r>
              <a:rPr lang="en-US" dirty="0"/>
              <a:t>BEGIN; … COMMIT;</a:t>
            </a:r>
          </a:p>
          <a:p>
            <a:r>
              <a:rPr lang="en-US" dirty="0"/>
              <a:t>We can group multiple transactional commands together.</a:t>
            </a:r>
          </a:p>
          <a:p>
            <a:r>
              <a:rPr lang="en-US" dirty="0"/>
              <a:t>SAVEPOINT </a:t>
            </a:r>
            <a:r>
              <a:rPr lang="en-US" dirty="0" err="1"/>
              <a:t>name_of_savepoint</a:t>
            </a:r>
            <a:r>
              <a:rPr lang="en-US" dirty="0"/>
              <a:t>; can be used to more granularly control transactions. </a:t>
            </a:r>
          </a:p>
          <a:p>
            <a:r>
              <a:rPr lang="en-US" dirty="0"/>
              <a:t>ROLLBACK; or ROLLBACK TO …;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3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TCL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AD7B5-CC81-6C98-4317-A17B1FF5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6785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COMMIT</a:t>
            </a:r>
            <a:r>
              <a:rPr lang="en-US" dirty="0"/>
              <a:t> – saves all transactions to the database.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5C4E2-95D5-23E1-E7BB-30D944C3F07E}"/>
              </a:ext>
            </a:extLst>
          </p:cNvPr>
          <p:cNvSpPr/>
          <p:nvPr/>
        </p:nvSpPr>
        <p:spPr>
          <a:xfrm>
            <a:off x="380010" y="2157884"/>
            <a:ext cx="8383980" cy="17539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orders(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(1111, 87.52);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UPDATE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=19.63)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= 1234;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=2275;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3C24014-AAD7-A95A-251F-303817E5CFA0}"/>
              </a:ext>
            </a:extLst>
          </p:cNvPr>
          <p:cNvSpPr txBox="1">
            <a:spLocks/>
          </p:cNvSpPr>
          <p:nvPr/>
        </p:nvSpPr>
        <p:spPr>
          <a:xfrm>
            <a:off x="380010" y="4249041"/>
            <a:ext cx="8383980" cy="11738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ROLLBACK</a:t>
            </a:r>
            <a:r>
              <a:rPr lang="en-US" dirty="0"/>
              <a:t> – Undo all transactions since the last COMMIT or ROLLBACK. This is useful in combination with the ‘SAVEPOINT’ command.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6A307B-5CDB-93F7-3DCA-54004C9666F0}"/>
              </a:ext>
            </a:extLst>
          </p:cNvPr>
          <p:cNvSpPr/>
          <p:nvPr/>
        </p:nvSpPr>
        <p:spPr>
          <a:xfrm>
            <a:off x="380010" y="5422927"/>
            <a:ext cx="8383980" cy="12721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=1111;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ROLLBACK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442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TCL Commands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AD7B5-CC81-6C98-4317-A17B1FF5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6785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SAVEPOINT</a:t>
            </a:r>
            <a:r>
              <a:rPr lang="en-US" dirty="0"/>
              <a:t> – Creates a point within a transaction which can be referenced and rolled back to.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5C4E2-95D5-23E1-E7BB-30D944C3F07E}"/>
              </a:ext>
            </a:extLst>
          </p:cNvPr>
          <p:cNvSpPr/>
          <p:nvPr/>
        </p:nvSpPr>
        <p:spPr>
          <a:xfrm>
            <a:off x="380010" y="2157884"/>
            <a:ext cx="8383980" cy="2140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orders(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(1111, 87.52);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SAVEPOINT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my_save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=1111;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ROLLBACK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TO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my_save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180BC4F-4071-5737-3B2A-E4F76B94D9CD}"/>
              </a:ext>
            </a:extLst>
          </p:cNvPr>
          <p:cNvSpPr txBox="1">
            <a:spLocks/>
          </p:cNvSpPr>
          <p:nvPr/>
        </p:nvSpPr>
        <p:spPr>
          <a:xfrm>
            <a:off x="380010" y="4700187"/>
            <a:ext cx="8383980" cy="8063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SET TRANSACTION</a:t>
            </a:r>
            <a:r>
              <a:rPr lang="en-US" dirty="0"/>
              <a:t> – Change the Isolation Level for the Transaction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E2B7C-15D3-DC8E-4D31-CE81320DBF29}"/>
              </a:ext>
            </a:extLst>
          </p:cNvPr>
          <p:cNvSpPr/>
          <p:nvPr/>
        </p:nvSpPr>
        <p:spPr>
          <a:xfrm>
            <a:off x="380010" y="5494945"/>
            <a:ext cx="8383980" cy="12338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 TRANSACTION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ISOLATION LEVEL SERIALIZABLE; 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SQL Commands…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692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38A8-533F-BE64-DE37-7F54C073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373C0-758B-C057-72A5-CA5EC272FC9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36F241A-D862-11E0-34D9-D3733FF82DC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D548E-48BE-92EF-D871-76F4CA6D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37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ACID: Properties of a transaction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A</a:t>
            </a:r>
            <a:r>
              <a:rPr lang="en-US" dirty="0"/>
              <a:t>tomicity – Ensures that all operations either successfully complete or none will, and the transaction will be aborted and the changed reverted.</a:t>
            </a:r>
          </a:p>
          <a:p>
            <a:r>
              <a:rPr lang="en-US" b="1" u="sng" dirty="0"/>
              <a:t>C</a:t>
            </a:r>
            <a:r>
              <a:rPr lang="en-US" dirty="0"/>
              <a:t>onsistency – Ensure that the database properly changes states upon successfully committed transactions. No transaction should have any adverse effect on the data residing in the database/table. Referential integrity and constraints are maintained.</a:t>
            </a:r>
          </a:p>
          <a:p>
            <a:r>
              <a:rPr lang="en-US" b="1" u="sng" dirty="0"/>
              <a:t>I</a:t>
            </a:r>
            <a:r>
              <a:rPr lang="en-US" dirty="0"/>
              <a:t>solation – Enables transactions to operate independently of each other</a:t>
            </a:r>
          </a:p>
          <a:p>
            <a:r>
              <a:rPr lang="en-US" b="1" u="sng" dirty="0"/>
              <a:t>D</a:t>
            </a:r>
            <a:r>
              <a:rPr lang="en-US" dirty="0"/>
              <a:t>urability – Ensures that the result or effect of a committed transaction persists, even in the case of system failure.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9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Isolation Levels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Isolation levels measure the degree to which two transactions will interact with each other over the same data.</a:t>
            </a:r>
          </a:p>
          <a:p>
            <a:r>
              <a:rPr lang="en-US" dirty="0"/>
              <a:t>As our applications become more complex, we must account for transactions that may occur at the same time.</a:t>
            </a:r>
          </a:p>
          <a:p>
            <a:r>
              <a:rPr lang="en-US" dirty="0"/>
              <a:t>The higher the isolation level, the more careful the system is to avoid conflicts; however, locking overhead can increase processing time and decrease concurrency.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Dirty Read</a:t>
            </a:r>
            <a:r>
              <a:rPr lang="en-US" dirty="0"/>
              <a:t> – When a transaction reads data that has been added by a different transaction, which has not yet been committed.</a:t>
            </a:r>
          </a:p>
          <a:p>
            <a:r>
              <a:rPr lang="en-US" b="1" dirty="0"/>
              <a:t>Non-repeatable read</a:t>
            </a:r>
            <a:r>
              <a:rPr lang="en-US" dirty="0"/>
              <a:t> – Transactions re-read data that it has previously read, and finds another committed transaction as modified</a:t>
            </a:r>
          </a:p>
          <a:p>
            <a:r>
              <a:rPr lang="en-US" b="1" dirty="0"/>
              <a:t>Phantom Read</a:t>
            </a:r>
            <a:r>
              <a:rPr lang="en-US" dirty="0"/>
              <a:t> – Transaction returns a query to find that the number of records that satisfies a certain condition has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Read Uncommitted</a:t>
            </a:r>
            <a:r>
              <a:rPr lang="en-US" dirty="0"/>
              <a:t> – Allows the application to read uncommitted data</a:t>
            </a:r>
          </a:p>
          <a:p>
            <a:r>
              <a:rPr lang="en-US" dirty="0"/>
              <a:t>*</a:t>
            </a:r>
            <a:r>
              <a:rPr lang="en-US" b="1" dirty="0"/>
              <a:t>Read Committed</a:t>
            </a:r>
            <a:r>
              <a:rPr lang="en-US" dirty="0"/>
              <a:t> – You can only read data that has been committed – prevents Dirty Read</a:t>
            </a:r>
          </a:p>
          <a:p>
            <a:r>
              <a:rPr lang="en-US" b="1" dirty="0"/>
              <a:t>Repeatable Read</a:t>
            </a:r>
            <a:r>
              <a:rPr lang="en-US" dirty="0"/>
              <a:t> – Prevents non-repeatable read</a:t>
            </a:r>
          </a:p>
          <a:p>
            <a:r>
              <a:rPr lang="en-US" b="1" dirty="0"/>
              <a:t>Serializable</a:t>
            </a:r>
            <a:r>
              <a:rPr lang="en-US" dirty="0"/>
              <a:t> – You do not allow transactions to occur simultaneously – prevents Phantom Read</a:t>
            </a:r>
          </a:p>
          <a:p>
            <a:endParaRPr lang="en-US" dirty="0"/>
          </a:p>
          <a:p>
            <a:pPr marL="50800" indent="0">
              <a:buNone/>
            </a:pPr>
            <a:r>
              <a:rPr lang="en-US" dirty="0"/>
              <a:t>*Default level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1726</TotalTime>
  <Words>804</Words>
  <Application>Microsoft Office PowerPoint</Application>
  <PresentationFormat>On-screen Show (4:3)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Revature</vt:lpstr>
      <vt:lpstr>DCL Transactions &amp; ACID</vt:lpstr>
      <vt:lpstr>Outline</vt:lpstr>
      <vt:lpstr>PowerPoint Presentation</vt:lpstr>
      <vt:lpstr>DCL</vt:lpstr>
      <vt:lpstr>Privileges</vt:lpstr>
      <vt:lpstr>PowerPoint Presentation</vt:lpstr>
      <vt:lpstr>Transactions</vt:lpstr>
      <vt:lpstr>Transaction Control Language </vt:lpstr>
      <vt:lpstr>TCL Commands</vt:lpstr>
      <vt:lpstr>TCL Commands </vt:lpstr>
      <vt:lpstr>PowerPoint Presentation</vt:lpstr>
      <vt:lpstr>ACID: Properties of a transaction</vt:lpstr>
      <vt:lpstr>Transaction Isolation Levels</vt:lpstr>
      <vt:lpstr>Transaction Problems</vt:lpstr>
      <vt:lpstr>Transaction Solutions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Continued</dc:title>
  <dc:creator>Bryn Portella</dc:creator>
  <cp:lastModifiedBy>Joseph Highe</cp:lastModifiedBy>
  <cp:revision>16</cp:revision>
  <dcterms:created xsi:type="dcterms:W3CDTF">2021-04-26T13:52:06Z</dcterms:created>
  <dcterms:modified xsi:type="dcterms:W3CDTF">2026-06-24T04:55:57Z</dcterms:modified>
</cp:coreProperties>
</file>