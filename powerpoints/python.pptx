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91"/>
  </p:notesMasterIdLst>
  <p:handoutMasterIdLst>
    <p:handoutMasterId r:id="rId92"/>
  </p:handoutMasterIdLst>
  <p:sldIdLst>
    <p:sldId id="256" r:id="rId2"/>
    <p:sldId id="257" r:id="rId3"/>
    <p:sldId id="357" r:id="rId4"/>
    <p:sldId id="343" r:id="rId5"/>
    <p:sldId id="358" r:id="rId6"/>
    <p:sldId id="359" r:id="rId7"/>
    <p:sldId id="370" r:id="rId8"/>
    <p:sldId id="360" r:id="rId9"/>
    <p:sldId id="369" r:id="rId10"/>
    <p:sldId id="400" r:id="rId11"/>
    <p:sldId id="361" r:id="rId12"/>
    <p:sldId id="362" r:id="rId13"/>
    <p:sldId id="405" r:id="rId14"/>
    <p:sldId id="402" r:id="rId15"/>
    <p:sldId id="401" r:id="rId16"/>
    <p:sldId id="403" r:id="rId17"/>
    <p:sldId id="404" r:id="rId18"/>
    <p:sldId id="406" r:id="rId19"/>
    <p:sldId id="384" r:id="rId20"/>
    <p:sldId id="363" r:id="rId21"/>
    <p:sldId id="364" r:id="rId22"/>
    <p:sldId id="448" r:id="rId23"/>
    <p:sldId id="408" r:id="rId24"/>
    <p:sldId id="365" r:id="rId25"/>
    <p:sldId id="410" r:id="rId26"/>
    <p:sldId id="411" r:id="rId27"/>
    <p:sldId id="368" r:id="rId28"/>
    <p:sldId id="367" r:id="rId29"/>
    <p:sldId id="412" r:id="rId30"/>
    <p:sldId id="413" r:id="rId31"/>
    <p:sldId id="414" r:id="rId32"/>
    <p:sldId id="415" r:id="rId33"/>
    <p:sldId id="366" r:id="rId34"/>
    <p:sldId id="416" r:id="rId35"/>
    <p:sldId id="371" r:id="rId36"/>
    <p:sldId id="372" r:id="rId37"/>
    <p:sldId id="373" r:id="rId38"/>
    <p:sldId id="374" r:id="rId39"/>
    <p:sldId id="377" r:id="rId40"/>
    <p:sldId id="380" r:id="rId41"/>
    <p:sldId id="421" r:id="rId42"/>
    <p:sldId id="378" r:id="rId43"/>
    <p:sldId id="425" r:id="rId44"/>
    <p:sldId id="430" r:id="rId45"/>
    <p:sldId id="426" r:id="rId46"/>
    <p:sldId id="427" r:id="rId47"/>
    <p:sldId id="428" r:id="rId48"/>
    <p:sldId id="429" r:id="rId49"/>
    <p:sldId id="447" r:id="rId50"/>
    <p:sldId id="422" r:id="rId51"/>
    <p:sldId id="381" r:id="rId52"/>
    <p:sldId id="379" r:id="rId53"/>
    <p:sldId id="420" r:id="rId54"/>
    <p:sldId id="382" r:id="rId55"/>
    <p:sldId id="436" r:id="rId56"/>
    <p:sldId id="431" r:id="rId57"/>
    <p:sldId id="434" r:id="rId58"/>
    <p:sldId id="435" r:id="rId59"/>
    <p:sldId id="432" r:id="rId60"/>
    <p:sldId id="433" r:id="rId61"/>
    <p:sldId id="445" r:id="rId62"/>
    <p:sldId id="423" r:id="rId63"/>
    <p:sldId id="385" r:id="rId64"/>
    <p:sldId id="437" r:id="rId65"/>
    <p:sldId id="439" r:id="rId66"/>
    <p:sldId id="386" r:id="rId67"/>
    <p:sldId id="440" r:id="rId68"/>
    <p:sldId id="387" r:id="rId69"/>
    <p:sldId id="441" r:id="rId70"/>
    <p:sldId id="438" r:id="rId71"/>
    <p:sldId id="443" r:id="rId72"/>
    <p:sldId id="389" r:id="rId73"/>
    <p:sldId id="442" r:id="rId74"/>
    <p:sldId id="424" r:id="rId75"/>
    <p:sldId id="391" r:id="rId76"/>
    <p:sldId id="388" r:id="rId77"/>
    <p:sldId id="390" r:id="rId78"/>
    <p:sldId id="446" r:id="rId79"/>
    <p:sldId id="418" r:id="rId80"/>
    <p:sldId id="392" r:id="rId81"/>
    <p:sldId id="393" r:id="rId82"/>
    <p:sldId id="395" r:id="rId83"/>
    <p:sldId id="394" r:id="rId84"/>
    <p:sldId id="419" r:id="rId85"/>
    <p:sldId id="397" r:id="rId86"/>
    <p:sldId id="396" r:id="rId87"/>
    <p:sldId id="398" r:id="rId88"/>
    <p:sldId id="444" r:id="rId89"/>
    <p:sldId id="399" r:id="rId9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389" autoAdjust="0"/>
  </p:normalViewPr>
  <p:slideViewPr>
    <p:cSldViewPr snapToGrid="0">
      <p:cViewPr varScale="1">
        <p:scale>
          <a:sx n="55" d="100"/>
          <a:sy n="55" d="100"/>
        </p:scale>
        <p:origin x="1628" y="34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reference/lexical_analysis.html#keywords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fstring.help/cheat/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 to Python</a:t>
            </a:r>
          </a:p>
          <a:p>
            <a:r>
              <a:rPr lang="en-US" dirty="0"/>
              <a:t>Python Building Blocks</a:t>
            </a:r>
          </a:p>
          <a:p>
            <a:r>
              <a:rPr lang="en-US" dirty="0"/>
              <a:t>Python Functions</a:t>
            </a:r>
          </a:p>
          <a:p>
            <a:r>
              <a:rPr lang="en-US" dirty="0"/>
              <a:t>Building with Python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Python &amp; OOP</a:t>
            </a:r>
          </a:p>
          <a:p>
            <a:r>
              <a:rPr lang="en-US" dirty="0"/>
              <a:t>Python Data Structures</a:t>
            </a:r>
          </a:p>
          <a:p>
            <a:r>
              <a:rPr lang="en-US" dirty="0"/>
              <a:t>Iteration</a:t>
            </a:r>
          </a:p>
          <a:p>
            <a:r>
              <a:rPr lang="en-US" dirty="0"/>
              <a:t>Python Exceptions</a:t>
            </a:r>
          </a:p>
          <a:p>
            <a:r>
              <a:rPr lang="en-US" dirty="0"/>
              <a:t>Python Functional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High-level, general purpose programming language created by Guido Van Rossum in 1991</a:t>
            </a:r>
          </a:p>
          <a:p>
            <a:r>
              <a:rPr lang="en-US" dirty="0"/>
              <a:t>Interpreted Language – Code is executed line-by-line. No compilation step is required*</a:t>
            </a:r>
          </a:p>
          <a:p>
            <a:r>
              <a:rPr lang="en-US" dirty="0"/>
              <a:t>Emphasizes readability – uses indentation to define code blocks</a:t>
            </a:r>
          </a:p>
          <a:p>
            <a:r>
              <a:rPr lang="en-US" dirty="0"/>
              <a:t>Dynamically types – variable types are determined at runtime</a:t>
            </a:r>
          </a:p>
          <a:p>
            <a:r>
              <a:rPr lang="en-US" dirty="0"/>
              <a:t>Massive standard library – “batteries included” philosophy</a:t>
            </a:r>
          </a:p>
          <a:p>
            <a:r>
              <a:rPr lang="en-US" dirty="0"/>
              <a:t>Huge ecosystem of third-party packages</a:t>
            </a:r>
          </a:p>
          <a:p>
            <a:r>
              <a:rPr lang="en-US" dirty="0"/>
              <a:t>Used across web development, data science, AI/ML, automation, scripting and more</a:t>
            </a:r>
          </a:p>
          <a:p>
            <a:r>
              <a:rPr lang="en-US" dirty="0"/>
              <a:t>Beginner-friendly, but powerful enough for enterprise and research use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1282-E2BA-F4B2-DBF4-3C096882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2CA83-B2E9-45A8-5540-CAF4E1498A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E1BA1-98EB-2176-C770-803BA829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Compilers</a:t>
            </a:r>
            <a:r>
              <a:rPr lang="en-US" dirty="0"/>
              <a:t>: Translates entire source code into machine code prior to executing code.</a:t>
            </a:r>
          </a:p>
          <a:p>
            <a:pPr lvl="1"/>
            <a:r>
              <a:rPr lang="en-US" dirty="0"/>
              <a:t>Compiled Languages: (Java, C, C++) require a build step before a program can run</a:t>
            </a:r>
          </a:p>
          <a:p>
            <a:r>
              <a:rPr lang="en-US" b="1" dirty="0"/>
              <a:t>Interpreters</a:t>
            </a:r>
            <a:r>
              <a:rPr lang="en-US" dirty="0"/>
              <a:t>: Translates and executes source code line-by-line at runtime</a:t>
            </a:r>
          </a:p>
          <a:p>
            <a:pPr lvl="1"/>
            <a:r>
              <a:rPr lang="en-US" dirty="0"/>
              <a:t>Interpreted Languages: (Python, Ruby) execute directly from source code</a:t>
            </a:r>
          </a:p>
          <a:p>
            <a:r>
              <a:rPr lang="en-US" dirty="0"/>
              <a:t>Compiled Languages typically has faster execution</a:t>
            </a:r>
          </a:p>
          <a:p>
            <a:r>
              <a:rPr lang="en-US" dirty="0"/>
              <a:t>Interpreted Languages typically offer faster dev cycles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DB05F0-E862-F58C-5416-D92CB1D9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Interpreter vs Compiler</a:t>
            </a:r>
          </a:p>
        </p:txBody>
      </p:sp>
    </p:spTree>
    <p:extLst>
      <p:ext uri="{BB962C8B-B14F-4D97-AF65-F5344CB8AC3E}">
        <p14:creationId xmlns:p14="http://schemas.microsoft.com/office/powerpoint/2010/main" val="289496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DCA1-23B2-1DC5-41AA-B6414295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5B240-CD92-7E9D-D22E-54492FE953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B5B1E-5D77-B78A-AA8A-DB2D03F02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Before you can use Python, you must download it from </a:t>
            </a:r>
            <a:r>
              <a:rPr lang="en-US" dirty="0">
                <a:hlinkClick r:id="rId2"/>
              </a:rPr>
              <a:t>python.org</a:t>
            </a:r>
            <a:endParaRPr lang="en-US" dirty="0"/>
          </a:p>
          <a:p>
            <a:r>
              <a:rPr lang="en-US" dirty="0"/>
              <a:t>After downloading &amp; installing Python, you may verify the installation by running the following commands in your console/terminal: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--version</a:t>
            </a:r>
            <a:r>
              <a:rPr lang="en-US" dirty="0"/>
              <a:t>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python3 --version</a:t>
            </a:r>
            <a:r>
              <a:rPr lang="en-US" dirty="0"/>
              <a:t> to verify python3 version for </a:t>
            </a:r>
            <a:r>
              <a:rPr lang="en-US" dirty="0" err="1"/>
              <a:t>linux</a:t>
            </a:r>
            <a:r>
              <a:rPr lang="en-US" dirty="0"/>
              <a:t>/mac)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--version</a:t>
            </a:r>
          </a:p>
          <a:p>
            <a:r>
              <a:rPr lang="en-US" dirty="0"/>
              <a:t>Note: Linux/macOS typically have Python 2 pre-installed, make sure to configure you are using python 3.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D134AF-A151-91AE-4A07-C5A45413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 &amp; </a:t>
            </a:r>
            <a:r>
              <a:rPr lang="en-US" dirty="0" err="1"/>
              <a:t>PiP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AC0B-11BF-97BC-53DE-64A3B73B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46973-9AF3-A2C0-2F1B-414CCC05AE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B181F-00F2-4B61-006B-7171D0884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06003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“Pip Installs Packages” – Pythons default package manager</a:t>
            </a:r>
          </a:p>
          <a:p>
            <a:r>
              <a:rPr lang="en-US" dirty="0"/>
              <a:t>To use Pip, you can run the ‘Pip’ command in your command line/terminal </a:t>
            </a: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Install a Package: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Install Specific Version: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version.num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Uninstall Package: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uninstall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List installed Packages: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list</a:t>
            </a: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Snapshot Environment Dependencies: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freeze &gt; requirements.txt</a:t>
            </a:r>
          </a:p>
          <a:p>
            <a:pPr lvl="1"/>
            <a:r>
              <a:rPr lang="en-US" b="1" dirty="0">
                <a:latin typeface="+mn-lt"/>
                <a:cs typeface="Courier New" panose="02070309020205020404" pitchFamily="49" charset="0"/>
              </a:rPr>
              <a:t>Install dependencies from requirements file: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–r requirements.txt</a:t>
            </a:r>
          </a:p>
          <a:p>
            <a:r>
              <a:rPr lang="en-US" dirty="0" err="1"/>
              <a:t>PyPI</a:t>
            </a:r>
            <a:r>
              <a:rPr lang="en-US" dirty="0"/>
              <a:t> – “</a:t>
            </a:r>
            <a:r>
              <a:rPr lang="en-US" b="1" dirty="0"/>
              <a:t>Py</a:t>
            </a:r>
            <a:r>
              <a:rPr lang="en-US" dirty="0"/>
              <a:t>thon </a:t>
            </a:r>
            <a:r>
              <a:rPr lang="en-US" b="1" dirty="0"/>
              <a:t>P</a:t>
            </a:r>
            <a:r>
              <a:rPr lang="en-US" dirty="0"/>
              <a:t>ackage </a:t>
            </a:r>
            <a:r>
              <a:rPr lang="en-US" b="1" dirty="0"/>
              <a:t>I</a:t>
            </a:r>
            <a:r>
              <a:rPr lang="en-US" dirty="0"/>
              <a:t>ndex” – official repository for third-party python packages (</a:t>
            </a:r>
            <a:r>
              <a:rPr lang="en-US" dirty="0" err="1">
                <a:hlinkClick r:id="rId2"/>
              </a:rPr>
              <a:t>PyPI</a:t>
            </a:r>
            <a:r>
              <a:rPr lang="en-US" dirty="0">
                <a:hlinkClick r:id="rId2"/>
              </a:rPr>
              <a:t> · The Python Package Index</a:t>
            </a:r>
            <a:r>
              <a:rPr lang="en-US" dirty="0"/>
              <a:t>)</a:t>
            </a:r>
          </a:p>
          <a:p>
            <a:r>
              <a:rPr lang="en-US" dirty="0" err="1"/>
              <a:t>PyPI</a:t>
            </a:r>
            <a:r>
              <a:rPr lang="en-US" dirty="0"/>
              <a:t> hosts thousands of open-source packages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A09462-43F9-F61D-FC6E-04FEEA45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PiP</a:t>
            </a:r>
            <a:r>
              <a:rPr lang="en-US" dirty="0"/>
              <a:t> &amp; </a:t>
            </a:r>
            <a:r>
              <a:rPr lang="en-US" dirty="0" err="1"/>
              <a:t>PyPl</a:t>
            </a:r>
            <a:r>
              <a:rPr lang="en-US" dirty="0"/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395877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8B21-EAA5-A466-DC31-ABEB26E4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9A2D6-8165-3C3D-BCB8-ABE00604A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136F3-E7C6-8F66-DCA8-0A8414F4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0600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do not require an IDE to practice with Python.</a:t>
            </a:r>
          </a:p>
          <a:p>
            <a:r>
              <a:rPr lang="en-US" dirty="0"/>
              <a:t>REPL (Read, Evaluate, Print, Loop) is an interactive programming environment built into python</a:t>
            </a:r>
          </a:p>
          <a:p>
            <a:r>
              <a:rPr lang="en-US" dirty="0"/>
              <a:t>You Launch REPL by running the command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en-US" dirty="0"/>
              <a:t> in your command line/terminal</a:t>
            </a:r>
          </a:p>
          <a:p>
            <a:r>
              <a:rPr lang="en-US" dirty="0"/>
              <a:t>You will see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dirty="0"/>
              <a:t>’ which indicates that it is working, and will accept and run python code provided.</a:t>
            </a:r>
          </a:p>
          <a:p>
            <a:r>
              <a:rPr lang="en-US" dirty="0"/>
              <a:t>REPL is:</a:t>
            </a:r>
          </a:p>
          <a:p>
            <a:pPr lvl="1"/>
            <a:r>
              <a:rPr lang="en-US" dirty="0"/>
              <a:t>An easy-to-use tool</a:t>
            </a:r>
          </a:p>
          <a:p>
            <a:pPr lvl="1"/>
            <a:r>
              <a:rPr lang="en-US" dirty="0"/>
              <a:t>Allows you to quickly test ideas, expressions, and small code snippets</a:t>
            </a:r>
          </a:p>
          <a:p>
            <a:pPr lvl="1"/>
            <a:r>
              <a:rPr lang="en-US" dirty="0"/>
              <a:t>Not suited for writing full programs – no persistence between sessions</a:t>
            </a:r>
          </a:p>
          <a:p>
            <a:r>
              <a:rPr lang="en-US" dirty="0"/>
              <a:t>To exit REPL: run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dirty="0"/>
              <a:t>’ function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877127-FBD2-D5C2-C2AB-88BFFA42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</a:t>
            </a:r>
          </a:p>
        </p:txBody>
      </p:sp>
    </p:spTree>
    <p:extLst>
      <p:ext uri="{BB962C8B-B14F-4D97-AF65-F5344CB8AC3E}">
        <p14:creationId xmlns:p14="http://schemas.microsoft.com/office/powerpoint/2010/main" val="45394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4B53-DF1B-6482-2909-93926A64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B674-B835-0ED9-8D46-BACCC7A893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F1050-11F8-F4FB-B312-B6F8876BF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Comments are lines in your code that are ignored by the interpreter (or compiler)</a:t>
            </a:r>
          </a:p>
          <a:p>
            <a:r>
              <a:rPr lang="en-US" dirty="0"/>
              <a:t>Used to explain, document, and annotate code for human readers</a:t>
            </a:r>
          </a:p>
          <a:p>
            <a:r>
              <a:rPr lang="en-US" dirty="0"/>
              <a:t>Single-line comments use the ‘#’ symbol</a:t>
            </a:r>
          </a:p>
          <a:p>
            <a:pPr lvl="1"/>
            <a:r>
              <a:rPr lang="en-US" dirty="0"/>
              <a:t>Python has no dedicated multi-line comment syntax</a:t>
            </a:r>
          </a:p>
          <a:p>
            <a:r>
              <a:rPr lang="en-US" dirty="0"/>
              <a:t>Docstrings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“““Triple Quotes”””</a:t>
            </a:r>
            <a:r>
              <a:rPr lang="en-US" dirty="0"/>
              <a:t>) are used to document functions, classes and modules.</a:t>
            </a:r>
          </a:p>
          <a:p>
            <a:r>
              <a:rPr lang="en-US" dirty="0"/>
              <a:t>Docstrings are technically strings, not comments, but serve a documentation purpose.</a:t>
            </a:r>
          </a:p>
          <a:p>
            <a:r>
              <a:rPr lang="en-US" dirty="0"/>
              <a:t>Good Comments explain </a:t>
            </a:r>
            <a:r>
              <a:rPr lang="en-US" b="1" i="1" dirty="0"/>
              <a:t>why</a:t>
            </a:r>
            <a:r>
              <a:rPr lang="en-US" dirty="0"/>
              <a:t>, not </a:t>
            </a:r>
            <a:r>
              <a:rPr lang="en-US" b="1" i="1" dirty="0"/>
              <a:t>what </a:t>
            </a:r>
            <a:r>
              <a:rPr lang="en-US" dirty="0"/>
              <a:t>– The code shows the “what”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F1C976-3DB3-7CA0-2C10-1CB6F14B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29805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1F9B-2A8A-83AA-026D-F4B5D6D5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AEC904-5C72-0B97-3800-E18E6BD04E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7C2661A-06EA-AA8D-BBF2-8656783815D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Building Blocks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7D491-D142-699A-B57C-954F478EB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4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5CD7-E06E-AB43-591C-6FF2883E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8FD7A-DC9C-DC51-152A-4284701E8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ECA0E-DC09-022E-C4BE-534BB7326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Python has 5* primitive datatypes: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int, float, str, bool, None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: whole numbers, positive or negative, with no decimal point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: numbers with a decimal point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: sequence of characters, enclosed in single or double quotes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: represents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value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To declare a python variable, provide the variable name, followed by an equals sign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), then a value.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 = “Revature”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You can use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function to check a variable’s type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Types can be explicitly converted using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int(), float(), str(), bool()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functions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*Technically there is another primitive type: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but we won’t be covering it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4A7C74-7C14-42B1-E9C2-B1D36FFE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Datatypes</a:t>
            </a:r>
          </a:p>
        </p:txBody>
      </p:sp>
    </p:spTree>
    <p:extLst>
      <p:ext uri="{BB962C8B-B14F-4D97-AF65-F5344CB8AC3E}">
        <p14:creationId xmlns:p14="http://schemas.microsoft.com/office/powerpoint/2010/main" val="18840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7471-C6E4-46D2-76E7-7DC62968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706DA-C2A1-5C72-CBAC-920A927277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54C96-54BC-C6D2-5ED3-A2F290F6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5040234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Operators are symbols that perform some action on values and variables and result in an expression</a:t>
            </a:r>
          </a:p>
          <a:p>
            <a:r>
              <a:rPr lang="en-US" sz="2400" dirty="0"/>
              <a:t>Operands are the values on which an operator performs actions.</a:t>
            </a:r>
          </a:p>
          <a:p>
            <a:pPr lvl="1"/>
            <a:r>
              <a:rPr lang="en-US" sz="2000" dirty="0"/>
              <a:t>E.g., x + y</a:t>
            </a:r>
          </a:p>
          <a:p>
            <a:pPr lvl="1"/>
            <a:r>
              <a:rPr lang="en-US" sz="2000" dirty="0"/>
              <a:t>Both ‘x’ and ‘y’ are operands</a:t>
            </a:r>
          </a:p>
          <a:p>
            <a:pPr lvl="1"/>
            <a:r>
              <a:rPr lang="en-US" sz="2000" dirty="0"/>
              <a:t>The ‘+’ is the operator</a:t>
            </a:r>
          </a:p>
          <a:p>
            <a:r>
              <a:rPr lang="en-US" sz="2400" dirty="0"/>
              <a:t>Most operators perform actions using two operands. These are known as ‘Binary Operators’</a:t>
            </a:r>
          </a:p>
          <a:p>
            <a:pPr lvl="1"/>
            <a:r>
              <a:rPr lang="en-US" sz="2000" dirty="0"/>
              <a:t>Operators which perform actions on a single operand are known as ‘Unary Operators’</a:t>
            </a:r>
          </a:p>
          <a:p>
            <a:r>
              <a:rPr lang="en-US" sz="2400" dirty="0"/>
              <a:t>Python has the following types of operators:</a:t>
            </a:r>
          </a:p>
          <a:p>
            <a:pPr lvl="1"/>
            <a:r>
              <a:rPr lang="en-US" sz="2000" dirty="0"/>
              <a:t>Arithmetic</a:t>
            </a:r>
          </a:p>
          <a:p>
            <a:pPr lvl="1"/>
            <a:r>
              <a:rPr lang="en-US" sz="2000" dirty="0"/>
              <a:t>Comparison</a:t>
            </a:r>
          </a:p>
          <a:p>
            <a:pPr lvl="1"/>
            <a:r>
              <a:rPr lang="en-US" sz="2000" dirty="0"/>
              <a:t>Assignment</a:t>
            </a:r>
          </a:p>
          <a:p>
            <a:pPr lvl="1"/>
            <a:r>
              <a:rPr lang="en-US" sz="2000" dirty="0"/>
              <a:t>Logical</a:t>
            </a:r>
          </a:p>
          <a:p>
            <a:pPr lvl="1"/>
            <a:r>
              <a:rPr lang="en-US" sz="2000" dirty="0"/>
              <a:t>Membership</a:t>
            </a:r>
          </a:p>
          <a:p>
            <a:pPr lvl="1"/>
            <a:r>
              <a:rPr lang="en-US" sz="2000" dirty="0"/>
              <a:t>Identity</a:t>
            </a:r>
          </a:p>
          <a:p>
            <a:pPr lvl="1"/>
            <a:r>
              <a:rPr lang="en-US" sz="2000" dirty="0"/>
              <a:t>Bitwise (we’ll ignore these for now)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45C4A-7FCB-7BC6-813F-7D9FC291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26916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5F5E-D0BF-C43E-0948-3E21539B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C7151-A2FC-478F-6048-3BE6C34C9B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C8C7A-6F0B-F34C-8FBE-A136F7FE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977595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Arithmetic Operators</a:t>
            </a:r>
            <a:r>
              <a:rPr lang="en-US" sz="2400" dirty="0"/>
              <a:t>: Binary operators which perform actions on operands which have numeric values. </a:t>
            </a:r>
          </a:p>
          <a:p>
            <a:r>
              <a:rPr lang="en-US" sz="2400" dirty="0"/>
              <a:t>These operators also return a numeric value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2779C5-AF53-7660-94B2-2616679D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(Arithmetic)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E331FE-FCD2-4220-97DC-039192B0C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324359"/>
              </p:ext>
            </p:extLst>
          </p:nvPr>
        </p:nvGraphicFramePr>
        <p:xfrm>
          <a:off x="221062" y="2405351"/>
          <a:ext cx="8701875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10165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Adds two values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+ 3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Subtracts the second value from the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–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Multiples two values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*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62091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Divides the first value by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/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3.333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937175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Floor division – divides and rounds down to the nearest 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//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82136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Modulo operator – returns the remainder of a division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10 %3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1217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Exponentiation operator – raises the first number to second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 ** 3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818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58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13A3-AC1E-0CC9-2CFB-DC60E6DF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C419F-7A11-F6E1-17D1-A66F2E79B9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C5A27-8750-C311-5F37-1776C834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176357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Assignment Operators</a:t>
            </a:r>
            <a:r>
              <a:rPr lang="en-US" sz="2400" dirty="0"/>
              <a:t>: Binary operators used to set the value of a variable </a:t>
            </a:r>
          </a:p>
          <a:p>
            <a:r>
              <a:rPr lang="en-US" sz="2400" dirty="0"/>
              <a:t>The first operand must be a variable, and the second is the value to assign to the variable.</a:t>
            </a:r>
          </a:p>
          <a:p>
            <a:r>
              <a:rPr lang="en-US" sz="2400" dirty="0"/>
              <a:t>Assignment operators do not return a value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BD3BDC-7CB2-3313-6BE9-3AC83842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(Assignment)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6B1674-AFA7-6680-989B-B220FCCF5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82945"/>
              </p:ext>
            </p:extLst>
          </p:nvPr>
        </p:nvGraphicFramePr>
        <p:xfrm>
          <a:off x="221062" y="3087055"/>
          <a:ext cx="870187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40309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13057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Basic assignment operator. Assigns value of second operand to the variable.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= 5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Summation assignment. Adds the value of the second operand to the current value of the variable.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+= 5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Equivalent to: x = x + 5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Subtraction assignment. Subtracts the value of the second operand to the current value of the variable.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 -= 5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Equivalent to: x = x - 5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62091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Multiplication assignment. Multiplies the value of the variable by the value of the second 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 *= 5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Equivalent to: x = x *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937175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Division assignment. Divides the value of the variable by the value of the second operand.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 /= 5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Equivalent to: x = x /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82136"/>
                  </a:ext>
                </a:extLst>
              </a:tr>
            </a:tbl>
          </a:graphicData>
        </a:graphic>
      </p:graphicFrame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7176496-AF44-3AAB-5BB3-5196D58DEFBF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542927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Note</a:t>
            </a:r>
            <a:r>
              <a:rPr lang="en-US" sz="1400" dirty="0"/>
              <a:t>: This is </a:t>
            </a:r>
            <a:r>
              <a:rPr lang="en-US" sz="1400" b="1" dirty="0"/>
              <a:t>not</a:t>
            </a:r>
            <a:r>
              <a:rPr lang="en-US" sz="1400" dirty="0"/>
              <a:t> the full list of 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29500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3615-74BC-947B-EA17-6138ACD0F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79CE1-3A43-67B0-F32B-59318DE16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4C603-3ECC-F3A3-32D7-5CE58453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1412479"/>
          </a:xfrm>
        </p:spPr>
        <p:txBody>
          <a:bodyPr>
            <a:normAutofit/>
          </a:bodyPr>
          <a:lstStyle/>
          <a:p>
            <a:r>
              <a:rPr lang="en-US" sz="2400" b="1" dirty="0"/>
              <a:t>Comparison Operators</a:t>
            </a:r>
            <a:r>
              <a:rPr lang="en-US" sz="2400" dirty="0"/>
              <a:t>: Binary operators which compare the value of both operands and always return a </a:t>
            </a:r>
            <a:r>
              <a:rPr lang="en-US" sz="2400" dirty="0" err="1"/>
              <a:t>boolean</a:t>
            </a:r>
            <a:r>
              <a:rPr lang="en-US" sz="2400" dirty="0"/>
              <a:t> value based on the type of evaluation performed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F1F2C4-ECDA-00D2-275B-18C299DB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(Comparison)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624B0C-B244-6D22-B67E-73B1341E3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8679"/>
              </p:ext>
            </p:extLst>
          </p:nvPr>
        </p:nvGraphicFramePr>
        <p:xfrm>
          <a:off x="221062" y="2735957"/>
          <a:ext cx="870187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10165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value of both operands are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 ==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value of both operands are not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!=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first operand is less than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&lt;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62091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first operand is more than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&gt;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937175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first operand is equal or less than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&lt;=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82136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if the first operand is equal or more than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&gt;= 5</a:t>
                      </a:r>
                      <a:br>
                        <a:rPr lang="en-US" sz="1400" dirty="0"/>
                      </a:br>
                      <a:r>
                        <a:rPr lang="en-US" sz="1400" b="1" dirty="0"/>
                        <a:t>returns</a:t>
                      </a:r>
                      <a:r>
                        <a:rPr lang="en-US" sz="1400" dirty="0"/>
                        <a:t>: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81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72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F772-B38E-EA82-6D8C-ED62732C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BDE6E-EEB1-9EC0-639E-71665C208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307BF-70B2-B77D-B7A5-8C3BF4CEF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1412479"/>
          </a:xfrm>
        </p:spPr>
        <p:txBody>
          <a:bodyPr>
            <a:normAutofit/>
          </a:bodyPr>
          <a:lstStyle/>
          <a:p>
            <a:r>
              <a:rPr lang="en-US" sz="2400" b="1" dirty="0"/>
              <a:t>Logical Operators</a:t>
            </a:r>
            <a:r>
              <a:rPr lang="en-US" sz="2400" dirty="0"/>
              <a:t>: Binary and Unary operators which are performed on </a:t>
            </a:r>
            <a:r>
              <a:rPr lang="en-US" sz="2400" dirty="0" err="1"/>
              <a:t>boolean</a:t>
            </a:r>
            <a:r>
              <a:rPr lang="en-US" sz="2400" dirty="0"/>
              <a:t> values and return a </a:t>
            </a:r>
            <a:r>
              <a:rPr lang="en-US" sz="2400" dirty="0" err="1"/>
              <a:t>boolean</a:t>
            </a:r>
            <a:r>
              <a:rPr lang="en-US" sz="2400" dirty="0"/>
              <a:t> value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5B92AD-7F3F-56D9-F602-1CAC9659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(Logical)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302830-B6D2-79AC-D8DC-8EDD36116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95268"/>
              </p:ext>
            </p:extLst>
          </p:nvPr>
        </p:nvGraphicFramePr>
        <p:xfrm>
          <a:off x="221063" y="2612303"/>
          <a:ext cx="87018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10165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both operands are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= 3</a:t>
                      </a:r>
                    </a:p>
                    <a:p>
                      <a:r>
                        <a:rPr lang="en-US" sz="1400" dirty="0"/>
                        <a:t>x &lt; 10 and x &gt; 5</a:t>
                      </a:r>
                    </a:p>
                    <a:p>
                      <a:r>
                        <a:rPr lang="en-US" sz="1400" b="1" dirty="0"/>
                        <a:t>returns:</a:t>
                      </a:r>
                      <a:r>
                        <a:rPr lang="en-US" sz="1400" dirty="0"/>
                        <a:t>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at least one of the operands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= 3</a:t>
                      </a:r>
                    </a:p>
                    <a:p>
                      <a:r>
                        <a:rPr lang="en-US" sz="1400" dirty="0"/>
                        <a:t>x &lt; 10 or x &gt; 5</a:t>
                      </a:r>
                    </a:p>
                    <a:p>
                      <a:r>
                        <a:rPr lang="en-US" sz="1400" b="1" dirty="0"/>
                        <a:t>returns:</a:t>
                      </a:r>
                      <a:r>
                        <a:rPr lang="en-US" sz="1400" dirty="0"/>
                        <a:t>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Unary operators which returns the opposite Boolean value of the operand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i.e. </a:t>
                      </a:r>
                    </a:p>
                    <a:p>
                      <a:r>
                        <a:rPr lang="en-US" sz="1400" dirty="0"/>
                        <a:t>returns true if the operand is false </a:t>
                      </a:r>
                    </a:p>
                    <a:p>
                      <a:r>
                        <a:rPr lang="en-US" sz="1400" dirty="0"/>
                        <a:t>returns false if the operand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(100 == 100)</a:t>
                      </a:r>
                    </a:p>
                    <a:p>
                      <a:r>
                        <a:rPr lang="en-US" sz="1400" b="1" dirty="0"/>
                        <a:t>returns:</a:t>
                      </a:r>
                      <a:r>
                        <a:rPr lang="en-US" sz="1400" dirty="0"/>
                        <a:t>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62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33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6399-33B0-001D-1408-8803BB5F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72546-9E41-EB8B-F68D-D8A68F428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F7728-6D39-9286-3C03-7687521E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23478"/>
            <a:ext cx="8542927" cy="1608406"/>
          </a:xfrm>
        </p:spPr>
        <p:txBody>
          <a:bodyPr>
            <a:normAutofit/>
          </a:bodyPr>
          <a:lstStyle/>
          <a:p>
            <a:r>
              <a:rPr lang="en-US" sz="2400" b="1" dirty="0"/>
              <a:t>Membership Operators</a:t>
            </a:r>
            <a:r>
              <a:rPr lang="en-US" sz="2400" dirty="0"/>
              <a:t>: binary operators which determine if a sequence or value is present in an object</a:t>
            </a:r>
          </a:p>
          <a:p>
            <a:pPr lvl="1"/>
            <a:r>
              <a:rPr lang="en-US" sz="2000" dirty="0"/>
              <a:t>i.e. Used to check if a data structure contains a value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E76559-4C4E-6E83-C488-DD3830D1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(Membership &amp; Identity)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74BBE8-A2E0-69EE-23B6-1B22DC943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87580"/>
              </p:ext>
            </p:extLst>
          </p:nvPr>
        </p:nvGraphicFramePr>
        <p:xfrm>
          <a:off x="221062" y="2931884"/>
          <a:ext cx="87018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10165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the first operand value exists in the second operand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fruits = [“apple”, “banana”]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“cherry” in fruits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144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not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the first operand value does not exist in the second operand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fruits = [“apple”, “banana”]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“cherry” not in fruits</a:t>
                      </a:r>
                    </a:p>
                    <a:p>
                      <a:r>
                        <a:rPr lang="en-US" sz="1400" b="1" dirty="0"/>
                        <a:t>Result</a:t>
                      </a:r>
                      <a:r>
                        <a:rPr lang="en-US" sz="1400" dirty="0"/>
                        <a:t>: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77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1BA-205D-63C2-A0A4-6BD8B6F1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60616-2D0F-7EE9-C488-3BF0529459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1E5778-5A10-7BF9-7B67-6B3CB8F0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(Membership &amp; Identity)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0DA0DF-64D8-170C-6BB9-D953B8690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791014"/>
              </p:ext>
            </p:extLst>
          </p:nvPr>
        </p:nvGraphicFramePr>
        <p:xfrm>
          <a:off x="221062" y="2461846"/>
          <a:ext cx="870187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09">
                  <a:extLst>
                    <a:ext uri="{9D8B030D-6E8A-4147-A177-3AD203B41FA5}">
                      <a16:colId xmlns:a16="http://schemas.microsoft.com/office/drawing/2014/main" val="3918818438"/>
                    </a:ext>
                  </a:extLst>
                </a:gridCol>
                <a:gridCol w="4210165">
                  <a:extLst>
                    <a:ext uri="{9D8B030D-6E8A-4147-A177-3AD203B41FA5}">
                      <a16:colId xmlns:a16="http://schemas.microsoft.com/office/drawing/2014/main" val="149263362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559364002"/>
                    </a:ext>
                  </a:extLst>
                </a:gridCol>
              </a:tblGrid>
              <a:tr h="147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101119"/>
                  </a:ext>
                </a:extLst>
              </a:tr>
              <a:tr h="6447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both operands are the same object 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= ["apple", "banana"]</a:t>
                      </a:r>
                    </a:p>
                    <a:p>
                      <a:r>
                        <a:rPr lang="en-US" sz="1400" dirty="0"/>
                        <a:t>y = ["apple", "banana"]</a:t>
                      </a:r>
                    </a:p>
                    <a:p>
                      <a:r>
                        <a:rPr lang="en-US" sz="1400" dirty="0"/>
                        <a:t>z = x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print(x is z) # true</a:t>
                      </a:r>
                    </a:p>
                    <a:p>
                      <a:r>
                        <a:rPr lang="en-US" sz="1400" dirty="0"/>
                        <a:t>print(x is y) #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40200"/>
                  </a:ext>
                </a:extLst>
              </a:tr>
              <a:tr h="6447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is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 if both operands are not the same object 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 = ["apple", "banana"]</a:t>
                      </a:r>
                    </a:p>
                    <a:p>
                      <a:r>
                        <a:rPr lang="en-US" sz="1400" dirty="0"/>
                        <a:t>y = ["apple", "banana"]</a:t>
                      </a:r>
                    </a:p>
                    <a:p>
                      <a:r>
                        <a:rPr lang="en-US" sz="1400" dirty="0"/>
                        <a:t>z = x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print(x is not z) # false</a:t>
                      </a:r>
                    </a:p>
                    <a:p>
                      <a:r>
                        <a:rPr lang="en-US" sz="1400" dirty="0"/>
                        <a:t>print(x is not y) #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16120"/>
                  </a:ext>
                </a:extLst>
              </a:tr>
            </a:tbl>
          </a:graphicData>
        </a:graphic>
      </p:graphicFrame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305460D-A564-3511-2260-02B5BE756B1E}"/>
              </a:ext>
            </a:extLst>
          </p:cNvPr>
          <p:cNvSpPr txBox="1">
            <a:spLocks/>
          </p:cNvSpPr>
          <p:nvPr/>
        </p:nvSpPr>
        <p:spPr>
          <a:xfrm>
            <a:off x="300535" y="1307244"/>
            <a:ext cx="8542927" cy="1154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Identity Operators</a:t>
            </a:r>
            <a:r>
              <a:rPr lang="en-US" sz="2400" dirty="0"/>
              <a:t>: binary operators which are used to compare if two operands share the same memory location</a:t>
            </a:r>
          </a:p>
          <a:p>
            <a:pPr lvl="1"/>
            <a:r>
              <a:rPr lang="en-US" sz="2000" dirty="0"/>
              <a:t>i.e. checks if two values are the same, or two objects are the exact same</a:t>
            </a:r>
          </a:p>
        </p:txBody>
      </p:sp>
    </p:spTree>
    <p:extLst>
      <p:ext uri="{BB962C8B-B14F-4D97-AF65-F5344CB8AC3E}">
        <p14:creationId xmlns:p14="http://schemas.microsoft.com/office/powerpoint/2010/main" val="67277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623A-C6C0-C7A8-37F6-7D8D02D9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D834-D427-2C38-5077-62B4ABC89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7D259-7BA9-112A-4A96-FB465F77F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String Interning is the process by which python reuses the same memory for identical string values</a:t>
            </a:r>
          </a:p>
          <a:p>
            <a:r>
              <a:rPr lang="en-US" dirty="0"/>
              <a:t>Interned strings with the same value share the same memory address</a:t>
            </a:r>
          </a:p>
          <a:p>
            <a:r>
              <a:rPr lang="en-US" dirty="0"/>
              <a:t>This means that both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’ and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dirty="0"/>
              <a:t>’ can return True for two string variables with the same value.</a:t>
            </a:r>
          </a:p>
          <a:p>
            <a:r>
              <a:rPr lang="en-US" dirty="0"/>
              <a:t>Python automatically interns strings that look like valid identifiers (no spaces or special characters)</a:t>
            </a:r>
          </a:p>
          <a:p>
            <a:pPr lvl="1"/>
            <a:r>
              <a:rPr lang="en-US" dirty="0"/>
              <a:t>Strings which contain spaces, special characters or are generated at runtime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“hello ” + “world”</a:t>
            </a:r>
            <a:r>
              <a:rPr lang="en-US" dirty="0"/>
              <a:t>), may or may not be interned (no guarantee)</a:t>
            </a:r>
          </a:p>
          <a:p>
            <a:r>
              <a:rPr lang="en-US" dirty="0"/>
              <a:t>You can force python to intern a string by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sys.intern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Note: you will need to import ‘sys’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61BEC1-DC59-0D9C-081D-5B97F0BB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Interning</a:t>
            </a:r>
          </a:p>
        </p:txBody>
      </p:sp>
    </p:spTree>
    <p:extLst>
      <p:ext uri="{BB962C8B-B14F-4D97-AF65-F5344CB8AC3E}">
        <p14:creationId xmlns:p14="http://schemas.microsoft.com/office/powerpoint/2010/main" val="196556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C866-B44C-A223-0B06-A3098DA2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92252-9D7A-DFA0-30CF-44CBC411D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3493B-F1EE-5E25-C05A-7077086C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Identifier – a name given to a variable, function, class or other object</a:t>
            </a:r>
          </a:p>
          <a:p>
            <a:pPr lvl="1"/>
            <a:r>
              <a:rPr lang="en-US" dirty="0"/>
              <a:t>Identifiers must start with a letter or underscore, not a number</a:t>
            </a:r>
          </a:p>
          <a:p>
            <a:pPr lvl="1"/>
            <a:r>
              <a:rPr lang="en-US" dirty="0"/>
              <a:t>Identifiers may contain letters, numbers and underscores</a:t>
            </a:r>
          </a:p>
          <a:p>
            <a:pPr lvl="1"/>
            <a:r>
              <a:rPr lang="en-US" dirty="0"/>
              <a:t>Identifiers cannot include spaces or special characters</a:t>
            </a:r>
          </a:p>
          <a:p>
            <a:pPr lvl="1"/>
            <a:r>
              <a:rPr lang="en-US" dirty="0"/>
              <a:t>Identifiers are case-sensitive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,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are different identifiers)</a:t>
            </a:r>
          </a:p>
          <a:p>
            <a:pPr lvl="1"/>
            <a:r>
              <a:rPr lang="en-US" dirty="0"/>
              <a:t>The naming convention for variables and functions in python is </a:t>
            </a:r>
            <a:r>
              <a:rPr lang="en-US" b="1" dirty="0" err="1"/>
              <a:t>snake_casing</a:t>
            </a:r>
            <a:r>
              <a:rPr lang="en-US" dirty="0"/>
              <a:t> (all lower-case and use underscores between words)</a:t>
            </a:r>
          </a:p>
          <a:p>
            <a:pPr lvl="1"/>
            <a:r>
              <a:rPr lang="en-US" dirty="0"/>
              <a:t>The naming convention for classes in python is </a:t>
            </a:r>
            <a:r>
              <a:rPr lang="en-US" b="1" dirty="0" err="1"/>
              <a:t>PascalCasing</a:t>
            </a:r>
            <a:r>
              <a:rPr lang="en-US" dirty="0"/>
              <a:t> (the first letter of each word is upper-case, with no spaces)</a:t>
            </a:r>
          </a:p>
          <a:p>
            <a:r>
              <a:rPr lang="en-US" dirty="0"/>
              <a:t>Keywords – a special category of reserved words that has specific uses in python. </a:t>
            </a:r>
          </a:p>
          <a:p>
            <a:pPr lvl="1"/>
            <a:r>
              <a:rPr lang="en-US" dirty="0"/>
              <a:t>A full list of keywords can by found here: </a:t>
            </a:r>
            <a:r>
              <a:rPr lang="fr-FR" dirty="0">
                <a:hlinkClick r:id="rId2"/>
              </a:rPr>
              <a:t>Python 3.14.4 documentation | Keywords</a:t>
            </a:r>
            <a:endParaRPr lang="fr-FR" dirty="0"/>
          </a:p>
          <a:p>
            <a:pPr lvl="1"/>
            <a:r>
              <a:rPr lang="fr-FR" dirty="0"/>
              <a:t>Common examples of keywords include: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if,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for,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class, return, import,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False,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851681-41D5-9490-FA04-EA2EE05B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 &amp; Keywords</a:t>
            </a:r>
          </a:p>
        </p:txBody>
      </p:sp>
    </p:spTree>
    <p:extLst>
      <p:ext uri="{BB962C8B-B14F-4D97-AF65-F5344CB8AC3E}">
        <p14:creationId xmlns:p14="http://schemas.microsoft.com/office/powerpoint/2010/main" val="224668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FE48-7520-5EC6-98CD-56B25BFD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78B4E-1F98-16A2-6923-030AB01EEC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72225-B941-B07C-4212-EB9789E7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Input</a:t>
            </a:r>
            <a:r>
              <a:rPr lang="en-US" dirty="0"/>
              <a:t>: Capture user input from the terminal using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US" dirty="0"/>
              <a:t> function</a:t>
            </a:r>
          </a:p>
          <a:p>
            <a:pPr lvl="1"/>
            <a:r>
              <a:rPr lang="en-US" dirty="0"/>
              <a:t>You can pass a string argument to the input() function to display a message to the user:</a:t>
            </a:r>
          </a:p>
          <a:p>
            <a:pPr lvl="2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input(“provide input: ”)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US" dirty="0"/>
              <a:t> function always returns a string, regardless of what the user types</a:t>
            </a:r>
          </a:p>
          <a:p>
            <a:pPr lvl="1"/>
            <a:r>
              <a:rPr lang="en-US" dirty="0"/>
              <a:t>When expecting a specific type, make sure to use the built-in type-casting functions</a:t>
            </a:r>
          </a:p>
          <a:p>
            <a:pPr lvl="2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int(input(“Type a number: ”))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9A8992-440D-0B6A-172E-A00AC27A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279035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1A47-73C5-B411-AC0A-707D6A49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859C8-3A8F-36CA-9391-6147B48923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CDF3F-94B7-29F5-C5EB-5B207D83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Output</a:t>
            </a:r>
            <a:r>
              <a:rPr lang="en-US" dirty="0"/>
              <a:t>: Display information to the user using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US" dirty="0"/>
              <a:t> function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US" dirty="0"/>
              <a:t> accepts one or more </a:t>
            </a:r>
          </a:p>
          <a:p>
            <a:pPr lvl="1"/>
            <a:r>
              <a:rPr lang="en-US" dirty="0"/>
              <a:t>f-strings (formatted string literals) are the modern, preferred way to format output</a:t>
            </a:r>
          </a:p>
          <a:p>
            <a:r>
              <a:rPr lang="en-US" dirty="0"/>
              <a:t>f-strings:</a:t>
            </a:r>
          </a:p>
          <a:p>
            <a:pPr lvl="1"/>
            <a:r>
              <a:rPr lang="en-US" dirty="0"/>
              <a:t>prefixed with an ‘f’ and use ‘{}’ to embed expressions: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f“Hello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{name}”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f“5+5 equals: {5+5}”</a:t>
            </a:r>
          </a:p>
          <a:p>
            <a:pPr lvl="1"/>
            <a:r>
              <a:rPr lang="en-US" dirty="0"/>
              <a:t>f-strings have a lot of formatting options – you can view them here: </a:t>
            </a:r>
            <a:r>
              <a:rPr lang="en-US" dirty="0">
                <a:hlinkClick r:id="rId2"/>
              </a:rPr>
              <a:t>https://fstring.help/cheat/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8A95DC-47C7-D36D-E199-06BC4951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103072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4B5D-0213-81A9-825D-A96ACFF8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821B0-377C-4954-257B-7CC3C625F8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D7B3965-EC9C-7267-90F0-BA341AB0971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42D6B-335E-7B86-FB8E-25E73E02C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45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496E-DA5E-1C79-304C-86C80B35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AC235-FDEE-75EB-9316-02861508F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E822E-512C-C427-3816-3FE91B19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function is a reusable, named block of code that performs a specific task</a:t>
            </a:r>
          </a:p>
          <a:p>
            <a:r>
              <a:rPr lang="en-US" dirty="0"/>
              <a:t>Functions allow you to </a:t>
            </a:r>
            <a:r>
              <a:rPr lang="en-US" b="1" dirty="0"/>
              <a:t>write code once</a:t>
            </a:r>
            <a:r>
              <a:rPr lang="en-US" dirty="0"/>
              <a:t> and use it </a:t>
            </a:r>
            <a:r>
              <a:rPr lang="en-US" b="1" dirty="0"/>
              <a:t>many times</a:t>
            </a:r>
          </a:p>
          <a:p>
            <a:r>
              <a:rPr lang="en-US" dirty="0"/>
              <a:t>Help break programs into smaller, manageable, logical chunks</a:t>
            </a:r>
          </a:p>
          <a:p>
            <a:r>
              <a:rPr lang="en-US" dirty="0"/>
              <a:t>Promotes DRY (don’t repeat yourself) principle</a:t>
            </a:r>
          </a:p>
          <a:p>
            <a:r>
              <a:rPr lang="en-US" dirty="0"/>
              <a:t>Improves code readability (functions should be named, descriptively) &amp; maintainability (narrow where bugs exist)</a:t>
            </a:r>
          </a:p>
          <a:p>
            <a:r>
              <a:rPr lang="en-US" dirty="0"/>
              <a:t>Python has a suite of built-in functions which provide functionality</a:t>
            </a:r>
          </a:p>
          <a:p>
            <a:r>
              <a:rPr lang="en-US" dirty="0"/>
              <a:t>Python developers can also created user-defined functions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43A970-446D-E418-1820-BF21B13F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257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2AE93-3017-3A30-53B4-00DE74F4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B2F90-0166-DF03-22D5-58A178AD70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4723C-EE3A-16D4-574E-A74DEE3E1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147276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a function by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keyword, followed by the function name, then parentheses with optional parameter list, and finally a colon.</a:t>
            </a:r>
          </a:p>
          <a:p>
            <a:r>
              <a:rPr lang="en-US" dirty="0"/>
              <a:t>Here is an example of the </a:t>
            </a:r>
            <a:r>
              <a:rPr lang="en-US" i="1" dirty="0"/>
              <a:t>function signature: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EA17A0-582B-A831-79D5-8CD7AE8E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Declaration &amp; Syntax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F1329F-D449-28A9-62FE-C681217F9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01" y="3055567"/>
            <a:ext cx="4086795" cy="2219635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E87B74C-F754-134E-4691-93155BCDEDD2}"/>
              </a:ext>
            </a:extLst>
          </p:cNvPr>
          <p:cNvSpPr txBox="1">
            <a:spLocks/>
          </p:cNvSpPr>
          <p:nvPr/>
        </p:nvSpPr>
        <p:spPr>
          <a:xfrm>
            <a:off x="380009" y="5376554"/>
            <a:ext cx="8383980" cy="147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Remember that python used indention to define code blocks. Your function statement(s) should therefore be indented.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0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9D552-E7C7-5AD3-1647-EABC40B6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FE637-5361-9A4C-5004-219AE0AE0E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30133-7CFF-2CF4-B1E4-27B070B2E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Functions must be defined before it can be called/invoked</a:t>
            </a:r>
          </a:p>
          <a:p>
            <a:r>
              <a:rPr lang="en-US" dirty="0"/>
              <a:t>Function names follow </a:t>
            </a:r>
            <a:r>
              <a:rPr lang="en-US" dirty="0" err="1"/>
              <a:t>snake_case</a:t>
            </a:r>
            <a:r>
              <a:rPr lang="en-US" dirty="0"/>
              <a:t> convention</a:t>
            </a:r>
          </a:p>
          <a:p>
            <a:r>
              <a:rPr lang="en-US" dirty="0"/>
              <a:t>An empty function must contain 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dirty="0"/>
              <a:t>, or it will result in a syntax error.</a:t>
            </a:r>
          </a:p>
          <a:p>
            <a:r>
              <a:rPr lang="en-US" dirty="0"/>
              <a:t>Functions can optionally include a docstring as the first line of the body</a:t>
            </a:r>
          </a:p>
          <a:p>
            <a:r>
              <a:rPr lang="en-US" dirty="0"/>
              <a:t>Best Practices:</a:t>
            </a:r>
          </a:p>
          <a:p>
            <a:pPr lvl="1"/>
            <a:r>
              <a:rPr lang="en-US" dirty="0"/>
              <a:t>When defining a function, ensure that the name of the function is descriptive. </a:t>
            </a:r>
          </a:p>
          <a:p>
            <a:pPr lvl="1"/>
            <a:r>
              <a:rPr lang="en-US" dirty="0"/>
              <a:t>Each function should serve a single purpose.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D831B7-8EAB-7749-4780-BE42074C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Declaration &amp; Syntax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93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4BF3C-BED1-6C23-5C92-2DFD233A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884D-653C-745F-EB4B-A6FB1223C6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5F087-1B2F-00BA-94C6-3E18A3EE3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18098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To use a function, you must invoke (or call) it</a:t>
            </a:r>
          </a:p>
          <a:p>
            <a:r>
              <a:rPr lang="en-US" dirty="0"/>
              <a:t>A function is called by writing its named, followed by parentheses.</a:t>
            </a:r>
          </a:p>
          <a:p>
            <a:r>
              <a:rPr lang="en-US" dirty="0"/>
              <a:t>Within those parentheses, you can pass arguments, which is the input data given to a function</a:t>
            </a:r>
          </a:p>
          <a:p>
            <a:r>
              <a:rPr lang="en-US" dirty="0"/>
              <a:t>Depending on how the function is defined, you may be required to pass zero to many arguments to invoke the function without error</a:t>
            </a:r>
          </a:p>
          <a:p>
            <a:r>
              <a:rPr lang="en-US" dirty="0"/>
              <a:t>Functions can call other functions within their body. This is known as </a:t>
            </a:r>
            <a:r>
              <a:rPr lang="en-US" b="1" dirty="0"/>
              <a:t>function composition</a:t>
            </a:r>
          </a:p>
          <a:p>
            <a:r>
              <a:rPr lang="en-US" dirty="0"/>
              <a:t>A function can even call itself. This is known as </a:t>
            </a:r>
            <a:r>
              <a:rPr lang="en-US" b="1" dirty="0"/>
              <a:t>recursion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6FFF5E-2410-63D3-77D5-33A3512C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Invocation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FA6352-0301-2B01-787F-909D9CB38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10" y="4472181"/>
            <a:ext cx="5344271" cy="1343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BE6C05-0188-470E-DD62-97E80736A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29" y="4253075"/>
            <a:ext cx="2410161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3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8071-F99B-16BA-716C-017B05BE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635D5-376C-D504-307C-61825BE4FC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3BCD6-D9D2-BC69-D3F6-2FF26AF9E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parameter is a variable defined in the function signature (inside the parentheses)</a:t>
            </a:r>
          </a:p>
          <a:p>
            <a:r>
              <a:rPr lang="en-US" dirty="0"/>
              <a:t>Parameters do not have a value, they are given a value when the function is called, and arguments are passed to the invoked function.</a:t>
            </a:r>
          </a:p>
          <a:p>
            <a:r>
              <a:rPr lang="en-US" dirty="0"/>
              <a:t>Parameters allow functions to accept input values</a:t>
            </a:r>
          </a:p>
          <a:p>
            <a:r>
              <a:rPr lang="en-US" dirty="0"/>
              <a:t>A function may have zero or more parameters.</a:t>
            </a:r>
          </a:p>
          <a:p>
            <a:r>
              <a:rPr lang="en-US" dirty="0"/>
              <a:t>There are three different categories of parameters:</a:t>
            </a:r>
          </a:p>
          <a:p>
            <a:pPr lvl="1"/>
            <a:r>
              <a:rPr lang="en-US" b="1" dirty="0"/>
              <a:t>Positional parameters</a:t>
            </a:r>
            <a:r>
              <a:rPr lang="en-US" dirty="0"/>
              <a:t>: most basic type. Matched by order received.</a:t>
            </a:r>
          </a:p>
          <a:p>
            <a:pPr lvl="1"/>
            <a:r>
              <a:rPr lang="en-US" b="1" dirty="0"/>
              <a:t>Default parameters</a:t>
            </a:r>
            <a:r>
              <a:rPr lang="en-US" dirty="0"/>
              <a:t>: assigned a fallback value if no argument is provided</a:t>
            </a:r>
          </a:p>
          <a:p>
            <a:pPr lvl="1"/>
            <a:r>
              <a:rPr lang="en-US" b="1" dirty="0"/>
              <a:t>Arbitrary parameters</a:t>
            </a:r>
            <a:r>
              <a:rPr lang="en-US" dirty="0"/>
              <a:t>: two types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en-US" dirty="0"/>
              <a:t>. Allows a function to accept any number of arguments.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845756-67A4-C2E2-669A-7BBD0912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Parameters</a:t>
            </a:r>
          </a:p>
        </p:txBody>
      </p:sp>
    </p:spTree>
    <p:extLst>
      <p:ext uri="{BB962C8B-B14F-4D97-AF65-F5344CB8AC3E}">
        <p14:creationId xmlns:p14="http://schemas.microsoft.com/office/powerpoint/2010/main" val="410981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8956-6B05-3F07-5734-AAA37091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45D7-B35E-03B7-0746-E5B65C336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4A3EA-F9EE-CD6A-348B-724E73F2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643213"/>
          </a:xfrm>
        </p:spPr>
        <p:txBody>
          <a:bodyPr>
            <a:normAutofit/>
          </a:bodyPr>
          <a:lstStyle/>
          <a:p>
            <a:r>
              <a:rPr lang="en-US" dirty="0"/>
              <a:t>Most, simple functions use positional parameters.</a:t>
            </a:r>
          </a:p>
          <a:p>
            <a:r>
              <a:rPr lang="en-US" dirty="0"/>
              <a:t>When invoking a function, arguments must be given to the function call, matching the same length of the parameter list</a:t>
            </a:r>
          </a:p>
          <a:p>
            <a:pPr lvl="1"/>
            <a:r>
              <a:rPr lang="en-US" dirty="0"/>
              <a:t>i.e. if the function has 2 parameters, 2 arguments must be provided when called.</a:t>
            </a:r>
          </a:p>
          <a:p>
            <a:r>
              <a:rPr lang="en-US" dirty="0"/>
              <a:t>Each parameter is accessed in the function body using the given parameter name.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26A9DC-D60E-4977-291E-EB1E996D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Positional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36C23-FA22-8F9E-6C99-A9B312D2A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01" y="5233732"/>
            <a:ext cx="499179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6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0F0F-981B-D7E6-E85F-CD672F90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0DD29-3262-3A85-5FFD-56895FC43E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F4E9C-8E28-FD5F-F75B-5DA50C84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09" y="1351160"/>
            <a:ext cx="8383980" cy="41556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When defining a function, you may assign a fallback or default value to any parameter using the equals ( = ) operator.</a:t>
            </a:r>
          </a:p>
          <a:p>
            <a:r>
              <a:rPr lang="en-US" dirty="0"/>
              <a:t>Note: after defining a default parameter, all proceeding parameters must also be given a default value; or must be arbitrary parameters.</a:t>
            </a:r>
          </a:p>
          <a:p>
            <a:pPr lvl="1"/>
            <a:r>
              <a:rPr lang="en-US" dirty="0"/>
              <a:t>E.g. this will give an error:</a:t>
            </a:r>
            <a:br>
              <a:rPr lang="en-US" dirty="0"/>
            </a:br>
            <a:r>
              <a:rPr lang="en-US" dirty="0"/>
              <a:t>	def </a:t>
            </a:r>
            <a:r>
              <a:rPr lang="en-US" dirty="0" err="1"/>
              <a:t>will_give_error</a:t>
            </a:r>
            <a:r>
              <a:rPr lang="en-US" dirty="0"/>
              <a:t>(arg1 = 5, arg2):</a:t>
            </a:r>
          </a:p>
          <a:p>
            <a:r>
              <a:rPr lang="en-US" dirty="0"/>
              <a:t>When a function with default parameters is called, you are not required to provide an argument for the default parameters. </a:t>
            </a:r>
          </a:p>
          <a:p>
            <a:pPr lvl="1"/>
            <a:r>
              <a:rPr lang="en-US" dirty="0"/>
              <a:t>If you do provide an argument, the value given will supersede the default value.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EC34DD-FB56-E321-6DFC-6CCD8B6B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Default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D9FFA4-572D-C28F-A051-419A06BA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33" y="5499941"/>
            <a:ext cx="4896533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F88E-B0BE-FA25-C3C7-37298E13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64F79-7923-12A1-15EA-08315D48A2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6F6A5-29F1-0ED7-35B2-95D8BDCBA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37190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If you don’t know how many arguments the function will receive (or want to allow for a varying amount of arguments), you can define a parameter with a preceding  asterisk (*).</a:t>
            </a:r>
          </a:p>
          <a:p>
            <a:r>
              <a:rPr lang="en-US" dirty="0"/>
              <a:t>This will store all following arguments given in a collection called a Tuple and allow the function to perform actions on that collection.</a:t>
            </a:r>
          </a:p>
          <a:p>
            <a:r>
              <a:rPr lang="en-US" dirty="0"/>
              <a:t>When invoked, a function using arbitrary parameters can accept zero to many arguments.</a:t>
            </a:r>
          </a:p>
          <a:p>
            <a:r>
              <a:rPr lang="en-US" dirty="0"/>
              <a:t>You cannot define additional positional, default or arbitrary parameters after an arbitrary parameter in your function signature.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2E9572-959B-2034-74FE-B976A82D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Arbitrary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5D1BFE-BC15-4F75-91B1-7B37F560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4851190"/>
            <a:ext cx="577295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8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9789-E375-9159-3884-32A65216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47D6F-5585-A167-2E2D-525522F095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63F4A-5B04-B869-D3AF-B2A5E5BAA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82929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you use a double asterisk (**) then your function can accept an arbitrary number of key-value pair arguments</a:t>
            </a:r>
          </a:p>
          <a:p>
            <a:r>
              <a:rPr lang="en-US" dirty="0"/>
              <a:t>This will store the arguments given in a collection called a </a:t>
            </a:r>
            <a:r>
              <a:rPr lang="en-US" dirty="0" err="1"/>
              <a:t>dict</a:t>
            </a:r>
            <a:r>
              <a:rPr lang="en-US" dirty="0"/>
              <a:t> (dictionary), where data is stored as key-value pairs</a:t>
            </a:r>
          </a:p>
          <a:p>
            <a:r>
              <a:rPr lang="en-US" dirty="0"/>
              <a:t>After declaring an Arbitrary Keyword parameter, you cannot define additional parameters in your function signature.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57BF93-1FDF-9671-29BE-AC48E47E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Arbitrary Keyword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109AF-3752-B533-8D38-092F6FEC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84" y="4310743"/>
            <a:ext cx="6611273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4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321E-E6C6-12C6-4FC7-E051A66A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2342D-9F0C-F974-1E63-29A2BEB760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0602E-AF69-8047-6EAA-12AA4827F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46479"/>
            <a:ext cx="8383980" cy="311498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/>
              <a:t> keyword is used to send a value, from a function, back to the caller</a:t>
            </a:r>
          </a:p>
          <a:p>
            <a:r>
              <a:rPr lang="en-US" dirty="0"/>
              <a:t>A function without a return statement 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dirty="0"/>
              <a:t> by default.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dirty="0"/>
              <a:t>keyword also immediately exits the function, so no other code in the function body is executed</a:t>
            </a:r>
          </a:p>
          <a:p>
            <a:r>
              <a:rPr lang="en-US" dirty="0"/>
              <a:t>A function can return any data type, including multiple values (if multiple values are returned, the function returns a tuple).</a:t>
            </a:r>
          </a:p>
          <a:p>
            <a:r>
              <a:rPr lang="en-US" dirty="0"/>
              <a:t>Values returned from a function are an expression which can be assigned to variables, or passed as arguments to other functions</a:t>
            </a:r>
          </a:p>
          <a:p>
            <a:r>
              <a:rPr lang="en-US" dirty="0"/>
              <a:t>The ability to return data from a function makes them more flexible and reusable than simply printing information to the console.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308030-D42C-7CE2-23C6-F363DD5B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Return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2646E-8ECD-9F49-25B1-1FA00849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59" y="4691156"/>
            <a:ext cx="5782482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5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BCF5-6E1A-EDFB-F0A6-8220D64E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F9FA6C-3E21-484D-A686-9C9AD1C2B9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C1A3EAF-5E3B-D1CC-B059-ACBA315254B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with Python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6DF1C-E893-7EC6-EB0E-ECD049BBB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86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F54B-B2CA-7399-981C-584AE3F6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8A2EB-61D4-8C64-C3BB-21F388AA72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B8D28-1733-8A33-4052-490E5EE2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A module is a file containing Python code (including functions, classes, variables, etc…)</a:t>
            </a:r>
          </a:p>
          <a:p>
            <a:r>
              <a:rPr lang="en-US" dirty="0"/>
              <a:t>Modules allow code to be organized across multiple files</a:t>
            </a:r>
          </a:p>
          <a:p>
            <a:r>
              <a:rPr lang="en-US" dirty="0"/>
              <a:t>Every .</a:t>
            </a:r>
            <a:r>
              <a:rPr lang="en-US" dirty="0" err="1"/>
              <a:t>py</a:t>
            </a:r>
            <a:r>
              <a:rPr lang="en-US" dirty="0"/>
              <a:t> file is technically a module.</a:t>
            </a:r>
          </a:p>
          <a:p>
            <a:r>
              <a:rPr lang="en-US" dirty="0"/>
              <a:t>Python ships with a large collection of built-in modules, known as the </a:t>
            </a:r>
            <a:r>
              <a:rPr lang="en-US" b="1" dirty="0"/>
              <a:t>standard library</a:t>
            </a:r>
          </a:p>
          <a:p>
            <a:pPr lvl="1"/>
            <a:r>
              <a:rPr lang="en-US" dirty="0"/>
              <a:t>The python standard library includes: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dirty="0"/>
              <a:t>, and much more</a:t>
            </a:r>
          </a:p>
          <a:p>
            <a:r>
              <a:rPr lang="en-US" dirty="0"/>
              <a:t>Third-party modules can be installed using PIP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38A186-FBAF-7F8E-5298-08D0D986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86009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1B7D8-6E14-6A02-B99A-DC67528B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67F8D-558B-2FA8-224D-6AE04FEFB5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A05EF-8597-058F-3CD9-8E0D9A0A0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statement can be used to bring modules into your current file.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To access contents from a module declare the module name, followed by a dot: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module_name.function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You can also import specific items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keywords with the following syntax: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item1, item2, etc…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Note: You can use an asterisk (a.k.a. </a:t>
            </a:r>
            <a:r>
              <a:rPr lang="en-US" i="1" dirty="0">
                <a:latin typeface="+mn-lt"/>
                <a:cs typeface="Courier New" panose="02070309020205020404" pitchFamily="49" charset="0"/>
              </a:rPr>
              <a:t>wildcard import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) to import all items, but this is typically discouraged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It is common to use an alias to give imported modules an easy-to-reference name in your file: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my_custom_utility_functions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cfunc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Aliases help with readability in your code.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Python searches for modules in the following order: built-in -&gt; current directly -&gt; installed packages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Note: to reference package, use the dot operator: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my_package.my_module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alias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E0B668-CCB7-5B54-C7AB-3A8EFD08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Imports</a:t>
            </a:r>
          </a:p>
        </p:txBody>
      </p:sp>
    </p:spTree>
    <p:extLst>
      <p:ext uri="{BB962C8B-B14F-4D97-AF65-F5344CB8AC3E}">
        <p14:creationId xmlns:p14="http://schemas.microsoft.com/office/powerpoint/2010/main" val="33704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84A7-3EED-E02F-5D88-F505918E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6752-C488-5C3B-B706-80D457138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6FDCE-DD0F-A746-2C4D-90FC36011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Debugging is the process of finding and fixing errors in code</a:t>
            </a:r>
          </a:p>
          <a:p>
            <a:r>
              <a:rPr lang="en-US" dirty="0"/>
              <a:t>Most IDEs have built-in debugging tools, but you can use python’s built-in debugger module called ‘</a:t>
            </a:r>
            <a:r>
              <a:rPr lang="en-US" dirty="0" err="1"/>
              <a:t>pdb</a:t>
            </a:r>
            <a:r>
              <a:rPr lang="en-US" dirty="0"/>
              <a:t>’ (</a:t>
            </a:r>
            <a:r>
              <a:rPr lang="en-US" b="1" dirty="0"/>
              <a:t>P</a:t>
            </a:r>
            <a:r>
              <a:rPr lang="en-US" dirty="0"/>
              <a:t>ython </a:t>
            </a:r>
            <a:r>
              <a:rPr lang="en-US" b="1" dirty="0"/>
              <a:t>D</a:t>
            </a:r>
            <a:r>
              <a:rPr lang="en-US" dirty="0"/>
              <a:t>e</a:t>
            </a:r>
            <a:r>
              <a:rPr lang="en-US" b="1" dirty="0"/>
              <a:t>b</a:t>
            </a:r>
            <a:r>
              <a:rPr lang="en-US" dirty="0"/>
              <a:t>ugger)</a:t>
            </a:r>
          </a:p>
          <a:p>
            <a:r>
              <a:rPr lang="en-US" dirty="0"/>
              <a:t>Debugging tools are more powerful than scattering print() statements throughout your code.</a:t>
            </a:r>
          </a:p>
          <a:p>
            <a:pPr lvl="1"/>
            <a:r>
              <a:rPr lang="en-US" dirty="0"/>
              <a:t>Note: You </a:t>
            </a:r>
            <a:r>
              <a:rPr lang="en-US" i="1" dirty="0"/>
              <a:t>can</a:t>
            </a:r>
            <a:r>
              <a:rPr lang="en-US" dirty="0"/>
              <a:t> perform debugging with print statements; however, printing to the console throughout your code is not only sloppy, but those print statements must be removed before releasing to production, making it less maintainable as well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BF3BF1-901C-C011-7CAD-DE029FF3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3003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F4CB-E5EA-FED5-EA05-804D1D3C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170A-F4EC-7C74-DABF-E4A9A1ADF9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9F08A-CBFE-763E-1D4D-3B12D8713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virtual environment is an isolated environment scopes to a project</a:t>
            </a:r>
          </a:p>
          <a:p>
            <a:r>
              <a:rPr lang="en-US" dirty="0"/>
              <a:t>Virtual environments prevent conflicts between packages required by different projects</a:t>
            </a:r>
          </a:p>
          <a:p>
            <a:r>
              <a:rPr lang="en-US" dirty="0"/>
              <a:t>Each virtual environment has its own compiler/interpreter and installed packages.</a:t>
            </a:r>
          </a:p>
          <a:p>
            <a:r>
              <a:rPr lang="en-US" dirty="0"/>
              <a:t>Python allows for the creation of virtual environments using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/>
              <a:t>’ command (as of Python 3.3+):</a:t>
            </a:r>
          </a:p>
          <a:p>
            <a:pPr lvl="1"/>
            <a:r>
              <a:rPr lang="en-US" dirty="0"/>
              <a:t>Ex: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–m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Note: the ‘-m’ is a shortcut to create a module</a:t>
            </a:r>
          </a:p>
          <a:p>
            <a:r>
              <a:rPr lang="en-US" dirty="0"/>
              <a:t>To activate the newly created virtual environment, use:</a:t>
            </a:r>
          </a:p>
          <a:p>
            <a:pPr lvl="1"/>
            <a:r>
              <a:rPr lang="en-US" dirty="0"/>
              <a:t>[Windows]: &lt;</a:t>
            </a:r>
            <a:r>
              <a:rPr lang="en-US" dirty="0" err="1"/>
              <a:t>env_name</a:t>
            </a:r>
            <a:r>
              <a:rPr lang="en-US" dirty="0"/>
              <a:t>&gt;\Scripts\activate</a:t>
            </a:r>
          </a:p>
          <a:p>
            <a:pPr lvl="1"/>
            <a:r>
              <a:rPr lang="en-US" dirty="0"/>
              <a:t>[Mac/Linux]: source &lt;</a:t>
            </a:r>
            <a:r>
              <a:rPr lang="en-US" dirty="0" err="1"/>
              <a:t>env_name</a:t>
            </a:r>
            <a:r>
              <a:rPr lang="en-US" dirty="0"/>
              <a:t>&gt;/bin/activate</a:t>
            </a:r>
          </a:p>
          <a:p>
            <a:r>
              <a:rPr lang="en-US" dirty="0"/>
              <a:t>Virtual environments allow you to manage installed packages for a specific project, isolating your dependencies for better management</a:t>
            </a:r>
          </a:p>
          <a:p>
            <a:r>
              <a:rPr lang="en-US" dirty="0"/>
              <a:t>The best practice is to never commit your virtual environment folder to version control tools. Instead, you should create a requirements.txt file to share environment details.</a:t>
            </a:r>
          </a:p>
          <a:p>
            <a:r>
              <a:rPr lang="en-US" dirty="0"/>
              <a:t>Note: to disable a virtual environment just enter command ‘deactivate’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64C88B-DCA8-B3C6-B3D4-98639FB7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28477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BD78-E0FA-1BCB-8ED3-37BC4203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E6C0-1BAF-EEC4-5014-79CFE62CED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66F40-C113-72A3-29C8-0FAB3E1A1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requirements.txt</a:t>
            </a:r>
            <a:r>
              <a:rPr lang="en-US" dirty="0"/>
              <a:t> file lists all of a project’s dependencies and their versions</a:t>
            </a:r>
          </a:p>
          <a:p>
            <a:r>
              <a:rPr lang="en-US" dirty="0"/>
              <a:t>This file ensures every developer and environment for the same project uses the exact same packages</a:t>
            </a:r>
          </a:p>
          <a:p>
            <a:r>
              <a:rPr lang="en-US" dirty="0"/>
              <a:t>You can generate a requirements file using the command: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freeze &gt; requirements.txt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To install dependencies from a requirements file: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–r requirements.txt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Your requirements.txt file should be committed alongside your code – this way if new environments are required, or updates are made to an environment, then all team members can align easily.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89F3AB-1508-31CE-C647-57F26C13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File</a:t>
            </a:r>
          </a:p>
        </p:txBody>
      </p:sp>
    </p:spTree>
    <p:extLst>
      <p:ext uri="{BB962C8B-B14F-4D97-AF65-F5344CB8AC3E}">
        <p14:creationId xmlns:p14="http://schemas.microsoft.com/office/powerpoint/2010/main" val="4549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3AFF-0BC6-E367-A0BB-670A5D71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AA79E-EB53-3003-059E-B877321598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ABE8E-0B22-302C-2CD4-AC54A1DDE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Garbage collection is the automatic management and recovery of unused memory.</a:t>
            </a:r>
          </a:p>
          <a:p>
            <a:r>
              <a:rPr lang="en-US" dirty="0"/>
              <a:t>Python manages memory automatically, as a python developer you may never need to handle it manually.</a:t>
            </a:r>
          </a:p>
          <a:p>
            <a:r>
              <a:rPr lang="en-US" dirty="0"/>
              <a:t>Python uses </a:t>
            </a:r>
            <a:r>
              <a:rPr lang="en-US" b="1" i="1" dirty="0"/>
              <a:t>reference counting</a:t>
            </a:r>
            <a:r>
              <a:rPr lang="en-US" dirty="0"/>
              <a:t> as its primary memory management strategy</a:t>
            </a:r>
          </a:p>
          <a:p>
            <a:pPr lvl="1"/>
            <a:r>
              <a:rPr lang="en-US" dirty="0"/>
              <a:t>Every object has a ‘reference count’: The number of variables pointing to it.</a:t>
            </a:r>
          </a:p>
          <a:p>
            <a:pPr lvl="1"/>
            <a:r>
              <a:rPr lang="en-US" dirty="0"/>
              <a:t>When an object’s reference count drops to zero, it is immediately deallocated</a:t>
            </a:r>
          </a:p>
          <a:p>
            <a:r>
              <a:rPr lang="en-US" dirty="0"/>
              <a:t>Python can also handle circular references (when two or more object reference each other, but are not referenced by other variables)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module provides access to Python’s garbage collector.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gc.collect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can manually trigger the garbage collection cycle.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35B2F0-4B67-BB6A-C9C2-80DF3494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426581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F9B9-5116-398A-4A76-FDB0AC05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69FF2-EBFC-12FC-6945-FD83D0A7E3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50C717-DD35-4D7D-C572-1707888824E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Control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90E92-D9A2-7FAA-AD93-D6CA54B0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6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93457-DC10-9B25-4934-A98CA7B8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17A4-E194-08A8-32E4-3AC85C2A69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8EB20-19AD-C760-7756-2D83E3902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Flow statements are programming statements which allow a developer to determine what code is executed dependent on logical statements.</a:t>
            </a:r>
          </a:p>
          <a:p>
            <a:r>
              <a:rPr lang="en-US" dirty="0"/>
              <a:t>With control flow, developers can skip over blocks of code or create branching execution, wherein only relevant functionality is performed.</a:t>
            </a:r>
          </a:p>
          <a:p>
            <a:r>
              <a:rPr lang="en-US" dirty="0"/>
              <a:t>Proper use of Control flow is the basis for creating algorithms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5090D-6CB7-B59F-60F8-6559053A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</p:spTree>
    <p:extLst>
      <p:ext uri="{BB962C8B-B14F-4D97-AF65-F5344CB8AC3E}">
        <p14:creationId xmlns:p14="http://schemas.microsoft.com/office/powerpoint/2010/main" val="361863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22F7-C384-E05E-32FE-8CA6A880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87063-CFE1-29FC-4F75-D84CB8F88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5C98C-36A2-FACA-4661-E090B1940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statements allow code to execute conditionally based on a Boolean expression</a:t>
            </a:r>
          </a:p>
          <a:p>
            <a:r>
              <a:rPr lang="en-US" dirty="0"/>
              <a:t>If the condition (Boolean expression) evaluates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, the indented block runs, otherwise it is skipped.</a:t>
            </a:r>
          </a:p>
          <a:p>
            <a:r>
              <a:rPr lang="en-US" dirty="0"/>
              <a:t>These can be combined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to run another block if the condition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-statement conditional block may only have a single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statement, and it must be the last in the block.</a:t>
            </a:r>
          </a:p>
          <a:p>
            <a:r>
              <a:rPr lang="en-US" dirty="0"/>
              <a:t>Multiple conditions can be checked in sequence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 statement after the first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statement.</a:t>
            </a:r>
          </a:p>
          <a:p>
            <a:pPr lvl="1"/>
            <a:r>
              <a:rPr lang="en-US" dirty="0"/>
              <a:t>You may have any number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 block in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-statement conditional block</a:t>
            </a:r>
          </a:p>
          <a:p>
            <a:r>
              <a:rPr lang="en-US" dirty="0"/>
              <a:t>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dirty="0"/>
              <a:t> only the first matching condition’s block executes. Any remaining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 blocks are skipped.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D100BB-CA7C-FB23-C212-2FA94813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If-else statements</a:t>
            </a:r>
          </a:p>
        </p:txBody>
      </p:sp>
    </p:spTree>
    <p:extLst>
      <p:ext uri="{BB962C8B-B14F-4D97-AF65-F5344CB8AC3E}">
        <p14:creationId xmlns:p14="http://schemas.microsoft.com/office/powerpoint/2010/main" val="143561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FFBB-C6A1-3E99-86BC-251F117D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E2BEA-EE26-AFF9-B35E-48AB08EBBD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5CB01-6556-730F-071D-040E8F9A1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US" dirty="0"/>
              <a:t> was introduced in Python 3.10 as structural pattern matching</a:t>
            </a:r>
          </a:p>
          <a:p>
            <a:pPr lvl="1"/>
            <a:r>
              <a:rPr lang="en-US" dirty="0"/>
              <a:t>Similar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/>
              <a:t> statements in other languages</a:t>
            </a:r>
          </a:p>
          <a:p>
            <a:r>
              <a:rPr lang="en-US" dirty="0"/>
              <a:t>Syntax: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subject:</a:t>
            </a:r>
            <a:r>
              <a:rPr lang="en-US" dirty="0"/>
              <a:t>” followed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/>
              <a:t> blocks</a:t>
            </a:r>
          </a:p>
          <a:p>
            <a:r>
              <a:rPr lang="en-US" dirty="0"/>
              <a:t>Each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/>
              <a:t> defines a pattern to match against the subject</a:t>
            </a:r>
          </a:p>
          <a:p>
            <a:r>
              <a:rPr lang="en-US" dirty="0"/>
              <a:t>The first matching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/>
              <a:t> block executes, the rest are skipped.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 _:</a:t>
            </a:r>
            <a:r>
              <a:rPr lang="en-US" dirty="0"/>
              <a:t> acts as a wildcard (this is your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’ or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dirty="0"/>
              <a:t>’)</a:t>
            </a:r>
          </a:p>
          <a:p>
            <a:r>
              <a:rPr lang="en-US" dirty="0"/>
              <a:t>case can match against literal values, types, sequences, mappings and more</a:t>
            </a:r>
          </a:p>
          <a:p>
            <a:r>
              <a:rPr lang="en-US" dirty="0"/>
              <a:t>A pipe ( | ) can be used to indicate multiple matching cases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B27A6E-543A-AEB7-5500-7EB4ED0E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Match Statements</a:t>
            </a:r>
          </a:p>
        </p:txBody>
      </p:sp>
    </p:spTree>
    <p:extLst>
      <p:ext uri="{BB962C8B-B14F-4D97-AF65-F5344CB8AC3E}">
        <p14:creationId xmlns:p14="http://schemas.microsoft.com/office/powerpoint/2010/main" val="3157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3A3D-F8F8-04E5-3A55-36336825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4F0A5-87B7-E78C-48BF-1D0B5AE0C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72ED4-BD5C-F888-9E8A-DC9B77DAA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Loops are control flow statements which repeat the same operations over a sequence or until a condition is no longer true.</a:t>
            </a:r>
          </a:p>
          <a:p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iterates over a sequence, executing a block of code for each item of the sequence.</a:t>
            </a:r>
          </a:p>
          <a:p>
            <a:r>
              <a:rPr lang="en-US" dirty="0"/>
              <a:t>Works with any </a:t>
            </a:r>
            <a:r>
              <a:rPr lang="en-US" dirty="0" err="1"/>
              <a:t>iterable</a:t>
            </a:r>
            <a:r>
              <a:rPr lang="en-US" dirty="0"/>
              <a:t> (strings, lists, tuples, dictionaries, and more)</a:t>
            </a:r>
          </a:p>
          <a:p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variable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/>
              <a:t>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dirty="0"/>
              <a:t>’ is assigned the value of one item in the sequence, one at a time, as the loop iterates through the entire sequence.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FD7CC1-8E8D-6AF2-28AE-BE285B9A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For Loops</a:t>
            </a:r>
          </a:p>
        </p:txBody>
      </p:sp>
    </p:spTree>
    <p:extLst>
      <p:ext uri="{BB962C8B-B14F-4D97-AF65-F5344CB8AC3E}">
        <p14:creationId xmlns:p14="http://schemas.microsoft.com/office/powerpoint/2010/main" val="389505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8949-DCE1-57C5-0744-DA8353BC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60169-A424-71A8-76D9-25E71368FC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751F1-FCF1-114F-A98B-133C2BB9F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  <a:r>
              <a:rPr lang="en-US" dirty="0"/>
              <a:t> function generates a sequence of integers and is commonly used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loops.</a:t>
            </a:r>
          </a:p>
          <a:p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range(stop) | range(start, stop) | range(start, stop, step)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Start: initial value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Stop: halting value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Step: increment or decrement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is memory efficient, as it generates values on demand, not all at once.</a:t>
            </a: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Commonly used if you want to repeat some logic a specific number of times.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AE36F5-E58C-7D30-C01C-66C13479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range() function</a:t>
            </a:r>
          </a:p>
        </p:txBody>
      </p:sp>
    </p:spTree>
    <p:extLst>
      <p:ext uri="{BB962C8B-B14F-4D97-AF65-F5344CB8AC3E}">
        <p14:creationId xmlns:p14="http://schemas.microsoft.com/office/powerpoint/2010/main" val="395220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5698-8B89-3BF7-CB7F-AC500970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7AEF-F79F-CC9B-2C03-A9E269AF7B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37950-25C9-3DAA-C756-B55DDA918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dirty="0"/>
              <a:t> are used to alter the flow of a loop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/>
              <a:t>: immediately exits the loop entirely</a:t>
            </a:r>
          </a:p>
          <a:p>
            <a:pPr lvl="1"/>
            <a:r>
              <a:rPr lang="en-US" dirty="0"/>
              <a:t>E.g.: Used to stop a search once a result has been found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dirty="0"/>
              <a:t>: skips the rest of the current iteration and moves to the next iteration.</a:t>
            </a:r>
          </a:p>
          <a:p>
            <a:pPr lvl="1"/>
            <a:r>
              <a:rPr lang="en-US" dirty="0"/>
              <a:t>E.g. used to skip over unwanted values without exiting the loop</a:t>
            </a:r>
          </a:p>
          <a:p>
            <a:r>
              <a:rPr lang="en-US" dirty="0"/>
              <a:t>Note: Overusing break and continue can make loops harder to understand, complicating debugging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2BE109-0261-9BA5-12B4-3A05DBBC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break &amp; continue</a:t>
            </a:r>
          </a:p>
        </p:txBody>
      </p:sp>
    </p:spTree>
    <p:extLst>
      <p:ext uri="{BB962C8B-B14F-4D97-AF65-F5344CB8AC3E}">
        <p14:creationId xmlns:p14="http://schemas.microsoft.com/office/powerpoint/2010/main" val="122961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CEC8-383C-CB97-0EF3-5248401E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353FE-4346-D3C9-0C9C-27AD11131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7D5FC-BA86-746B-E15A-71DB8D01E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repeats a block of code as long as a condition remains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condition: block</a:t>
            </a:r>
          </a:p>
          <a:p>
            <a:r>
              <a:rPr lang="en-US" dirty="0"/>
              <a:t>The condition is evaluated before each iteration</a:t>
            </a:r>
          </a:p>
          <a:p>
            <a:pPr lvl="1"/>
            <a:r>
              <a:rPr lang="en-US" dirty="0"/>
              <a:t>If your condition never becomes false, this results in an </a:t>
            </a:r>
            <a:r>
              <a:rPr lang="en-US" b="1" dirty="0"/>
              <a:t>Infinite Loop</a:t>
            </a:r>
          </a:p>
          <a:p>
            <a:pPr lvl="1"/>
            <a:r>
              <a:rPr lang="en-US" dirty="0"/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  <a:r>
              <a:rPr lang="en-US" dirty="0"/>
              <a:t>” can be used to deliberately create an infinite loop </a:t>
            </a:r>
          </a:p>
          <a:p>
            <a:pPr lvl="1"/>
            <a:r>
              <a:rPr lang="en-US" dirty="0"/>
              <a:t>Always ensure the loop condition will eventually become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by using a variable in the condition expression and altering that variable in some way within the loop</a:t>
            </a:r>
          </a:p>
          <a:p>
            <a:pPr lvl="1"/>
            <a:r>
              <a:rPr lang="en-US" dirty="0"/>
              <a:t>Alternatively, use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/>
              <a:t> within the while loop</a:t>
            </a:r>
          </a:p>
          <a:p>
            <a:r>
              <a:rPr lang="en-US" dirty="0"/>
              <a:t>If the condition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from the start, the loop body never executes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DFE31A-8477-0F02-8860-6E042EB0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| While Loops</a:t>
            </a:r>
          </a:p>
        </p:txBody>
      </p:sp>
    </p:spTree>
    <p:extLst>
      <p:ext uri="{BB962C8B-B14F-4D97-AF65-F5344CB8AC3E}">
        <p14:creationId xmlns:p14="http://schemas.microsoft.com/office/powerpoint/2010/main" val="91849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91A5-9D3B-A529-1722-CF44468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C81D-0A0B-CF30-7E2E-ECFD148416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B2518-ACEB-2B1D-794D-7AA8C815D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75652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some interpreted and scripting languages (including Python and JavaScript), every entity (object) is given an inherent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Boolean value.</a:t>
            </a:r>
          </a:p>
          <a:p>
            <a:r>
              <a:rPr lang="en-US" dirty="0"/>
              <a:t>This is mostly important when passing expressions to Control Flow statements.</a:t>
            </a:r>
          </a:p>
          <a:p>
            <a:r>
              <a:rPr lang="en-US" b="1" dirty="0"/>
              <a:t>All Values (other than those listed below) have a ‘Truthy’ value (i.e. they will evaluate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b="1" dirty="0"/>
              <a:t> when given as a Boolean expression.</a:t>
            </a:r>
          </a:p>
          <a:p>
            <a:r>
              <a:rPr lang="en-US" dirty="0"/>
              <a:t>The following Values in Python as ‘</a:t>
            </a:r>
            <a:r>
              <a:rPr lang="en-US" dirty="0" err="1"/>
              <a:t>Falsy</a:t>
            </a:r>
            <a:r>
              <a:rPr lang="en-US" dirty="0"/>
              <a:t>’ (they will evaluate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when given as a Boolean expression: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501139-38F2-62A2-125F-62B21620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Truthy / </a:t>
            </a:r>
            <a:r>
              <a:rPr lang="en-US" dirty="0" err="1"/>
              <a:t>Falsy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93EEB0-622E-EE3E-907B-87D28E8E7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485256"/>
              </p:ext>
            </p:extLst>
          </p:nvPr>
        </p:nvGraphicFramePr>
        <p:xfrm>
          <a:off x="1524000" y="4237974"/>
          <a:ext cx="6096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437319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37135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601686"/>
                  </a:ext>
                </a:extLst>
              </a:tr>
              <a:tr h="300317"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 value ‘False’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432273"/>
                  </a:ext>
                </a:extLst>
              </a:tr>
              <a:tr h="300317">
                <a:tc>
                  <a:txBody>
                    <a:bodyPr/>
                    <a:lstStyle/>
                    <a:p>
                      <a:r>
                        <a:rPr lang="en-US" dirty="0"/>
                        <a:t>0, 0.0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 value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45207"/>
                  </a:ext>
                </a:extLst>
              </a:tr>
              <a:tr h="300317">
                <a:tc>
                  <a:txBody>
                    <a:bodyPr/>
                    <a:lstStyle/>
                    <a:p>
                      <a:r>
                        <a:rPr lang="en-US" dirty="0"/>
                        <a:t>“”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503168"/>
                  </a:ext>
                </a:extLst>
              </a:tr>
              <a:tr h="518355">
                <a:tc>
                  <a:txBody>
                    <a:bodyPr/>
                    <a:lstStyle/>
                    <a:p>
                      <a:r>
                        <a:rPr lang="en-US" dirty="0"/>
                        <a:t>[], {}, (), 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 collection (list, </a:t>
                      </a:r>
                      <a:r>
                        <a:rPr lang="en-US" dirty="0" err="1"/>
                        <a:t>dict</a:t>
                      </a:r>
                      <a:r>
                        <a:rPr lang="en-US" dirty="0"/>
                        <a:t>, tuple, 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231248"/>
                  </a:ext>
                </a:extLst>
              </a:tr>
              <a:tr h="300317"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NoneType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599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8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48F8-CB74-34F7-B07E-E2700AB5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8A909-4E5F-E126-BAAD-3EE9B6C53B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06F4435-8A10-F3D8-0489-0A5FFA064E3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&amp; 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EC4A7-EFF2-15CC-C8CD-8DEC4CDFE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62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3C6BF-346A-902F-0E41-5878A5BF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59E09-0078-895A-2990-32CD78DB35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7725E-0FDC-7051-78F8-AD7D34663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region of a program where a variable is accessible</a:t>
            </a:r>
          </a:p>
          <a:p>
            <a:r>
              <a:rPr lang="en-US" dirty="0"/>
              <a:t>Python has four levels of scope, known as the LEGB rule</a:t>
            </a:r>
          </a:p>
          <a:p>
            <a:r>
              <a:rPr lang="en-US" b="1" dirty="0"/>
              <a:t>L</a:t>
            </a:r>
            <a:r>
              <a:rPr lang="en-US" dirty="0"/>
              <a:t>ocal: variables defined inside the current function</a:t>
            </a:r>
          </a:p>
          <a:p>
            <a:r>
              <a:rPr lang="en-US" b="1" dirty="0"/>
              <a:t>E</a:t>
            </a:r>
            <a:r>
              <a:rPr lang="en-US" dirty="0"/>
              <a:t>nclosing: variables in the scope of any enclosing (nested) functions</a:t>
            </a:r>
          </a:p>
          <a:p>
            <a:r>
              <a:rPr lang="en-US" b="1" dirty="0"/>
              <a:t>G</a:t>
            </a:r>
            <a:r>
              <a:rPr lang="en-US" dirty="0"/>
              <a:t>lobal: variables defined at the top-level of a module/file</a:t>
            </a:r>
          </a:p>
          <a:p>
            <a:r>
              <a:rPr lang="en-US" b="1" dirty="0"/>
              <a:t>B</a:t>
            </a:r>
            <a:r>
              <a:rPr lang="en-US" dirty="0"/>
              <a:t>uilt-in: names built into Python itself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/>
              <a:t>, etc…)</a:t>
            </a:r>
          </a:p>
          <a:p>
            <a:r>
              <a:rPr lang="en-US" dirty="0"/>
              <a:t>Python searches for a variable name in this order: Local&gt;Enclosing&gt;Global&gt;Built-in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dirty="0"/>
              <a:t> keyword allows a function to modify a global variable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nonlocal</a:t>
            </a:r>
            <a:r>
              <a:rPr lang="en-US" dirty="0"/>
              <a:t> keyword allows a nested function to modify an enclosing variable.</a:t>
            </a:r>
          </a:p>
          <a:p>
            <a:r>
              <a:rPr lang="en-US" dirty="0"/>
              <a:t>Variables created inside a function are garbage collected when the function returns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6E4C27-9092-6EA2-7EBE-C2F2E52F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Scopes (namespaces)</a:t>
            </a:r>
          </a:p>
        </p:txBody>
      </p:sp>
    </p:spTree>
    <p:extLst>
      <p:ext uri="{BB962C8B-B14F-4D97-AF65-F5344CB8AC3E}">
        <p14:creationId xmlns:p14="http://schemas.microsoft.com/office/powerpoint/2010/main" val="297428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A38A5-DFDA-42E0-9455-A6DBB72F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5BEE7-6FCD-930B-8F10-2ADA28382E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9B2DF-DFB4-4607-D352-7A05F149A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Class</a:t>
            </a:r>
            <a:r>
              <a:rPr lang="en-US" dirty="0"/>
              <a:t>: A blueprint, or template for creating objects. Classes define what an object will have and what it will do.</a:t>
            </a:r>
          </a:p>
          <a:p>
            <a:pPr lvl="1"/>
            <a:r>
              <a:rPr lang="en-US" dirty="0"/>
              <a:t>Attribute: data stored on an object (also known as ‘fields’). This defines what an object </a:t>
            </a:r>
            <a:r>
              <a:rPr lang="en-US" b="1" i="1" dirty="0"/>
              <a:t>has</a:t>
            </a:r>
            <a:endParaRPr lang="en-US" dirty="0"/>
          </a:p>
          <a:p>
            <a:pPr lvl="1"/>
            <a:r>
              <a:rPr lang="en-US" dirty="0"/>
              <a:t>Method: a function defined on a class. This defines when an object </a:t>
            </a:r>
            <a:r>
              <a:rPr lang="en-US" b="1" i="1" dirty="0"/>
              <a:t>does</a:t>
            </a:r>
            <a:endParaRPr lang="en-US" dirty="0"/>
          </a:p>
          <a:p>
            <a:r>
              <a:rPr lang="en-US" b="1" dirty="0"/>
              <a:t>Objects</a:t>
            </a:r>
            <a:r>
              <a:rPr lang="en-US" dirty="0"/>
              <a:t>: An instance of a class</a:t>
            </a:r>
          </a:p>
          <a:p>
            <a:r>
              <a:rPr lang="en-US" dirty="0"/>
              <a:t>In OOP, you define classes, then create instances of those classes to perform operations.</a:t>
            </a:r>
          </a:p>
          <a:p>
            <a:pPr lvl="1"/>
            <a:r>
              <a:rPr lang="en-US" dirty="0"/>
              <a:t>E.g.</a:t>
            </a:r>
          </a:p>
          <a:p>
            <a:pPr lvl="2"/>
            <a:r>
              <a:rPr lang="en-US" dirty="0"/>
              <a:t>Class: “What defines a bank account?”</a:t>
            </a:r>
          </a:p>
          <a:p>
            <a:pPr lvl="2"/>
            <a:r>
              <a:rPr lang="en-US" dirty="0"/>
              <a:t>Object: “Each bank customer has 1 or more bank accounts”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7FE6E4-19AF-08AA-CEC6-F8379698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&amp; Objects</a:t>
            </a:r>
          </a:p>
        </p:txBody>
      </p:sp>
    </p:spTree>
    <p:extLst>
      <p:ext uri="{BB962C8B-B14F-4D97-AF65-F5344CB8AC3E}">
        <p14:creationId xmlns:p14="http://schemas.microsoft.com/office/powerpoint/2010/main" val="243168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A14D-9698-A607-770F-03BD3FDB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5ACBE-30D4-28E1-C315-3FA247D4EF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99A00-B638-1491-5008-33DCCACB9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Object is an instance of a class – created from a class blueprint.</a:t>
            </a:r>
          </a:p>
          <a:p>
            <a:pPr lvl="1"/>
            <a:r>
              <a:rPr lang="en-US" dirty="0"/>
              <a:t>When calling the type() function with an object, the name of the class is returned</a:t>
            </a:r>
          </a:p>
          <a:p>
            <a:r>
              <a:rPr lang="en-US" dirty="0"/>
              <a:t>Objects are created by calling the class like a function:</a:t>
            </a:r>
          </a:p>
          <a:p>
            <a:pPr lvl="1"/>
            <a:r>
              <a:rPr lang="en-US" dirty="0" err="1"/>
              <a:t>my_object</a:t>
            </a:r>
            <a:r>
              <a:rPr lang="en-US" dirty="0"/>
              <a:t> = </a:t>
            </a:r>
            <a:r>
              <a:rPr lang="en-US" dirty="0" err="1"/>
              <a:t>MyClass</a:t>
            </a:r>
            <a:r>
              <a:rPr lang="en-US" dirty="0"/>
              <a:t>()</a:t>
            </a:r>
          </a:p>
          <a:p>
            <a:r>
              <a:rPr lang="en-US" dirty="0"/>
              <a:t>Each object has it’s own data. These are instance attributes</a:t>
            </a:r>
          </a:p>
          <a:p>
            <a:r>
              <a:rPr lang="en-US" dirty="0"/>
              <a:t>You can define Class attributes which all objects created from the class can share.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6820B3-B3C7-D363-19FB-DF65CDBD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Objects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747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5D8A-69A0-2AB5-7AB7-5C172829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A6C74-2003-F272-E04E-77F280B86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CDC0F-0155-DB01-6BE8-35DF4B1A4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Methods surrounded by double underscores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Also called ‘magic methods’ or ‘special methods’</a:t>
            </a:r>
          </a:p>
          <a:p>
            <a:r>
              <a:rPr lang="en-US" dirty="0"/>
              <a:t>These methods are called automatically by Python in response to specific operations, or built-in functions.</a:t>
            </a:r>
          </a:p>
          <a:p>
            <a:r>
              <a:rPr lang="en-US" dirty="0"/>
              <a:t>Allow you to define how your objects behavior with built-in Python syntax and operators.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: defines a class constructor. E.g. behavior when an object is created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r>
              <a:rPr lang="en-US" dirty="0"/>
              <a:t>: defines human-readable string representation, used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: defined a string representation used by developers to get insight into an entity. Called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: defines behavior for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__eq__</a:t>
            </a:r>
            <a:r>
              <a:rPr lang="en-US" dirty="0"/>
              <a:t>: defines behavior for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’ operator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__add__</a:t>
            </a:r>
            <a:r>
              <a:rPr lang="en-US" dirty="0"/>
              <a:t>: defines behavior for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’ operator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47C172-3752-21FF-76C6-04C50AD9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Dunder Methods</a:t>
            </a:r>
          </a:p>
        </p:txBody>
      </p:sp>
    </p:spTree>
    <p:extLst>
      <p:ext uri="{BB962C8B-B14F-4D97-AF65-F5344CB8AC3E}">
        <p14:creationId xmlns:p14="http://schemas.microsoft.com/office/powerpoint/2010/main" val="100299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E862-6EA6-658F-64D3-AAEBA133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162E2-9CC7-58BB-2FC8-60DB8F65C6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60458-4BF8-7E3E-1A9C-23BE6AA5A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Non-callable attributes that are used to describe data related to classes and objects.</a:t>
            </a:r>
          </a:p>
          <a:p>
            <a:r>
              <a:rPr lang="en-US" dirty="0"/>
              <a:t>These attributes are maintained by python automatically to provide meta-data context for classes, objects, functions and other entities in python.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__class__</a:t>
            </a:r>
            <a:r>
              <a:rPr lang="en-US" dirty="0"/>
              <a:t>: A reference to the class that an instance belongs to. Effectively the same as calling type() on an instance.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: stores an object’s (or class’s) namespace as a plain dictionary (all attributes that ‘live’ on that object)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dirty="0"/>
              <a:t>: the name of a class or function as it was defined.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__module__</a:t>
            </a:r>
            <a:r>
              <a:rPr lang="en-US" dirty="0"/>
              <a:t>: the name of the module where a class or function was defined. If working with a single script, it will be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__main__</a:t>
            </a:r>
            <a:r>
              <a:rPr lang="en-US" dirty="0"/>
              <a:t>’ but for larger projects, it will tell you exactly where something came from.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__doc__</a:t>
            </a:r>
            <a:r>
              <a:rPr lang="en-US" dirty="0"/>
              <a:t>: represents a docstring that immediately follows a class, module, or function definition.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8C2657-973E-2176-E898-058C92858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Dunder Attributes</a:t>
            </a:r>
          </a:p>
        </p:txBody>
      </p:sp>
    </p:spTree>
    <p:extLst>
      <p:ext uri="{BB962C8B-B14F-4D97-AF65-F5344CB8AC3E}">
        <p14:creationId xmlns:p14="http://schemas.microsoft.com/office/powerpoint/2010/main" val="413450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1555-B7D6-D961-65E7-61690FE3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19C94-F524-F53B-602B-8310A8B487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D41F0-9F13-50B6-D9E2-48C2FCF76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OOP: Object-Oriented Programming.</a:t>
            </a:r>
          </a:p>
          <a:p>
            <a:pPr lvl="1"/>
            <a:r>
              <a:rPr lang="en-US" dirty="0"/>
              <a:t>Programming Paradigm in which objects are created to represent information in your project.</a:t>
            </a:r>
          </a:p>
          <a:p>
            <a:pPr lvl="1"/>
            <a:r>
              <a:rPr lang="en-US" dirty="0"/>
              <a:t>Everything is an object: integers, strings, functions, etc…</a:t>
            </a:r>
          </a:p>
          <a:p>
            <a:pPr lvl="1"/>
            <a:r>
              <a:rPr lang="en-US" dirty="0"/>
              <a:t>OOP Promotes modularity, reusability and maintainability</a:t>
            </a:r>
          </a:p>
          <a:p>
            <a:r>
              <a:rPr lang="en-US" dirty="0"/>
              <a:t>Four pillars (principles) of OOP:</a:t>
            </a:r>
          </a:p>
          <a:p>
            <a:pPr lvl="1"/>
            <a:r>
              <a:rPr lang="en-US" b="1" dirty="0"/>
              <a:t>Encapsulation</a:t>
            </a:r>
            <a:r>
              <a:rPr lang="en-US" dirty="0"/>
              <a:t>: Bundling data within a class, and limiting access to that data (weakly supported by Python)</a:t>
            </a:r>
          </a:p>
          <a:p>
            <a:pPr lvl="1"/>
            <a:r>
              <a:rPr lang="en-US" b="1" dirty="0"/>
              <a:t>Abstraction</a:t>
            </a:r>
            <a:r>
              <a:rPr lang="en-US" dirty="0"/>
              <a:t>: Exposing only essential details of an object, while hiding its internal implementation to reduce complexity. (Moderately supported by Python)</a:t>
            </a:r>
          </a:p>
          <a:p>
            <a:pPr lvl="1"/>
            <a:r>
              <a:rPr lang="en-US" b="1" dirty="0"/>
              <a:t>Inheritance</a:t>
            </a:r>
            <a:r>
              <a:rPr lang="en-US" dirty="0"/>
              <a:t>: Allows classes to reuse the structure (variables) and/or functionality (methods) derived other classes.</a:t>
            </a:r>
          </a:p>
          <a:p>
            <a:pPr lvl="1"/>
            <a:r>
              <a:rPr lang="en-US" b="1" dirty="0"/>
              <a:t>Polymorphism</a:t>
            </a:r>
            <a:r>
              <a:rPr lang="en-US" dirty="0"/>
              <a:t>: Allows classes to reuse the same method signature, but change the implementation details to allow for modular re-use of functions which can accept different class instances</a:t>
            </a:r>
          </a:p>
          <a:p>
            <a:r>
              <a:rPr lang="en-US" dirty="0"/>
              <a:t>Python supports OOP, but is not exclusively an OOP language (multi-paradigm)</a:t>
            </a:r>
          </a:p>
          <a:p>
            <a:r>
              <a:rPr lang="en-US" dirty="0"/>
              <a:t>OOP is best applied when modelling real-world entities or complex systems with shared behavior.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5CC0C1-C88D-B62A-FB9B-0F9DEBB9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</a:t>
            </a:r>
          </a:p>
        </p:txBody>
      </p:sp>
    </p:spTree>
    <p:extLst>
      <p:ext uri="{BB962C8B-B14F-4D97-AF65-F5344CB8AC3E}">
        <p14:creationId xmlns:p14="http://schemas.microsoft.com/office/powerpoint/2010/main" val="368925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3B5C-0A59-F5BE-B413-67390071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B3D4D-35B8-EFBA-E89D-6A3AAE0D8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2D563-AAD8-606F-19A3-8ED6E6681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Inheritance in Python is naturally handled by Python</a:t>
            </a:r>
          </a:p>
          <a:p>
            <a:r>
              <a:rPr lang="en-US" dirty="0"/>
              <a:t>Inheritance is performed by passing a class to parentheses when declaring the class: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Python supports multiple inheritance (allows sub-classes to inherit functionality &amp; attributes from multiple classes).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29AEA3-93FA-62CE-1A9E-52BDAB4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 (Inheritance)</a:t>
            </a:r>
          </a:p>
        </p:txBody>
      </p:sp>
    </p:spTree>
    <p:extLst>
      <p:ext uri="{BB962C8B-B14F-4D97-AF65-F5344CB8AC3E}">
        <p14:creationId xmlns:p14="http://schemas.microsoft.com/office/powerpoint/2010/main" val="33105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C26A-B72A-2528-76D2-1FC0A7AF0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11000-27E8-3002-05DC-0ADF7D8B9D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DD3AE-F2B4-8A0A-B0D4-0867B20D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Polymorphism means “many forms”. It refers to the ability for an entity (e.g. functions, objects) to perform different actions, based on the context.</a:t>
            </a:r>
          </a:p>
          <a:p>
            <a:r>
              <a:rPr lang="en-US" dirty="0"/>
              <a:t>This means polymorphism allows for the same method name to behave differently depending on the object’s class definition.</a:t>
            </a:r>
          </a:p>
          <a:p>
            <a:r>
              <a:rPr lang="en-US" dirty="0"/>
              <a:t>There are two types of polymorphism:</a:t>
            </a:r>
          </a:p>
          <a:p>
            <a:pPr lvl="1"/>
            <a:r>
              <a:rPr lang="en-US" dirty="0"/>
              <a:t>Compile-Time Polymorphism (Method-Overloading)</a:t>
            </a:r>
          </a:p>
          <a:p>
            <a:pPr lvl="2"/>
            <a:r>
              <a:rPr lang="en-US" dirty="0"/>
              <a:t>Performed via default arguments</a:t>
            </a:r>
          </a:p>
          <a:p>
            <a:pPr lvl="1"/>
            <a:r>
              <a:rPr lang="en-US" dirty="0"/>
              <a:t>Runtime Polymorphism (Method-Overriding)</a:t>
            </a:r>
          </a:p>
          <a:p>
            <a:pPr lvl="2"/>
            <a:r>
              <a:rPr lang="en-US" dirty="0"/>
              <a:t>Performed via inheritance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23801A-7590-CF06-4494-51889CA0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 (Polymorphism)</a:t>
            </a:r>
          </a:p>
        </p:txBody>
      </p:sp>
    </p:spTree>
    <p:extLst>
      <p:ext uri="{BB962C8B-B14F-4D97-AF65-F5344CB8AC3E}">
        <p14:creationId xmlns:p14="http://schemas.microsoft.com/office/powerpoint/2010/main" val="290158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FC3BD-37D5-ED33-9825-0912D051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5D155-5B78-14E2-1267-F2D5C46D4D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DE651-EC42-B5F9-EDBB-553FEB2D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Python does not strictly enforce encapsulation, rather, it is achieved via following conventions</a:t>
            </a:r>
          </a:p>
          <a:p>
            <a:r>
              <a:rPr lang="en-US" dirty="0"/>
              <a:t>In python, there are three access levels:</a:t>
            </a:r>
          </a:p>
          <a:p>
            <a:pPr lvl="1"/>
            <a:r>
              <a:rPr lang="en-US" b="1" dirty="0"/>
              <a:t>Public</a:t>
            </a:r>
            <a:r>
              <a:rPr lang="en-US" dirty="0"/>
              <a:t>: Accessible anywhere</a:t>
            </a:r>
          </a:p>
          <a:p>
            <a:pPr lvl="1"/>
            <a:r>
              <a:rPr lang="en-US" b="1" dirty="0"/>
              <a:t>Protected</a:t>
            </a:r>
            <a:r>
              <a:rPr lang="en-US" dirty="0"/>
              <a:t>: Accessible in subclasses*</a:t>
            </a:r>
          </a:p>
          <a:p>
            <a:pPr lvl="2"/>
            <a:r>
              <a:rPr lang="en-US" dirty="0"/>
              <a:t>*Note: The convention of Python states that you should only access protect attributes via sub-classes, but this is not enforced in the code.</a:t>
            </a:r>
          </a:p>
          <a:p>
            <a:pPr lvl="1"/>
            <a:r>
              <a:rPr lang="en-US" b="1" dirty="0"/>
              <a:t>Private</a:t>
            </a:r>
            <a:r>
              <a:rPr lang="en-US" dirty="0"/>
              <a:t>: variables can only be accessed within the class.**</a:t>
            </a:r>
          </a:p>
          <a:p>
            <a:pPr lvl="2"/>
            <a:r>
              <a:rPr lang="en-US" dirty="0"/>
              <a:t>**Note: Private variables are technically accessible anywhere, python automatically ‘mangles’ the name of private variables, so they are not accessible via their original, given name.</a:t>
            </a:r>
          </a:p>
          <a:p>
            <a:pPr lvl="2"/>
            <a:r>
              <a:rPr lang="en-US" dirty="0"/>
              <a:t>Mangled Name: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E50255-99AD-C94C-5965-74A83640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 (Encapsulation)</a:t>
            </a:r>
          </a:p>
        </p:txBody>
      </p:sp>
    </p:spTree>
    <p:extLst>
      <p:ext uri="{BB962C8B-B14F-4D97-AF65-F5344CB8AC3E}">
        <p14:creationId xmlns:p14="http://schemas.microsoft.com/office/powerpoint/2010/main" val="295190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2E8A-9421-0FD1-DAFB-1E243C81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37760-7402-7498-5EAE-70EADC2741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4F38E-25C4-712A-BD10-D6B7638B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Abstraction is the process of hiding implementation details behind a clean interaction interface (easy to understand methods, with predictable input)</a:t>
            </a:r>
          </a:p>
          <a:p>
            <a:pPr lvl="1"/>
            <a:r>
              <a:rPr lang="en-US" dirty="0"/>
              <a:t>i.e. instead of having specific methods to create every single type of object, have a method that creates common objects, and you tell the system which you are looking for, the system automatically gives you what you want.</a:t>
            </a:r>
          </a:p>
          <a:p>
            <a:r>
              <a:rPr lang="en-US" dirty="0"/>
              <a:t>Abstraction is performed by creating abstract classes and methods.</a:t>
            </a:r>
          </a:p>
          <a:p>
            <a:r>
              <a:rPr lang="en-US" dirty="0"/>
              <a:t>Python uses the ‘ABC’ (Abstract Base Class) module, and </a:t>
            </a:r>
            <a:r>
              <a:rPr lang="en-US" dirty="0" err="1"/>
              <a:t>abstractmethod</a:t>
            </a:r>
            <a:r>
              <a:rPr lang="en-US" dirty="0"/>
              <a:t> decorator imported from ‘</a:t>
            </a:r>
            <a:r>
              <a:rPr lang="en-US" dirty="0" err="1"/>
              <a:t>abc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CF63D8-D4AC-F799-7C5E-04B282A8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 (Abstraction)</a:t>
            </a:r>
          </a:p>
        </p:txBody>
      </p:sp>
    </p:spTree>
    <p:extLst>
      <p:ext uri="{BB962C8B-B14F-4D97-AF65-F5344CB8AC3E}">
        <p14:creationId xmlns:p14="http://schemas.microsoft.com/office/powerpoint/2010/main" val="9674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6BE56-BF10-6441-17A6-6E4B44FD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1D8B1-4D2E-606A-8FDA-69097B800A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BFE25-D7DF-EEDC-FD02-3897C4D32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decorator is a function that wraps another function to extend or modify its behavior</a:t>
            </a:r>
          </a:p>
          <a:p>
            <a:r>
              <a:rPr lang="en-US" dirty="0"/>
              <a:t>Decorators use the ‘@</a:t>
            </a:r>
            <a:r>
              <a:rPr lang="en-US" dirty="0" err="1"/>
              <a:t>decorator_name</a:t>
            </a:r>
            <a:r>
              <a:rPr lang="en-US" dirty="0"/>
              <a:t>’ syntax placed directly above a function definition</a:t>
            </a:r>
          </a:p>
          <a:p>
            <a:r>
              <a:rPr lang="en-US" dirty="0"/>
              <a:t>When decorated, a function is passed into the decorator which performs some action</a:t>
            </a:r>
          </a:p>
          <a:p>
            <a:r>
              <a:rPr lang="en-US" dirty="0"/>
              <a:t>Python has several built-in decorators available out of the box:</a:t>
            </a:r>
          </a:p>
          <a:p>
            <a:pPr lvl="1"/>
            <a:r>
              <a:rPr lang="en-US" dirty="0"/>
              <a:t>-@</a:t>
            </a:r>
            <a:r>
              <a:rPr lang="en-US" dirty="0" err="1"/>
              <a:t>staticmethod</a:t>
            </a:r>
            <a:r>
              <a:rPr lang="en-US" dirty="0"/>
              <a:t> : defines a method that does not receive the instance (self) or class (</a:t>
            </a:r>
            <a:r>
              <a:rPr lang="en-US" dirty="0" err="1"/>
              <a:t>cls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@classmethod : defines a method that receives the class itself</a:t>
            </a:r>
          </a:p>
          <a:p>
            <a:pPr lvl="1"/>
            <a:r>
              <a:rPr lang="en-US" dirty="0"/>
              <a:t>@abstractmethod : defines an 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Decorators are used heavily in frameworks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877393-1585-1748-8FF6-EE917ADB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Decorators</a:t>
            </a:r>
          </a:p>
        </p:txBody>
      </p:sp>
    </p:spTree>
    <p:extLst>
      <p:ext uri="{BB962C8B-B14F-4D97-AF65-F5344CB8AC3E}">
        <p14:creationId xmlns:p14="http://schemas.microsoft.com/office/powerpoint/2010/main" val="220489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E9E4-4648-E7C9-857D-901256CB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C6C88-A135-5DC0-B50E-F98BF68A93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DD1E9CA-E000-3EA8-69A2-53693638764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Python Data Structures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90BBF-D462-DD95-A6F6-EE4876BE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782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A6C9-C83C-E1EC-2577-98DC9722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DCD7-BDC9-A18D-03C2-4CA07CA65A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A3F84-9E3D-037D-3B82-A0F79943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data structure is a way of organizing and storing data so it can be accessed and modified efficiently</a:t>
            </a:r>
          </a:p>
          <a:p>
            <a:r>
              <a:rPr lang="en-US" dirty="0"/>
              <a:t>Different data structures are suited to different kinds of problems</a:t>
            </a:r>
          </a:p>
          <a:p>
            <a:pPr lvl="1"/>
            <a:r>
              <a:rPr lang="en-US" dirty="0"/>
              <a:t>Choosing the right data structure can significantly impact performance and readability</a:t>
            </a:r>
          </a:p>
          <a:p>
            <a:r>
              <a:rPr lang="en-US" dirty="0"/>
              <a:t>Python provides several built-in data structures, ready to use out of the box</a:t>
            </a:r>
          </a:p>
          <a:p>
            <a:pPr lvl="1"/>
            <a:r>
              <a:rPr lang="en-US" dirty="0"/>
              <a:t>List, tuple, set, </a:t>
            </a:r>
            <a:r>
              <a:rPr lang="en-US" dirty="0" err="1"/>
              <a:t>dict</a:t>
            </a:r>
            <a:r>
              <a:rPr lang="en-US" dirty="0"/>
              <a:t>, str</a:t>
            </a:r>
          </a:p>
          <a:p>
            <a:r>
              <a:rPr lang="en-US" dirty="0"/>
              <a:t>The collections module provides extended data structures:</a:t>
            </a:r>
          </a:p>
          <a:p>
            <a:pPr lvl="1"/>
            <a:r>
              <a:rPr lang="en-US" dirty="0"/>
              <a:t>deque, </a:t>
            </a:r>
            <a:r>
              <a:rPr lang="en-US" dirty="0" err="1"/>
              <a:t>namedtuple</a:t>
            </a:r>
            <a:r>
              <a:rPr lang="en-US" dirty="0"/>
              <a:t>, counter, </a:t>
            </a:r>
            <a:r>
              <a:rPr lang="en-US" dirty="0" err="1"/>
              <a:t>defaultdict</a:t>
            </a:r>
            <a:endParaRPr lang="en-US" dirty="0"/>
          </a:p>
          <a:p>
            <a:r>
              <a:rPr lang="en-US" dirty="0"/>
              <a:t>Data structures differ in: ordering, mutability, value duplication, access methods</a:t>
            </a:r>
          </a:p>
          <a:p>
            <a:pPr lvl="1"/>
            <a:r>
              <a:rPr lang="en-US" dirty="0"/>
              <a:t>Mutability: ability to change values after creation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C180D0-0A9D-98D7-20EC-E8AE681B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18654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2EAE-7623-D6E3-6B7A-B7362440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AB4EC-2EB3-2A0D-FAB5-322D99972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05852-2B6D-C0E2-0094-28A59BB14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list is an ordered, mutable sequence of items</a:t>
            </a:r>
          </a:p>
          <a:p>
            <a:pPr lvl="1"/>
            <a:r>
              <a:rPr lang="en-US" dirty="0"/>
              <a:t>Defined using square brackets: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 2, 3]</a:t>
            </a:r>
          </a:p>
          <a:p>
            <a:pPr lvl="1"/>
            <a:r>
              <a:rPr lang="en-US" dirty="0"/>
              <a:t>Can hold items of mixed types – integers, strings, objects, other lists</a:t>
            </a:r>
          </a:p>
          <a:p>
            <a:pPr lvl="1"/>
            <a:r>
              <a:rPr lang="en-US" dirty="0"/>
              <a:t>Values are accessed using square brackets with an index: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[index]</a:t>
            </a:r>
          </a:p>
          <a:p>
            <a:r>
              <a:rPr lang="en-US" dirty="0"/>
              <a:t>Items are zero-indexed: </a:t>
            </a:r>
          </a:p>
          <a:p>
            <a:pPr lvl="1"/>
            <a:r>
              <a:rPr lang="en-US" dirty="0"/>
              <a:t>the first item is at index 0</a:t>
            </a:r>
          </a:p>
          <a:p>
            <a:r>
              <a:rPr lang="en-US" dirty="0"/>
              <a:t>Supports negative indexing: </a:t>
            </a:r>
          </a:p>
          <a:p>
            <a:pPr lvl="1"/>
            <a:r>
              <a:rPr lang="en-US" dirty="0"/>
              <a:t>-1 refers to the last item</a:t>
            </a:r>
          </a:p>
          <a:p>
            <a:r>
              <a:rPr lang="en-US" dirty="0"/>
              <a:t>Supports slicing: </a:t>
            </a:r>
          </a:p>
          <a:p>
            <a:pPr lvl="1"/>
            <a:r>
              <a:rPr lang="en-US" dirty="0"/>
              <a:t>extract a portion of a list: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[2:4]</a:t>
            </a:r>
          </a:p>
          <a:p>
            <a:r>
              <a:rPr lang="en-US" dirty="0"/>
              <a:t>Can hold items of mixed types</a:t>
            </a:r>
          </a:p>
          <a:p>
            <a:r>
              <a:rPr lang="en-US" dirty="0"/>
              <a:t>Lists are dynamic (they can grow as needed)</a:t>
            </a:r>
          </a:p>
          <a:p>
            <a:r>
              <a:rPr lang="en-US" dirty="0"/>
              <a:t>Can be nested (a list can contain other lists)</a:t>
            </a:r>
          </a:p>
          <a:p>
            <a:r>
              <a:rPr lang="en-US" dirty="0"/>
              <a:t>One of the most frequently used data structure in python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282BF5-DB5F-45F5-10B7-B2E7DC6E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102587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64A6-98A4-8629-AA5D-136C428C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A8AAC-547F-1F92-6E33-7C9C807E4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3D2477-6371-AFD9-E9AD-4D5A476A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List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79C27B-12E1-30DC-B54E-24ED01E17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79616"/>
              </p:ext>
            </p:extLst>
          </p:nvPr>
        </p:nvGraphicFramePr>
        <p:xfrm>
          <a:off x="159574" y="1350012"/>
          <a:ext cx="8824854" cy="4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793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4304443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.append(x)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a value to the end of the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 = [‘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a’,’b’,’c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’]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letters.append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(‘d’)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letters: [a, b, c, 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.insert(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a value at a specified index (shift all following values down one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 = [‘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a’,’b’,’d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’]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letters.append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‘c’)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letters: [a, b, c, 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.remove(x)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a specified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 = [‘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a’,’b’,’d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’]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letters.remove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(‘b’)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letters: [a, c, 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.pop(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and return the last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 = [‘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a’,’b’,’d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popped =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letters.pop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letters: [a, b, c]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popped: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.sort()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Rearrange values of list in sorted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[3, 1, 4, 1, 6]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nums.sort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[1, 1, 3, 4, 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.reverse()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Rearranges the values of list in the reverse of current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[3, 1, 4, 1, 6]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nums.reverse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[6, 1, 4, 1, 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FC8F905-A08E-87AA-6FE0-A78F39CF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71622"/>
            <a:ext cx="8383980" cy="2863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Note: This is </a:t>
            </a:r>
            <a:r>
              <a:rPr lang="en-US" b="1" u="sng" dirty="0"/>
              <a:t>not</a:t>
            </a:r>
            <a:r>
              <a:rPr lang="en-US" dirty="0"/>
              <a:t> every list method</a:t>
            </a:r>
          </a:p>
        </p:txBody>
      </p:sp>
    </p:spTree>
    <p:extLst>
      <p:ext uri="{BB962C8B-B14F-4D97-AF65-F5344CB8AC3E}">
        <p14:creationId xmlns:p14="http://schemas.microsoft.com/office/powerpoint/2010/main" val="411502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78B3-8965-D47D-7268-2E755C49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4FC3C-6A2A-BE64-88E2-2B8DFE3C78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358F7-51F0-17D3-380E-20867C2E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Ordered, immutable sequence of items</a:t>
            </a:r>
          </a:p>
          <a:p>
            <a:pPr lvl="1"/>
            <a:r>
              <a:rPr lang="en-US" dirty="0"/>
              <a:t>Immutable: cannot add, remove, or reassign values within the tuple</a:t>
            </a:r>
          </a:p>
          <a:p>
            <a:r>
              <a:rPr lang="en-US" dirty="0"/>
              <a:t>Defined using parentheses: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(1, 2, 3)</a:t>
            </a:r>
          </a:p>
          <a:p>
            <a:pPr lvl="1"/>
            <a:r>
              <a:rPr lang="en-US" dirty="0"/>
              <a:t>Can be defined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tuple()</a:t>
            </a:r>
            <a:r>
              <a:rPr lang="en-US" dirty="0"/>
              <a:t> function as well.</a:t>
            </a:r>
          </a:p>
          <a:p>
            <a:pPr lvl="1"/>
            <a:r>
              <a:rPr lang="en-US" dirty="0"/>
              <a:t>Can also be defined without parentheses (a.k.a. </a:t>
            </a:r>
            <a:r>
              <a:rPr lang="en-US" b="1" i="1" dirty="0"/>
              <a:t>tuple packing</a:t>
            </a:r>
            <a:r>
              <a:rPr lang="en-US" dirty="0"/>
              <a:t>):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1, 2, 3</a:t>
            </a:r>
          </a:p>
          <a:p>
            <a:r>
              <a:rPr lang="en-US" dirty="0"/>
              <a:t>Supports indexing, negative indexing, and slicing (same as lists)</a:t>
            </a:r>
          </a:p>
          <a:p>
            <a:r>
              <a:rPr lang="en-US" dirty="0"/>
              <a:t>Can hold items of mixed types.</a:t>
            </a:r>
          </a:p>
          <a:p>
            <a:r>
              <a:rPr lang="en-US" dirty="0"/>
              <a:t>Supports </a:t>
            </a:r>
            <a:r>
              <a:rPr lang="en-US" b="1" i="1" dirty="0"/>
              <a:t>tuple unpacking: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x, y = (5, 10)</a:t>
            </a:r>
          </a:p>
          <a:p>
            <a:r>
              <a:rPr lang="en-US" dirty="0"/>
              <a:t>Faster iteration &amp; access than lists due to immutability</a:t>
            </a:r>
          </a:p>
          <a:p>
            <a:r>
              <a:rPr lang="en-US" dirty="0"/>
              <a:t>Commonly used for fixed collections of related values (coordinates, RGB values, etc…)</a:t>
            </a:r>
          </a:p>
          <a:p>
            <a:r>
              <a:rPr lang="en-US" dirty="0"/>
              <a:t>Can be used as dictionary keys because of immutability (note lists </a:t>
            </a:r>
            <a:r>
              <a:rPr lang="en-US" b="1" i="1" dirty="0"/>
              <a:t>cannot</a:t>
            </a:r>
            <a:r>
              <a:rPr lang="en-US" dirty="0"/>
              <a:t> be used as dictionary keys because they are mutable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F6D0C4-7C4F-14BB-5542-FA64A025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</p:spTree>
    <p:extLst>
      <p:ext uri="{BB962C8B-B14F-4D97-AF65-F5344CB8AC3E}">
        <p14:creationId xmlns:p14="http://schemas.microsoft.com/office/powerpoint/2010/main" val="201264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E35A-E006-6B0E-2113-B4D2B84E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B0042-1DA6-A64A-19A4-4AD93B98F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D0DCCA-03F6-EE24-DF43-D0DFAB2C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Tuple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24DF0D-D9C3-E01C-D978-5A93345DE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20900"/>
              </p:ext>
            </p:extLst>
          </p:nvPr>
        </p:nvGraphicFramePr>
        <p:xfrm>
          <a:off x="43881" y="1336036"/>
          <a:ext cx="9063614" cy="162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08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4420901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3021205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.count(x)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Counts the occurrence of the given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my_tup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(2, 2, 1, 2, 1)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my_tup.count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 #returns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.index(x)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index of the first occurrence of given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my_tup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(‘a’, ‘b’, ‘a’)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my_tup.index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(‘a’) #returns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B3D3DD9-9AEC-44E3-839D-F682D5F5F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3187840"/>
            <a:ext cx="8383980" cy="3175872"/>
          </a:xfrm>
        </p:spPr>
        <p:txBody>
          <a:bodyPr>
            <a:normAutofit fontScale="92500"/>
          </a:bodyPr>
          <a:lstStyle/>
          <a:p>
            <a:r>
              <a:rPr lang="en-US" dirty="0"/>
              <a:t>Tuples only have two methods – due to it’s immutable nature, everything else (indexing, slicing, unpacking) is done syntactically, rather than using methods</a:t>
            </a:r>
          </a:p>
          <a:p>
            <a:r>
              <a:rPr lang="en-US" dirty="0"/>
              <a:t>Contrast this with Lists which have a large number of methods.</a:t>
            </a:r>
          </a:p>
          <a:p>
            <a:r>
              <a:rPr lang="en-US" dirty="0"/>
              <a:t>Tuples have a simpler structure, making them quick &amp; easy to use, but have most limited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62162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207A-AE62-4F1C-7C66-DE67C0DC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464EF-B6FF-EAE9-761D-AC8998040B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56FAD-E5A2-3DC8-B02A-5BAE15CA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set is an unordered collection of unique items</a:t>
            </a:r>
          </a:p>
          <a:p>
            <a:pPr lvl="1"/>
            <a:r>
              <a:rPr lang="en-US" dirty="0"/>
              <a:t>Unique: Duplicate values are automatically removed</a:t>
            </a:r>
          </a:p>
          <a:p>
            <a:r>
              <a:rPr lang="en-US" dirty="0"/>
              <a:t>Defined using curly braces: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{1, 2, 3}</a:t>
            </a:r>
          </a:p>
          <a:p>
            <a:pPr lvl="1"/>
            <a:r>
              <a:rPr lang="en-US" dirty="0"/>
              <a:t>Note: curly braces are also used to define a dictionary. Using empty curly braces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dirty="0"/>
              <a:t> defined an empty </a:t>
            </a:r>
            <a:r>
              <a:rPr lang="en-US" dirty="0" err="1"/>
              <a:t>dict</a:t>
            </a:r>
            <a:r>
              <a:rPr lang="en-US" dirty="0"/>
              <a:t>, not an empty set</a:t>
            </a:r>
          </a:p>
          <a:p>
            <a:pPr lvl="1"/>
            <a:r>
              <a:rPr lang="en-US" dirty="0"/>
              <a:t>Sets can also be defined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set()</a:t>
            </a:r>
            <a:r>
              <a:rPr lang="en-US" dirty="0"/>
              <a:t> function</a:t>
            </a:r>
          </a:p>
          <a:p>
            <a:r>
              <a:rPr lang="en-US" dirty="0"/>
              <a:t>Sets are mutable and unordered</a:t>
            </a:r>
          </a:p>
          <a:p>
            <a:pPr lvl="1"/>
            <a:r>
              <a:rPr lang="en-US" dirty="0"/>
              <a:t>Items can be added &amp; removed</a:t>
            </a:r>
          </a:p>
          <a:p>
            <a:pPr lvl="1"/>
            <a:r>
              <a:rPr lang="en-US" dirty="0"/>
              <a:t>Items have no index, and cannot be accessed positionally</a:t>
            </a:r>
          </a:p>
          <a:p>
            <a:r>
              <a:rPr lang="en-US" dirty="0"/>
              <a:t>Extremely fast for membership testing: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2E396F-FF9F-698C-6AD7-A9CBE9F0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92474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Set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128400"/>
              </p:ext>
            </p:extLst>
          </p:nvPr>
        </p:nvGraphicFramePr>
        <p:xfrm>
          <a:off x="159574" y="1350012"/>
          <a:ext cx="8824854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323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4193913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.add(x)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Adds a single item to the 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{1, 2}.add(3)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{1, 2,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.remove(x)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given item from set – raises </a:t>
                      </a:r>
                      <a:r>
                        <a:rPr lang="en-US" sz="1400" dirty="0" err="1"/>
                        <a:t>KeyError</a:t>
                      </a:r>
                      <a:r>
                        <a:rPr lang="en-US" sz="1400" dirty="0"/>
                        <a:t> if the value is missing from the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{1, 2, 3}.remove(3)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{1, 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.discard(x)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given item from set – no error is raised if the value is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{1, 2, 3}.discard(9)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{1, 2,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all items from the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{1, 2, 3}.clear()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set() – empty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.difference(s)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items in this set, not present in the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{1, 2, 3}.difference({2, 3}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{1}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.copy()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shallow copy of the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{1, 2, 3}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a.copy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a.add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 -&gt; {1, 2,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Note: This is </a:t>
            </a:r>
            <a:r>
              <a:rPr lang="en-US" b="1" u="sng" dirty="0"/>
              <a:t>not</a:t>
            </a:r>
            <a:r>
              <a:rPr lang="en-US" dirty="0"/>
              <a:t> the full list of set methods. </a:t>
            </a:r>
            <a:br>
              <a:rPr lang="en-US" dirty="0"/>
            </a:br>
            <a:r>
              <a:rPr lang="en-US" dirty="0"/>
              <a:t>Additionally, Note: Some methods listed are present in other data structures - e.g. clear(), copy()</a:t>
            </a:r>
          </a:p>
        </p:txBody>
      </p:sp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D7E9-FE8D-8CD2-4289-63924006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7938D-F2C2-C43F-5020-E2AFF4BB46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6E661-8225-A9D9-4ADA-184468905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dictionary is an unordered collection of </a:t>
            </a:r>
            <a:r>
              <a:rPr lang="en-US" b="1" dirty="0"/>
              <a:t>key-value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Defined using curly braces: 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 “name” : “Alice”, “age” : 30 }</a:t>
            </a:r>
          </a:p>
          <a:p>
            <a:r>
              <a:rPr lang="en-US" dirty="0"/>
              <a:t>Each </a:t>
            </a:r>
            <a:r>
              <a:rPr lang="en-US" b="1" dirty="0"/>
              <a:t>key</a:t>
            </a:r>
            <a:r>
              <a:rPr lang="en-US" dirty="0"/>
              <a:t> maps to a </a:t>
            </a:r>
            <a:r>
              <a:rPr lang="en-US" b="1" dirty="0"/>
              <a:t>value</a:t>
            </a:r>
            <a:r>
              <a:rPr lang="en-US" dirty="0"/>
              <a:t>. Values are accessed via that key (not indexed)</a:t>
            </a:r>
          </a:p>
          <a:p>
            <a:r>
              <a:rPr lang="en-US" dirty="0"/>
              <a:t>Keys must be unique and immutable: strings, integers, and tuples are all valid keys</a:t>
            </a:r>
          </a:p>
          <a:p>
            <a:r>
              <a:rPr lang="en-US" dirty="0"/>
              <a:t>Values can be any type, including other data structures, primitives, and objects</a:t>
            </a:r>
          </a:p>
          <a:p>
            <a:r>
              <a:rPr lang="en-US" dirty="0"/>
              <a:t>Dictionaries are mutable: key-value pairs can be added, modified, or removed</a:t>
            </a:r>
          </a:p>
          <a:p>
            <a:r>
              <a:rPr lang="en-US" dirty="0"/>
              <a:t>As of Python 3.7+, dictionaries maintain insertion order.</a:t>
            </a:r>
          </a:p>
          <a:p>
            <a:r>
              <a:rPr lang="en-US" dirty="0"/>
              <a:t>Values are accessed using square bracket notation: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[“key”]</a:t>
            </a:r>
            <a:r>
              <a:rPr lang="en-US" dirty="0"/>
              <a:t> : Note – this raises an error if the key does not exist</a:t>
            </a:r>
          </a:p>
          <a:p>
            <a:pPr lvl="1"/>
            <a:r>
              <a:rPr lang="en-US" dirty="0"/>
              <a:t>You can safely get access using the ‘get’ method: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(“key”)</a:t>
            </a:r>
            <a:r>
              <a:rPr lang="en-US" dirty="0"/>
              <a:t>. This method returns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dirty="0"/>
              <a:t>” if the key does not exist.</a:t>
            </a:r>
          </a:p>
          <a:p>
            <a:r>
              <a:rPr lang="en-US" dirty="0"/>
              <a:t>One of the most heavily used data structures: Used for JSON, storing data with context, etc..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2821BC-8BE7-CA92-9906-73598720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</a:t>
            </a:r>
            <a:r>
              <a:rPr lang="en-US" dirty="0" err="1"/>
              <a:t>dict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736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9940-A7AA-9721-F586-E46B1E42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01877-B7F9-A1AD-6B36-3FCF452A0C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707243-347F-CE2A-57A2-DB1486F0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</a:t>
            </a:r>
            <a:r>
              <a:rPr lang="en-US" dirty="0" err="1"/>
              <a:t>Dict</a:t>
            </a:r>
            <a:r>
              <a:rPr lang="en-US" dirty="0"/>
              <a:t>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8391CF-DEDE-3085-0276-4C13DB389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549021"/>
              </p:ext>
            </p:extLst>
          </p:nvPr>
        </p:nvGraphicFramePr>
        <p:xfrm>
          <a:off x="159574" y="1350012"/>
          <a:ext cx="8824854" cy="506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338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982898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.get(k, 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value for a key, or a default value if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{“name”:”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james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”}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d.get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(“age”,0) #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view of all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d.keys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[‘a’, ‘b’]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view of all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d.values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[1, 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.items()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view of all key-value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d.items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[(‘a’,1), (‘b’,2)]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.update(d2)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Merges another </a:t>
                      </a:r>
                      <a:r>
                        <a:rPr lang="en-US" sz="1400" dirty="0" err="1"/>
                        <a:t>dict</a:t>
                      </a:r>
                      <a:r>
                        <a:rPr lang="en-US" sz="1400" dirty="0"/>
                        <a:t> (overwrites existing keys)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d.Update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({“c”:3})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 -&gt; {‘a’:1,‘b’:2, ‘c’:3}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popitem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and returns last inserted </a:t>
                      </a:r>
                      <a:r>
                        <a:rPr lang="en-US" sz="1400" dirty="0" err="1"/>
                        <a:t>key:value</a:t>
                      </a:r>
                      <a:r>
                        <a:rPr lang="en-US" sz="1400" dirty="0"/>
                        <a:t>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d.popitem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(‘b’,2)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setdefault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k,v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Inserts a key with value, only if the key is absent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{‘a’:1,‘b’:2}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d.setdefault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(‘x’,0)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 -&gt; {‘a’:1,‘b’:2, ‘x’:0}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5818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1271C86-FCE5-DC7B-CB76-E4270B209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71622"/>
            <a:ext cx="8383980" cy="2863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Note: This is </a:t>
            </a:r>
            <a:r>
              <a:rPr lang="en-US" b="1" u="sng" dirty="0"/>
              <a:t>not</a:t>
            </a:r>
            <a:r>
              <a:rPr lang="en-US" dirty="0"/>
              <a:t> the full list of </a:t>
            </a:r>
            <a:r>
              <a:rPr lang="en-US" dirty="0" err="1"/>
              <a:t>dict</a:t>
            </a:r>
            <a:r>
              <a:rPr lang="en-US" dirty="0"/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72690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4EF9-4B01-ADB2-4AA7-2854BD48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57BB5-4BA2-E903-1861-207048200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09B9D-6408-D832-C9D5-0FC5FFAC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/>
          </a:bodyPr>
          <a:lstStyle/>
          <a:p>
            <a:r>
              <a:rPr lang="en-US" dirty="0"/>
              <a:t>Deque (“deck”) – Double-ended Queue.</a:t>
            </a:r>
          </a:p>
          <a:p>
            <a:pPr lvl="1"/>
            <a:r>
              <a:rPr lang="en-US" dirty="0"/>
              <a:t>Exists in the collections module: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collections import deque</a:t>
            </a:r>
          </a:p>
          <a:p>
            <a:pPr lvl="1"/>
            <a:r>
              <a:rPr lang="en-US" dirty="0"/>
              <a:t>Created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deque()</a:t>
            </a:r>
            <a:r>
              <a:rPr lang="en-US" dirty="0"/>
              <a:t> function</a:t>
            </a:r>
          </a:p>
          <a:p>
            <a:r>
              <a:rPr lang="en-US" dirty="0"/>
              <a:t>Supports efficient append and pop from both ends</a:t>
            </a:r>
          </a:p>
          <a:p>
            <a:pPr lvl="1"/>
            <a:r>
              <a:rPr lang="en-US" dirty="0"/>
              <a:t>Appending or popping from the end of a list is O(1), but from the front is O(n)</a:t>
            </a:r>
          </a:p>
          <a:p>
            <a:pPr lvl="1"/>
            <a:r>
              <a:rPr lang="en-US" dirty="0"/>
              <a:t>Deque solves this, both operations are O(1)</a:t>
            </a:r>
          </a:p>
          <a:p>
            <a:r>
              <a:rPr lang="en-US" dirty="0"/>
              <a:t>Useful for: messaging queues, history buffers, etc…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72DFAD-BB2D-A8C7-30F3-DDCF07A6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Deque</a:t>
            </a:r>
          </a:p>
        </p:txBody>
      </p:sp>
    </p:spTree>
    <p:extLst>
      <p:ext uri="{BB962C8B-B14F-4D97-AF65-F5344CB8AC3E}">
        <p14:creationId xmlns:p14="http://schemas.microsoft.com/office/powerpoint/2010/main" val="9517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E857-A149-7A9B-71B6-63D32970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CD9DC-F553-315F-070A-938AA2EBC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2629C7-270C-A24A-59AC-7DE4B944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Deque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CCC9FB-01A4-06AF-8682-9E456DCDE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125950"/>
              </p:ext>
            </p:extLst>
          </p:nvPr>
        </p:nvGraphicFramePr>
        <p:xfrm>
          <a:off x="159574" y="1350012"/>
          <a:ext cx="8824854" cy="463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097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706586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3008171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.append(x)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Adds item to the ‘right’ (end)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deque(1,2,3)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dq.append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 #1,2,3,4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Adds item to the ‘left’ (front)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deque(1,2,3)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dq.appendleft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(0) #0,1,2,3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and returns the right-most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deque(1,2,3)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dq.pop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3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# [1,2]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Removed and returns the left-most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deque(1,2,3)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dq.popleft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# 1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# [2,3]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.rotate(n)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Rotates n steps right (negative number = left rotation)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deque(1,2,3,4,5)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dq.rotate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 #5,4,1,2,3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.extend(iter)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Appends all items of an </a:t>
                      </a:r>
                      <a:r>
                        <a:rPr lang="en-US" sz="1400" dirty="0" err="1"/>
                        <a:t>iterable</a:t>
                      </a:r>
                      <a:r>
                        <a:rPr lang="en-US" sz="1400" dirty="0"/>
                        <a:t> object, one-at-a-time, to the right (end)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dq.extend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([3,4]) #1,2,3,4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extendleft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Appends all items of an </a:t>
                      </a:r>
                      <a:r>
                        <a:rPr lang="en-US" sz="1400" dirty="0" err="1"/>
                        <a:t>iterable</a:t>
                      </a:r>
                      <a:r>
                        <a:rPr lang="en-US" sz="1400" dirty="0"/>
                        <a:t> object, one-at-a-time, to the left (front)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deque(1,2)</a:t>
                      </a:r>
                    </a:p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dq.extendleft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([0,-1])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#-1,0,1,2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269359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89856B9-3A3C-1D34-DEBD-654FBBF86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71622"/>
            <a:ext cx="8383980" cy="2863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Note: This is </a:t>
            </a:r>
            <a:r>
              <a:rPr lang="en-US" b="1" u="sng" dirty="0"/>
              <a:t>not</a:t>
            </a:r>
            <a:r>
              <a:rPr lang="en-US" dirty="0"/>
              <a:t> the full list of deque methods</a:t>
            </a:r>
          </a:p>
        </p:txBody>
      </p:sp>
    </p:spTree>
    <p:extLst>
      <p:ext uri="{BB962C8B-B14F-4D97-AF65-F5344CB8AC3E}">
        <p14:creationId xmlns:p14="http://schemas.microsoft.com/office/powerpoint/2010/main" val="13918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0955E-F4A7-D033-03BA-9109403A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18F7C9-9997-4073-D7AA-DB700A63A0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7931341-8B8A-816D-597D-521129049FD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Iteration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FC18C-CCA8-E376-7F2F-4011FF425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544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494F-2E30-E0B8-5EF0-90D30DF0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35180-5A8B-B35F-AC4C-FBF2432833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35212-B8C7-5BA0-00EC-887AEE3AA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</a:t>
            </a:r>
            <a:r>
              <a:rPr lang="en-US" dirty="0" err="1"/>
              <a:t>iterable</a:t>
            </a:r>
            <a:r>
              <a:rPr lang="en-US" dirty="0"/>
              <a:t> is any objects that can be looped over</a:t>
            </a:r>
          </a:p>
          <a:p>
            <a:r>
              <a:rPr lang="en-US" dirty="0"/>
              <a:t>An </a:t>
            </a:r>
            <a:r>
              <a:rPr lang="en-US" dirty="0" err="1"/>
              <a:t>iterable</a:t>
            </a:r>
            <a:r>
              <a:rPr lang="en-US" dirty="0"/>
              <a:t> implements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__iter__()</a:t>
            </a:r>
            <a:r>
              <a:rPr lang="en-US" dirty="0"/>
              <a:t> method, which returns an iterator</a:t>
            </a:r>
          </a:p>
          <a:p>
            <a:r>
              <a:rPr lang="en-US" dirty="0"/>
              <a:t>Examples of built-in </a:t>
            </a:r>
            <a:r>
              <a:rPr lang="en-US" dirty="0" err="1"/>
              <a:t>iterables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</a:p>
          <a:p>
            <a:r>
              <a:rPr lang="en-US" dirty="0"/>
              <a:t>All </a:t>
            </a:r>
            <a:r>
              <a:rPr lang="en-US" dirty="0" err="1"/>
              <a:t>iterables</a:t>
            </a:r>
            <a:r>
              <a:rPr lang="en-US" dirty="0"/>
              <a:t> can be passed to a for loop</a:t>
            </a:r>
          </a:p>
          <a:p>
            <a:r>
              <a:rPr lang="en-US" dirty="0"/>
              <a:t>All </a:t>
            </a:r>
            <a:r>
              <a:rPr lang="en-US" dirty="0" err="1"/>
              <a:t>iterables</a:t>
            </a:r>
            <a:r>
              <a:rPr lang="en-US" dirty="0"/>
              <a:t> can also be passed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iter() </a:t>
            </a:r>
            <a:r>
              <a:rPr lang="en-US" dirty="0"/>
              <a:t>function to object an iterator</a:t>
            </a:r>
          </a:p>
          <a:p>
            <a:r>
              <a:rPr lang="en-US" dirty="0"/>
              <a:t>Not all </a:t>
            </a:r>
            <a:r>
              <a:rPr lang="en-US" dirty="0" err="1"/>
              <a:t>iterables</a:t>
            </a:r>
            <a:r>
              <a:rPr lang="en-US" dirty="0"/>
              <a:t> are iterators, but all iterators are </a:t>
            </a:r>
            <a:r>
              <a:rPr lang="en-US" dirty="0" err="1"/>
              <a:t>iterables</a:t>
            </a:r>
            <a:endParaRPr lang="en-US" dirty="0"/>
          </a:p>
          <a:p>
            <a:pPr lvl="1"/>
            <a:r>
              <a:rPr lang="en-US" dirty="0"/>
              <a:t>An </a:t>
            </a:r>
            <a:r>
              <a:rPr lang="en-US" dirty="0" err="1"/>
              <a:t>iterable</a:t>
            </a:r>
            <a:r>
              <a:rPr lang="en-US" dirty="0"/>
              <a:t> can produce a fresh iterator multiple times (each time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iter()</a:t>
            </a:r>
            <a:r>
              <a:rPr lang="en-US" dirty="0"/>
              <a:t> is called on it)</a:t>
            </a:r>
          </a:p>
          <a:p>
            <a:pPr lvl="1"/>
            <a:r>
              <a:rPr lang="en-US" dirty="0"/>
              <a:t>An iterator is exhausted after one pass – an </a:t>
            </a:r>
            <a:r>
              <a:rPr lang="en-US" dirty="0" err="1"/>
              <a:t>interable</a:t>
            </a:r>
            <a:r>
              <a:rPr lang="en-US" dirty="0"/>
              <a:t> is not</a:t>
            </a:r>
          </a:p>
          <a:p>
            <a:r>
              <a:rPr lang="en-US" dirty="0"/>
              <a:t>You can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isinstance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(object,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collections.abc.Iterable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to check if an object is </a:t>
            </a:r>
            <a:r>
              <a:rPr lang="en-US" dirty="0" err="1"/>
              <a:t>iterable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B287AC-6B6E-8D8A-07F7-BAEAFE16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9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1839-20D2-E18A-9768-424066D9B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2AFEF-CE6A-87BB-0BC7-AE03878FA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73C31-3543-EC7C-4627-09D0E066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iterator is an object that produces values one at a time when requested</a:t>
            </a:r>
          </a:p>
          <a:p>
            <a:r>
              <a:rPr lang="en-US" dirty="0"/>
              <a:t>Implements two dunder methods: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__iter__()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__next__()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__iter__()</a:t>
            </a:r>
            <a:r>
              <a:rPr lang="en-US" dirty="0"/>
              <a:t>: returns the iterator object itself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__next__()</a:t>
            </a:r>
            <a:r>
              <a:rPr lang="en-US" dirty="0"/>
              <a:t>: returns the ‘next’ value. Raises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StopIteration</a:t>
            </a:r>
            <a:r>
              <a:rPr lang="en-US" dirty="0"/>
              <a:t> once exhausted</a:t>
            </a:r>
          </a:p>
          <a:p>
            <a:pPr lvl="1"/>
            <a:r>
              <a:rPr lang="en-US" dirty="0"/>
              <a:t>Note: Once exhausted, the iterator cannot be reset, a new instance must be created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__iter__()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__next__()</a:t>
            </a:r>
            <a:r>
              <a:rPr lang="en-US" dirty="0"/>
              <a:t> are called by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iter()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next()</a:t>
            </a:r>
            <a:r>
              <a:rPr lang="en-US" dirty="0"/>
              <a:t> functions, respectively.</a:t>
            </a:r>
          </a:p>
          <a:p>
            <a:r>
              <a:rPr lang="en-US" dirty="0"/>
              <a:t>For loops use iterators internally: they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iter()</a:t>
            </a:r>
            <a:r>
              <a:rPr lang="en-US" dirty="0"/>
              <a:t> then repeatedly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next()</a:t>
            </a:r>
          </a:p>
          <a:p>
            <a:r>
              <a:rPr lang="en-US" dirty="0"/>
              <a:t>Iterators are </a:t>
            </a:r>
            <a:r>
              <a:rPr lang="en-US" b="1" i="1" dirty="0"/>
              <a:t>lazy</a:t>
            </a:r>
            <a:r>
              <a:rPr lang="en-US" dirty="0"/>
              <a:t>, they compute and yield values one at a time, on demand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C5617-8B19-B8DE-A70C-EBD3B5A7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</p:spTree>
    <p:extLst>
      <p:ext uri="{BB962C8B-B14F-4D97-AF65-F5344CB8AC3E}">
        <p14:creationId xmlns:p14="http://schemas.microsoft.com/office/powerpoint/2010/main" val="401627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FF98-22CA-D4A8-F044-1F4846588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EB58-C54F-BE7B-14B6-5E179E4077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F1834-86F2-73E1-25BC-D85F98A1C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concise, readable way to create a new list from an existing </a:t>
            </a:r>
            <a:r>
              <a:rPr lang="en-US" dirty="0" err="1"/>
              <a:t>iterable</a:t>
            </a:r>
            <a:endParaRPr lang="en-US" dirty="0"/>
          </a:p>
          <a:p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[expression for item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/>
              <a:t>Can optionally include a condition to filter values</a:t>
            </a:r>
          </a:p>
          <a:p>
            <a:r>
              <a:rPr lang="en-US" dirty="0"/>
              <a:t>Powerful tool – it produces a new list without modifying the existing</a:t>
            </a:r>
          </a:p>
          <a:p>
            <a:pPr lvl="1"/>
            <a:r>
              <a:rPr lang="en-US" dirty="0"/>
              <a:t>More concise and generally more readable than an equivalent using a for-loop</a:t>
            </a:r>
          </a:p>
          <a:p>
            <a:r>
              <a:rPr lang="en-US" dirty="0"/>
              <a:t>Python can also perform:</a:t>
            </a:r>
          </a:p>
          <a:p>
            <a:pPr lvl="1"/>
            <a:r>
              <a:rPr lang="en-US" dirty="0"/>
              <a:t>set comprehension: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{expression for item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 err="1"/>
              <a:t>dict</a:t>
            </a:r>
            <a:r>
              <a:rPr lang="en-US" dirty="0"/>
              <a:t> comprehension: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{key: value for item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D11FB5-4736-D1F9-4074-340FA4CF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</a:t>
            </a:r>
          </a:p>
        </p:txBody>
      </p:sp>
    </p:spTree>
    <p:extLst>
      <p:ext uri="{BB962C8B-B14F-4D97-AF65-F5344CB8AC3E}">
        <p14:creationId xmlns:p14="http://schemas.microsoft.com/office/powerpoint/2010/main" val="263486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FFB7-8B78-F2D1-8AF8-4057FD76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8916-03BA-B935-879C-528E4FED5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D2D07-3E1B-4791-BF86-2FF01DE3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zip()</a:t>
            </a:r>
            <a:r>
              <a:rPr lang="en-US" dirty="0"/>
              <a:t> is a built-in python function that combines two or more </a:t>
            </a:r>
            <a:r>
              <a:rPr lang="en-US" dirty="0" err="1"/>
              <a:t>iterables</a:t>
            </a:r>
            <a:r>
              <a:rPr lang="en-US" dirty="0"/>
              <a:t>, element-by-element</a:t>
            </a:r>
          </a:p>
          <a:p>
            <a:r>
              <a:rPr lang="en-US" dirty="0"/>
              <a:t>Returns a zip object, which is a lazy iterator of tuples.</a:t>
            </a:r>
          </a:p>
          <a:p>
            <a:r>
              <a:rPr lang="en-US" dirty="0"/>
              <a:t>Each tuple contains one element from each of the provided </a:t>
            </a:r>
            <a:r>
              <a:rPr lang="en-US" dirty="0" err="1"/>
              <a:t>iterables</a:t>
            </a:r>
            <a:endParaRPr lang="en-US" dirty="0"/>
          </a:p>
          <a:p>
            <a:r>
              <a:rPr lang="en-US" dirty="0"/>
              <a:t>Stops at the shortest </a:t>
            </a:r>
            <a:r>
              <a:rPr lang="en-US" dirty="0" err="1"/>
              <a:t>iterable</a:t>
            </a:r>
            <a:r>
              <a:rPr lang="en-US" dirty="0"/>
              <a:t> (extra elements in the longer </a:t>
            </a:r>
            <a:r>
              <a:rPr lang="en-US" dirty="0" err="1"/>
              <a:t>iterable</a:t>
            </a:r>
            <a:r>
              <a:rPr lang="en-US" dirty="0"/>
              <a:t> are ignored)</a:t>
            </a:r>
          </a:p>
          <a:p>
            <a:pPr lvl="1"/>
            <a:r>
              <a:rPr lang="en-US" dirty="0"/>
              <a:t>Note: to fill using the longer </a:t>
            </a:r>
            <a:r>
              <a:rPr lang="en-US" dirty="0" err="1"/>
              <a:t>iterable</a:t>
            </a:r>
            <a:r>
              <a:rPr lang="en-US" dirty="0"/>
              <a:t>, import and call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zip_longest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function (from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function takes a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fillvalue</a:t>
            </a:r>
            <a:r>
              <a:rPr lang="en-US" dirty="0"/>
              <a:t>’ argument</a:t>
            </a:r>
          </a:p>
          <a:p>
            <a:r>
              <a:rPr lang="en-US" dirty="0"/>
              <a:t>You can reverse the operation (unzip) using zip again using arbitrary </a:t>
            </a:r>
            <a:r>
              <a:rPr lang="en-US" dirty="0" err="1"/>
              <a:t>args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zip(*zipped)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F720D4-868E-2993-227C-3F49B527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</a:t>
            </a:r>
          </a:p>
        </p:txBody>
      </p:sp>
    </p:spTree>
    <p:extLst>
      <p:ext uri="{BB962C8B-B14F-4D97-AF65-F5344CB8AC3E}">
        <p14:creationId xmlns:p14="http://schemas.microsoft.com/office/powerpoint/2010/main" val="360766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A265-0B15-4714-61BD-AD64FC60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1DB4B5-B479-2442-CFEC-DA986ED05B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12DFB75-8DED-FF80-7C3A-5D72A12695B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Exceptions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E66-B0BE-3E6E-0AD6-FC7E02CE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55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20B8-BE14-9956-A1CE-09B29E0D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91C20-DBC5-FF53-1F2A-CDC7D0828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B80C8-2806-7990-6308-90FFA6C5E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Exception is an object which is used to indicate when an error occurs at runtime, disrupting normal program flow</a:t>
            </a:r>
          </a:p>
          <a:p>
            <a:pPr lvl="1"/>
            <a:r>
              <a:rPr lang="en-US" dirty="0"/>
              <a:t>Unlike syntax errors, exceptions occur in code that is syntactically valid</a:t>
            </a:r>
          </a:p>
          <a:p>
            <a:pPr lvl="1"/>
            <a:r>
              <a:rPr lang="en-US" dirty="0"/>
              <a:t>Exceptions are instances of an exception class</a:t>
            </a:r>
          </a:p>
          <a:p>
            <a:r>
              <a:rPr lang="en-US" dirty="0"/>
              <a:t>All built-in exceptions inherit from the base class Exception</a:t>
            </a:r>
          </a:p>
          <a:p>
            <a:r>
              <a:rPr lang="en-US" dirty="0"/>
              <a:t>Python has many built-in Exception </a:t>
            </a:r>
            <a:r>
              <a:rPr lang="en-US" dirty="0" err="1"/>
              <a:t>typs</a:t>
            </a:r>
            <a:r>
              <a:rPr lang="en-US" dirty="0"/>
              <a:t>, covering common error scenarios:</a:t>
            </a:r>
          </a:p>
          <a:p>
            <a:pPr lvl="1"/>
            <a:r>
              <a:rPr lang="en-US" dirty="0" err="1"/>
              <a:t>TypeError</a:t>
            </a:r>
            <a:r>
              <a:rPr lang="en-US" dirty="0"/>
              <a:t>, </a:t>
            </a:r>
            <a:r>
              <a:rPr lang="en-US" dirty="0" err="1"/>
              <a:t>ValueError</a:t>
            </a:r>
            <a:r>
              <a:rPr lang="en-US" dirty="0"/>
              <a:t>, </a:t>
            </a:r>
            <a:r>
              <a:rPr lang="en-US" dirty="0" err="1"/>
              <a:t>KeyError</a:t>
            </a:r>
            <a:r>
              <a:rPr lang="en-US" dirty="0"/>
              <a:t>, </a:t>
            </a:r>
            <a:r>
              <a:rPr lang="en-US" dirty="0" err="1"/>
              <a:t>IndexError</a:t>
            </a:r>
            <a:r>
              <a:rPr lang="en-US" dirty="0"/>
              <a:t>, ZeroDivisionError</a:t>
            </a:r>
          </a:p>
          <a:p>
            <a:r>
              <a:rPr lang="en-US" dirty="0"/>
              <a:t>Exceptions have a hierarchy, some are subclasses of others</a:t>
            </a:r>
          </a:p>
          <a:p>
            <a:r>
              <a:rPr lang="en-US" dirty="0"/>
              <a:t>Understanding exception types help you handle the right errors in the right way.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0E2B40-BD3A-E146-4F3E-0CF38AAB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</a:t>
            </a:r>
          </a:p>
        </p:txBody>
      </p:sp>
    </p:spTree>
    <p:extLst>
      <p:ext uri="{BB962C8B-B14F-4D97-AF65-F5344CB8AC3E}">
        <p14:creationId xmlns:p14="http://schemas.microsoft.com/office/powerpoint/2010/main" val="102226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F179-72CD-8A1D-BF76-2FBED70E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7F141-1098-2FC3-B7A9-69BFC5CC5F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74436-A1A4-4BB9-BEA6-45A3388A0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Writing code that responds to exceptions gracefully, rather than crashing</a:t>
            </a:r>
          </a:p>
          <a:p>
            <a:r>
              <a:rPr lang="en-US" dirty="0"/>
              <a:t>Allows programs to recover from errors, log them, or give the user helpful feedback</a:t>
            </a:r>
          </a:p>
          <a:p>
            <a:r>
              <a:rPr lang="en-US" dirty="0"/>
              <a:t>If not handled, exceptions terminate the program immediately</a:t>
            </a:r>
          </a:p>
          <a:p>
            <a:pPr lvl="1"/>
            <a:r>
              <a:rPr lang="en-US" dirty="0"/>
              <a:t>The goal is to handle exceptions and recoverable errors</a:t>
            </a:r>
          </a:p>
          <a:p>
            <a:pPr lvl="1"/>
            <a:r>
              <a:rPr lang="en-US" dirty="0"/>
              <a:t>Never use exception handling to hide bugs, only handle exceptions you expect and can respond to meaningfully</a:t>
            </a:r>
          </a:p>
          <a:p>
            <a:r>
              <a:rPr lang="en-US" dirty="0"/>
              <a:t>Exception handling is not just for errors, it is a control flow tool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A830BE-5EC9-291E-F504-38E3E112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246164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5486-3E81-41B9-A3D2-16983BBA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381E-5F7D-3D6D-7C44-904400BDC8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0BF4B-B2AF-C94B-DFF8-FB35C0610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dirty="0"/>
              <a:t> are keywords used to handle exceptions.</a:t>
            </a:r>
          </a:p>
          <a:p>
            <a:pPr lvl="1"/>
            <a:r>
              <a:rPr lang="en-US" dirty="0"/>
              <a:t>The try block contains code that might raise an exception</a:t>
            </a:r>
          </a:p>
          <a:p>
            <a:pPr lvl="1"/>
            <a:r>
              <a:rPr lang="en-US" dirty="0"/>
              <a:t>The except block contains code that runs if a specific exception (or a parent exception) is raised</a:t>
            </a:r>
          </a:p>
          <a:p>
            <a:r>
              <a:rPr lang="en-US" dirty="0"/>
              <a:t>The finally keyword can also be used to indicate  a block that will always run (whether an exception is raised on not)</a:t>
            </a:r>
          </a:p>
          <a:p>
            <a:pPr lvl="1"/>
            <a:r>
              <a:rPr lang="en-US" dirty="0"/>
              <a:t>A finally clause can be used for cleanup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A93D6A-0C8D-52AF-32F7-934FBFA6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Try-except</a:t>
            </a:r>
          </a:p>
        </p:txBody>
      </p:sp>
    </p:spTree>
    <p:extLst>
      <p:ext uri="{BB962C8B-B14F-4D97-AF65-F5344CB8AC3E}">
        <p14:creationId xmlns:p14="http://schemas.microsoft.com/office/powerpoint/2010/main" val="235220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15AC-F321-2F0D-697C-8B6301BE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1A73D-E591-C18B-1F2E-3504548F4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64BC59-8611-BC16-B97E-7A3CD0162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Python allows you to define your own custom exception classes</a:t>
            </a:r>
          </a:p>
          <a:p>
            <a:r>
              <a:rPr lang="en-US" dirty="0"/>
              <a:t>Custom exceptions should inherit from Exception or one of its subclasses</a:t>
            </a:r>
          </a:p>
          <a:p>
            <a:r>
              <a:rPr lang="en-US" dirty="0"/>
              <a:t>Custom exceptions should have descriptive names, ending in ‘Error’ by convention.</a:t>
            </a:r>
          </a:p>
          <a:p>
            <a:r>
              <a:rPr lang="en-US" dirty="0"/>
              <a:t>When your code should result in your custom exception, use the raise keyword.</a:t>
            </a:r>
          </a:p>
          <a:p>
            <a:pPr lvl="1"/>
            <a:r>
              <a:rPr lang="en-US" dirty="0"/>
              <a:t>Custom exceptions can carry descriptive messages by passing a string to the constructor call</a:t>
            </a:r>
          </a:p>
          <a:p>
            <a:r>
              <a:rPr lang="en-US" dirty="0"/>
              <a:t>Custom exceptions make your code more expressive and self-documenting</a:t>
            </a:r>
          </a:p>
          <a:p>
            <a:r>
              <a:rPr lang="en-US" dirty="0"/>
              <a:t>Allows developers to catch your specific errors separately from built-in ones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572678-EDAB-1B42-F87B-BAC6078E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Exceptions</a:t>
            </a:r>
          </a:p>
        </p:txBody>
      </p:sp>
    </p:spTree>
    <p:extLst>
      <p:ext uri="{BB962C8B-B14F-4D97-AF65-F5344CB8AC3E}">
        <p14:creationId xmlns:p14="http://schemas.microsoft.com/office/powerpoint/2010/main" val="156630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93A2-A178-D3B3-342B-59A99879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5F5894-CD63-BD10-3A7F-5DDAE96052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8E5CAA-1F99-AB90-52E0-94116EEA158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Functional Programming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25737-E206-7535-D8CC-36AE7AC8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513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7377-4D02-DCFF-6014-845F7DE2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54BC-ED0F-952E-28D9-4FDBCE463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82BB7-0951-9795-D7F8-412377A4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Generator expressions produce values one at a time, on demand, lazily.</a:t>
            </a:r>
          </a:p>
          <a:p>
            <a:r>
              <a:rPr lang="en-US" dirty="0"/>
              <a:t>Syntax is nearly identical to list comprehension syntax, but uses parentheses instead:</a:t>
            </a:r>
          </a:p>
          <a:p>
            <a:pPr lvl="1"/>
            <a:r>
              <a:rPr lang="en-US" dirty="0"/>
              <a:t>List comprehension: [expression for item in </a:t>
            </a:r>
            <a:r>
              <a:rPr lang="en-US" dirty="0" err="1"/>
              <a:t>iterable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Generator Expression: (expression for item in </a:t>
            </a:r>
            <a:r>
              <a:rPr lang="en-US" dirty="0" err="1"/>
              <a:t>iterable</a:t>
            </a:r>
            <a:r>
              <a:rPr lang="en-US" dirty="0"/>
              <a:t>)</a:t>
            </a:r>
          </a:p>
          <a:p>
            <a:r>
              <a:rPr lang="en-US" dirty="0"/>
              <a:t>Generator expressions return a generator object, not a list</a:t>
            </a:r>
          </a:p>
          <a:p>
            <a:r>
              <a:rPr lang="en-US" dirty="0"/>
              <a:t>Values are only computed when requested via next() (recall that for loops call this method)</a:t>
            </a:r>
          </a:p>
          <a:p>
            <a:r>
              <a:rPr lang="en-US" dirty="0"/>
              <a:t>Generator expressions are more memory efficient than list comprehensions</a:t>
            </a:r>
          </a:p>
          <a:p>
            <a:r>
              <a:rPr lang="en-US" dirty="0"/>
              <a:t>A generator can only be iterated once</a:t>
            </a:r>
          </a:p>
          <a:p>
            <a:r>
              <a:rPr lang="en-US" dirty="0"/>
              <a:t>Useful for one-off functionality:</a:t>
            </a:r>
          </a:p>
          <a:p>
            <a:pPr lvl="1"/>
            <a:r>
              <a:rPr lang="en-US" dirty="0"/>
              <a:t>sum(generator), max(generator), min(generator), etc…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11E5D7-473D-0E27-B380-45C9AC5B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Expressions</a:t>
            </a:r>
          </a:p>
        </p:txBody>
      </p:sp>
    </p:spTree>
    <p:extLst>
      <p:ext uri="{BB962C8B-B14F-4D97-AF65-F5344CB8AC3E}">
        <p14:creationId xmlns:p14="http://schemas.microsoft.com/office/powerpoint/2010/main" val="106741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5F34-E079-EB16-E8DF-24FC0C4F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342D0-BC63-605C-F750-13B6BEE6D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A51F7-F3EB-D892-E767-3AB43302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Anonymous functions are functions that are defined without a name. </a:t>
            </a:r>
          </a:p>
          <a:p>
            <a:pPr lvl="1"/>
            <a:r>
              <a:rPr lang="en-US" dirty="0"/>
              <a:t>Typically created as an in-line call</a:t>
            </a:r>
          </a:p>
          <a:p>
            <a:pPr lvl="1"/>
            <a:r>
              <a:rPr lang="en-US" dirty="0"/>
              <a:t>No name, unless assigned to a variable</a:t>
            </a:r>
          </a:p>
          <a:p>
            <a:r>
              <a:rPr lang="en-US" dirty="0"/>
              <a:t>Lambda is a small anonymous functions defined using the lambda keyword instead of def</a:t>
            </a:r>
          </a:p>
          <a:p>
            <a:pPr lvl="1"/>
            <a:r>
              <a:rPr lang="en-US" dirty="0"/>
              <a:t>Syntax: lambda parameters: expression</a:t>
            </a:r>
          </a:p>
          <a:p>
            <a:r>
              <a:rPr lang="en-US" dirty="0"/>
              <a:t>Lambdas can take any number of parameters, but only a single expression</a:t>
            </a:r>
          </a:p>
          <a:p>
            <a:r>
              <a:rPr lang="en-US" dirty="0"/>
              <a:t>The expression is automatically returned (no return keyword required)</a:t>
            </a:r>
          </a:p>
          <a:p>
            <a:r>
              <a:rPr lang="en-US" dirty="0"/>
              <a:t>Lambdas are commonly used as a short-lived, inline process which is passed to another function</a:t>
            </a:r>
          </a:p>
          <a:p>
            <a:pPr lvl="1"/>
            <a:r>
              <a:rPr lang="en-US" dirty="0"/>
              <a:t>i.e. this allows you to create one-off functionality, instead of dedicating the creation of a function that would otherwise only be called one time.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D85E68-47D9-8FC9-502C-D408B453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 &amp; Anonymous Functions</a:t>
            </a:r>
          </a:p>
        </p:txBody>
      </p:sp>
    </p:spTree>
    <p:extLst>
      <p:ext uri="{BB962C8B-B14F-4D97-AF65-F5344CB8AC3E}">
        <p14:creationId xmlns:p14="http://schemas.microsoft.com/office/powerpoint/2010/main" val="381574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1AB6-657A-DB72-39E6-99EF5603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34F51-E9B1-4BDF-AE5C-09CBC16AF6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4E233-F512-C14A-76D8-59534172E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map(), filter() and reduce() are higher-order functions</a:t>
            </a:r>
          </a:p>
          <a:p>
            <a:pPr lvl="1"/>
            <a:r>
              <a:rPr lang="en-US" dirty="0"/>
              <a:t>These functions expect another function as it’s first argument.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7733A6-B598-4FEC-C021-57FD6030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Map, Filter, Reduce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65034D-AFF4-E4B3-839D-5E3005B9F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427830"/>
              </p:ext>
            </p:extLst>
          </p:nvPr>
        </p:nvGraphicFramePr>
        <p:xfrm>
          <a:off x="380010" y="3619919"/>
          <a:ext cx="838398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638">
                  <a:extLst>
                    <a:ext uri="{9D8B030D-6E8A-4147-A177-3AD203B41FA5}">
                      <a16:colId xmlns:a16="http://schemas.microsoft.com/office/drawing/2014/main" val="3083201991"/>
                    </a:ext>
                  </a:extLst>
                </a:gridCol>
                <a:gridCol w="5096342">
                  <a:extLst>
                    <a:ext uri="{9D8B030D-6E8A-4147-A177-3AD203B41FA5}">
                      <a16:colId xmlns:a16="http://schemas.microsoft.com/office/drawing/2014/main" val="3985318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5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map(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Applies a function to every item and returns a map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8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items where the function returns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4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reduce(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a sequence to a single value, by applying a function cumulatively.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26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53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AE51-63F9-FDF8-88FB-63CA4742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3D209-35EE-7A17-666C-0F2E762B4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1C9BB-9740-E46F-83A4-1D60C669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functions are used in functional programming to complete some action using the given function argument</a:t>
            </a:r>
          </a:p>
          <a:p>
            <a:pPr lvl="1"/>
            <a:r>
              <a:rPr lang="en-US" dirty="0"/>
              <a:t>map() and filter() are built-in (available without importing)</a:t>
            </a:r>
          </a:p>
          <a:p>
            <a:pPr lvl="1"/>
            <a:r>
              <a:rPr lang="en-US" dirty="0"/>
              <a:t>reduce() is defined in the </a:t>
            </a:r>
            <a:r>
              <a:rPr lang="en-US" dirty="0" err="1"/>
              <a:t>functools</a:t>
            </a:r>
            <a:r>
              <a:rPr lang="en-US" dirty="0"/>
              <a:t> module and must be imported</a:t>
            </a:r>
          </a:p>
          <a:p>
            <a:pPr lvl="1"/>
            <a:r>
              <a:rPr lang="en-US" dirty="0"/>
              <a:t>generator/list comprehensions are often preferred over map() and filter()</a:t>
            </a:r>
          </a:p>
          <a:p>
            <a:pPr lvl="2"/>
            <a:r>
              <a:rPr lang="en-US" dirty="0"/>
              <a:t>It is important to recognize these functions because they may be used in existing/older codebases</a:t>
            </a:r>
          </a:p>
          <a:p>
            <a:pPr lvl="1"/>
            <a:r>
              <a:rPr lang="en-US" dirty="0"/>
              <a:t>reduce() does not have a comprehension equivalent, so is uniquely useful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6037BA-29D1-FB2A-31C7-6D2D0C75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Map, Filter, Reduce</a:t>
            </a:r>
          </a:p>
        </p:txBody>
      </p:sp>
    </p:spTree>
    <p:extLst>
      <p:ext uri="{BB962C8B-B14F-4D97-AF65-F5344CB8AC3E}">
        <p14:creationId xmlns:p14="http://schemas.microsoft.com/office/powerpoint/2010/main" val="380740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AA7B-C117-1993-505B-CDA1CD3C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50A31-3313-4EC4-541A-38F706EFE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71AAD-E9BB-4BEB-A20E-B51ADDEB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AA948C-0A4D-B104-675E-43DFE760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17714</TotalTime>
  <Words>9034</Words>
  <Application>Microsoft Office PowerPoint</Application>
  <PresentationFormat>On-screen Show (4:3)</PresentationFormat>
  <Paragraphs>972</Paragraphs>
  <Slides>89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Arial</vt:lpstr>
      <vt:lpstr>Calibri</vt:lpstr>
      <vt:lpstr>Courier New</vt:lpstr>
      <vt:lpstr>2_Custom Design</vt:lpstr>
      <vt:lpstr>Python</vt:lpstr>
      <vt:lpstr>Outline</vt:lpstr>
      <vt:lpstr>PowerPoint Presentation</vt:lpstr>
      <vt:lpstr>What is Python?</vt:lpstr>
      <vt:lpstr>Interpreter vs Compiler</vt:lpstr>
      <vt:lpstr>Installing Python &amp; PiP</vt:lpstr>
      <vt:lpstr>PiP &amp; PyPl Repository</vt:lpstr>
      <vt:lpstr>REPL</vt:lpstr>
      <vt:lpstr>Comments</vt:lpstr>
      <vt:lpstr>PowerPoint Presentation</vt:lpstr>
      <vt:lpstr>Primitive Datatypes</vt:lpstr>
      <vt:lpstr>Operators</vt:lpstr>
      <vt:lpstr>Operators (Arithmetic)</vt:lpstr>
      <vt:lpstr>Operators (Assignment)</vt:lpstr>
      <vt:lpstr>Operators (Comparison)</vt:lpstr>
      <vt:lpstr>Operators (Logical)</vt:lpstr>
      <vt:lpstr>Operators (Membership &amp; Identity)</vt:lpstr>
      <vt:lpstr>Operators (Membership &amp; Identity)</vt:lpstr>
      <vt:lpstr>String Interning</vt:lpstr>
      <vt:lpstr>Identifiers &amp; Keywords</vt:lpstr>
      <vt:lpstr>User Input &amp; Output</vt:lpstr>
      <vt:lpstr>User Input &amp; Output</vt:lpstr>
      <vt:lpstr>PowerPoint Presentation</vt:lpstr>
      <vt:lpstr>Functions: Introduction</vt:lpstr>
      <vt:lpstr>Functions: Declaration &amp; Syntax</vt:lpstr>
      <vt:lpstr>Functions: Declaration &amp; Syntax (cont)</vt:lpstr>
      <vt:lpstr>Functions: Invocation</vt:lpstr>
      <vt:lpstr>Functions: Parameters</vt:lpstr>
      <vt:lpstr>Functions: Positional Parameters</vt:lpstr>
      <vt:lpstr>Functions: Default Parameters</vt:lpstr>
      <vt:lpstr>Functions: Arbitrary Parameters</vt:lpstr>
      <vt:lpstr>Functions: Arbitrary Keyword Parameters</vt:lpstr>
      <vt:lpstr>Functions: Return Values</vt:lpstr>
      <vt:lpstr>PowerPoint Presentation</vt:lpstr>
      <vt:lpstr>Modules</vt:lpstr>
      <vt:lpstr>Imports</vt:lpstr>
      <vt:lpstr>Debugging</vt:lpstr>
      <vt:lpstr>Virtual Environments</vt:lpstr>
      <vt:lpstr>Requirements File</vt:lpstr>
      <vt:lpstr>Garbage Collection</vt:lpstr>
      <vt:lpstr>PowerPoint Presentation</vt:lpstr>
      <vt:lpstr>Flow Control</vt:lpstr>
      <vt:lpstr>Flow Control | If-else statements</vt:lpstr>
      <vt:lpstr>Flow Control | Match Statements</vt:lpstr>
      <vt:lpstr>Flow Control | For Loops</vt:lpstr>
      <vt:lpstr>Flow Control | range() function</vt:lpstr>
      <vt:lpstr>Flow Control | break &amp; continue</vt:lpstr>
      <vt:lpstr>Flow Control | While Loops</vt:lpstr>
      <vt:lpstr>Truthy / Falsy</vt:lpstr>
      <vt:lpstr>PowerPoint Presentation</vt:lpstr>
      <vt:lpstr>Variable Scopes (namespaces)</vt:lpstr>
      <vt:lpstr>Classes &amp; Objects</vt:lpstr>
      <vt:lpstr>Classes and Objects (cont)</vt:lpstr>
      <vt:lpstr>Dunder Methods</vt:lpstr>
      <vt:lpstr>Dunder Attributes</vt:lpstr>
      <vt:lpstr>OOP Concepts</vt:lpstr>
      <vt:lpstr>OOP Concepts (Inheritance)</vt:lpstr>
      <vt:lpstr>OOP Concepts (Polymorphism)</vt:lpstr>
      <vt:lpstr>OOP Concepts (Encapsulation)</vt:lpstr>
      <vt:lpstr>OOP Concepts (Abstraction)</vt:lpstr>
      <vt:lpstr>Decorators</vt:lpstr>
      <vt:lpstr>PowerPoint Presentation</vt:lpstr>
      <vt:lpstr>Data Structures</vt:lpstr>
      <vt:lpstr>Lists</vt:lpstr>
      <vt:lpstr>Common List Methods</vt:lpstr>
      <vt:lpstr>Tuples</vt:lpstr>
      <vt:lpstr>Common Tuple Methods</vt:lpstr>
      <vt:lpstr>Sets</vt:lpstr>
      <vt:lpstr>Common Set Methods</vt:lpstr>
      <vt:lpstr>Dictionary (dict)</vt:lpstr>
      <vt:lpstr>Common Dict Methods</vt:lpstr>
      <vt:lpstr>Deque</vt:lpstr>
      <vt:lpstr>Common Deque Methods</vt:lpstr>
      <vt:lpstr>PowerPoint Presentation</vt:lpstr>
      <vt:lpstr>Iterables</vt:lpstr>
      <vt:lpstr>Iterators</vt:lpstr>
      <vt:lpstr>List Comprehension</vt:lpstr>
      <vt:lpstr>Zip</vt:lpstr>
      <vt:lpstr>PowerPoint Presentation</vt:lpstr>
      <vt:lpstr>Exception</vt:lpstr>
      <vt:lpstr>Exception Handling</vt:lpstr>
      <vt:lpstr>Try-except</vt:lpstr>
      <vt:lpstr>Custom Exceptions</vt:lpstr>
      <vt:lpstr>PowerPoint Presentation</vt:lpstr>
      <vt:lpstr>Generator Expressions</vt:lpstr>
      <vt:lpstr>Lambdas &amp; Anonymous Functions</vt:lpstr>
      <vt:lpstr>Map, Filter, Reduce</vt:lpstr>
      <vt:lpstr>Map, Filter, Reduce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35</cp:revision>
  <cp:lastPrinted>2016-06-20T20:58:50Z</cp:lastPrinted>
  <dcterms:created xsi:type="dcterms:W3CDTF">2016-11-09T18:19:08Z</dcterms:created>
  <dcterms:modified xsi:type="dcterms:W3CDTF">2026-06-11T16:29:26Z</dcterms:modified>
</cp:coreProperties>
</file>