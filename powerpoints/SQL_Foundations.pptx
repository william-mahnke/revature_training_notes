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sldIdLst>
    <p:sldId id="256" r:id="rId2"/>
    <p:sldId id="343" r:id="rId3"/>
    <p:sldId id="357" r:id="rId4"/>
    <p:sldId id="257" r:id="rId5"/>
    <p:sldId id="358" r:id="rId6"/>
    <p:sldId id="323" r:id="rId7"/>
    <p:sldId id="308" r:id="rId8"/>
    <p:sldId id="322" r:id="rId9"/>
    <p:sldId id="293" r:id="rId10"/>
    <p:sldId id="359" r:id="rId11"/>
    <p:sldId id="301" r:id="rId12"/>
    <p:sldId id="307" r:id="rId13"/>
    <p:sldId id="360" r:id="rId14"/>
    <p:sldId id="258" r:id="rId15"/>
    <p:sldId id="373" r:id="rId16"/>
    <p:sldId id="366" r:id="rId17"/>
    <p:sldId id="259" r:id="rId18"/>
    <p:sldId id="361" r:id="rId19"/>
    <p:sldId id="372" r:id="rId20"/>
    <p:sldId id="261" r:id="rId21"/>
    <p:sldId id="362" r:id="rId22"/>
    <p:sldId id="264" r:id="rId23"/>
    <p:sldId id="262" r:id="rId24"/>
    <p:sldId id="260" r:id="rId25"/>
    <p:sldId id="365" r:id="rId26"/>
    <p:sldId id="367" r:id="rId27"/>
    <p:sldId id="263" r:id="rId28"/>
    <p:sldId id="364" r:id="rId29"/>
    <p:sldId id="368" r:id="rId30"/>
    <p:sldId id="369" r:id="rId31"/>
    <p:sldId id="370" r:id="rId32"/>
    <p:sldId id="374" r:id="rId3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9" autoAdjust="0"/>
    <p:restoredTop sz="94660"/>
  </p:normalViewPr>
  <p:slideViewPr>
    <p:cSldViewPr snapToGrid="0">
      <p:cViewPr varScale="1">
        <p:scale>
          <a:sx n="69" d="100"/>
          <a:sy n="69" d="100"/>
        </p:scale>
        <p:origin x="1440" y="6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6446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onthenet.com/postgresql/tables/create_table.php" TargetMode="External"/><Relationship Id="rId2" Type="http://schemas.openxmlformats.org/officeDocument/2006/relationships/hyperlink" Target="https://www.postgresql.org/docs/10/datatype-numeric.html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tutorialspoint.com/postgresql/postgresql_syntax.htm" TargetMode="External"/><Relationship Id="rId4" Type="http://schemas.openxmlformats.org/officeDocument/2006/relationships/hyperlink" Target="https://www.postgresqltutorial.com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5490-6456-4190-BBEC-61C17ED96E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Foundations</a:t>
            </a:r>
          </a:p>
        </p:txBody>
      </p:sp>
    </p:spTree>
    <p:extLst>
      <p:ext uri="{BB962C8B-B14F-4D97-AF65-F5344CB8AC3E}">
        <p14:creationId xmlns:p14="http://schemas.microsoft.com/office/powerpoint/2010/main" val="499037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Databases</a:t>
            </a:r>
          </a:p>
          <a:p>
            <a:r>
              <a:rPr lang="en-US" dirty="0"/>
              <a:t>RDBMS</a:t>
            </a:r>
          </a:p>
          <a:p>
            <a:r>
              <a:rPr lang="en-US" dirty="0"/>
              <a:t>ERDs</a:t>
            </a:r>
          </a:p>
          <a:p>
            <a:r>
              <a:rPr lang="en-US" dirty="0"/>
              <a:t>Intro to SQL</a:t>
            </a:r>
          </a:p>
          <a:p>
            <a:r>
              <a:rPr lang="en-US" dirty="0"/>
              <a:t>SQL Datatypes</a:t>
            </a:r>
          </a:p>
          <a:p>
            <a:r>
              <a:rPr lang="en-US" dirty="0"/>
              <a:t>Sublanguages Overview</a:t>
            </a:r>
          </a:p>
          <a:p>
            <a:r>
              <a:rPr lang="en-US" dirty="0"/>
              <a:t>Data Definition Language</a:t>
            </a:r>
          </a:p>
          <a:p>
            <a:r>
              <a:rPr lang="en-US" dirty="0"/>
              <a:t>Data Manipulation Language &amp; CRUD</a:t>
            </a:r>
          </a:p>
          <a:p>
            <a:r>
              <a:rPr lang="en-US" dirty="0"/>
              <a:t>Query Clauses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69BA-08A3-4057-923C-93DA25010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94569-2240-4BDB-AD3B-191809E51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Servers dedicated to the </a:t>
            </a:r>
            <a:r>
              <a:rPr lang="en-US" b="1" i="1" dirty="0"/>
              <a:t>storage</a:t>
            </a:r>
            <a:r>
              <a:rPr lang="en-US" dirty="0"/>
              <a:t> and </a:t>
            </a:r>
            <a:r>
              <a:rPr lang="en-US" b="1" i="1" dirty="0"/>
              <a:t>retrieval</a:t>
            </a:r>
            <a:r>
              <a:rPr lang="en-US" dirty="0"/>
              <a:t> of data.</a:t>
            </a:r>
          </a:p>
          <a:p>
            <a:pPr lvl="1"/>
            <a:r>
              <a:rPr lang="en-US" b="1" dirty="0"/>
              <a:t>Schema</a:t>
            </a:r>
            <a:r>
              <a:rPr lang="en-US" dirty="0"/>
              <a:t>: Named clusters of objects, functions and other data for a given database.</a:t>
            </a:r>
          </a:p>
          <a:p>
            <a:pPr lvl="1"/>
            <a:r>
              <a:rPr lang="en-US" b="1" dirty="0"/>
              <a:t>Table</a:t>
            </a:r>
            <a:r>
              <a:rPr lang="en-US" dirty="0"/>
              <a:t>: Named entities used to store important data as records. Tables are composed of columns.</a:t>
            </a:r>
          </a:p>
          <a:p>
            <a:pPr lvl="1"/>
            <a:r>
              <a:rPr lang="en-US" b="1" dirty="0"/>
              <a:t>Column</a:t>
            </a:r>
            <a:r>
              <a:rPr lang="en-US" dirty="0"/>
              <a:t>: A named field with a specified datatype. Used to describe the structure of desired data to be stored.</a:t>
            </a:r>
          </a:p>
          <a:p>
            <a:pPr lvl="1"/>
            <a:r>
              <a:rPr lang="en-US" b="1" dirty="0"/>
              <a:t>Record </a:t>
            </a:r>
            <a:r>
              <a:rPr lang="en-US" dirty="0"/>
              <a:t>(Row): A significant unit of data in a table. Records should have a value for each column of the table in which it resides.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DE6B5-8B93-4186-A863-5BAA06E8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996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9E3E-49AA-2543-E2B4-C8F464605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9D37C9-8701-6B7B-B911-1FDBABDA58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DBED5E6B-5815-B829-8D6C-00108A7389D4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RDBMS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CEDB56-15B4-2405-FB8B-CE0611648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540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69BA-08A3-4057-923C-93DA25010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94569-2240-4BDB-AD3B-191809E51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158636"/>
          </a:xfrm>
        </p:spPr>
        <p:txBody>
          <a:bodyPr>
            <a:normAutofit/>
          </a:bodyPr>
          <a:lstStyle/>
          <a:p>
            <a:r>
              <a:rPr lang="en-US" dirty="0"/>
              <a:t>Relational Database Management System</a:t>
            </a:r>
          </a:p>
          <a:p>
            <a:r>
              <a:rPr lang="en-US" dirty="0"/>
              <a:t>Majority use/support SQL</a:t>
            </a:r>
          </a:p>
          <a:p>
            <a:pPr lvl="1"/>
            <a:r>
              <a:rPr lang="en-US" dirty="0"/>
              <a:t>Structured Query Language</a:t>
            </a:r>
          </a:p>
          <a:p>
            <a:pPr lvl="1"/>
            <a:r>
              <a:rPr lang="en-US" dirty="0"/>
              <a:t>ANSI standards 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Oracle </a:t>
            </a:r>
          </a:p>
          <a:p>
            <a:pPr lvl="1"/>
            <a:r>
              <a:rPr lang="en-US" dirty="0"/>
              <a:t>MySQL</a:t>
            </a:r>
          </a:p>
          <a:p>
            <a:pPr lvl="1"/>
            <a:r>
              <a:rPr lang="en-US" dirty="0" err="1"/>
              <a:t>SQLServer</a:t>
            </a:r>
            <a:endParaRPr lang="en-US" dirty="0"/>
          </a:p>
          <a:p>
            <a:pPr lvl="1"/>
            <a:r>
              <a:rPr lang="en-US" dirty="0" err="1"/>
              <a:t>PostgresSQL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DE6B5-8B93-4186-A863-5BAA06E8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23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PostgreSQL database clusters contain one or more databases. </a:t>
            </a:r>
          </a:p>
          <a:p>
            <a:pPr lvl="1"/>
            <a:r>
              <a:rPr lang="en-US" dirty="0"/>
              <a:t>Users and groups of users are shared across the entire database</a:t>
            </a:r>
          </a:p>
          <a:p>
            <a:pPr lvl="1"/>
            <a:r>
              <a:rPr lang="en-US" dirty="0"/>
              <a:t>No other data is shared across the databases.</a:t>
            </a:r>
          </a:p>
          <a:p>
            <a:r>
              <a:rPr lang="en-US" b="1" dirty="0"/>
              <a:t>Schemas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Schemas are similar to ‘packages’ in java, and can be used to organize data within your database.</a:t>
            </a:r>
          </a:p>
          <a:p>
            <a:pPr lvl="1"/>
            <a:r>
              <a:rPr lang="en-US" dirty="0"/>
              <a:t>The same object name can be used in different schemas without conflict.</a:t>
            </a:r>
          </a:p>
          <a:p>
            <a:pPr lvl="1"/>
            <a:r>
              <a:rPr lang="en-US" dirty="0"/>
              <a:t>Use multiple schemas to allow many users to use one database without interfering with one another, or organize database objects into logical groups for maintainability.</a:t>
            </a:r>
          </a:p>
          <a:p>
            <a:pPr lvl="1"/>
            <a:r>
              <a:rPr lang="en-US" dirty="0"/>
              <a:t>Schema names </a:t>
            </a:r>
            <a:r>
              <a:rPr lang="en-US" b="1" i="1" dirty="0"/>
              <a:t>must</a:t>
            </a:r>
            <a:r>
              <a:rPr lang="en-US" dirty="0"/>
              <a:t> begin with a letter and may include an underscore, numbers and dollar signs*.</a:t>
            </a:r>
          </a:p>
          <a:p>
            <a:pPr lvl="2"/>
            <a:r>
              <a:rPr lang="en-US" dirty="0"/>
              <a:t>NOTE: using dollar signs can make your application less portable as many applications and tools do not allow for its use.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9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Schemas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You can use the CREATE command to declare a new Schema: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access an object in a schema, you can use the schemas as the ‘</a:t>
            </a:r>
            <a:r>
              <a:rPr lang="en-US" i="1" dirty="0"/>
              <a:t>qualified name’.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To remove a Schema, use the DROP command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Google Shape;219;p16">
            <a:extLst>
              <a:ext uri="{FF2B5EF4-FFF2-40B4-BE49-F238E27FC236}">
                <a16:creationId xmlns:a16="http://schemas.microsoft.com/office/drawing/2014/main" id="{F22B2846-D68D-4E2A-B387-AF1CEC22F710}"/>
              </a:ext>
            </a:extLst>
          </p:cNvPr>
          <p:cNvSpPr txBox="1">
            <a:spLocks/>
          </p:cNvSpPr>
          <p:nvPr/>
        </p:nvSpPr>
        <p:spPr>
          <a:xfrm>
            <a:off x="2392017" y="2729949"/>
            <a:ext cx="4359965" cy="49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 SCHEMA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mySchema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Google Shape;219;p16">
            <a:extLst>
              <a:ext uri="{FF2B5EF4-FFF2-40B4-BE49-F238E27FC236}">
                <a16:creationId xmlns:a16="http://schemas.microsoft.com/office/drawing/2014/main" id="{F751754F-2D46-462E-AB22-ACB4975F20F7}"/>
              </a:ext>
            </a:extLst>
          </p:cNvPr>
          <p:cNvSpPr txBox="1">
            <a:spLocks/>
          </p:cNvSpPr>
          <p:nvPr/>
        </p:nvSpPr>
        <p:spPr>
          <a:xfrm>
            <a:off x="981073" y="4652847"/>
            <a:ext cx="7181852" cy="49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mySchema.mytable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 ... )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Google Shape;219;p16">
            <a:extLst>
              <a:ext uri="{FF2B5EF4-FFF2-40B4-BE49-F238E27FC236}">
                <a16:creationId xmlns:a16="http://schemas.microsoft.com/office/drawing/2014/main" id="{256BF2F1-95EE-46EB-A310-CA64686716F3}"/>
              </a:ext>
            </a:extLst>
          </p:cNvPr>
          <p:cNvSpPr txBox="1">
            <a:spLocks/>
          </p:cNvSpPr>
          <p:nvPr/>
        </p:nvSpPr>
        <p:spPr>
          <a:xfrm>
            <a:off x="1816848" y="6055945"/>
            <a:ext cx="5510302" cy="49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DROP SCHEMA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mySchema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CASCADE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82880" lvl="1" indent="0" defTabSz="457200">
              <a:lnSpc>
                <a:spcPct val="90000"/>
              </a:lnSpc>
              <a:buFont typeface="Arial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13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uiExpand="1" build="p" animBg="1"/>
      <p:bldP spid="7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Naming Conventions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In SQL, the definition for tables and keywords are NOT case sensitive, however </a:t>
            </a:r>
            <a:r>
              <a:rPr lang="en-US" b="1" i="1" dirty="0"/>
              <a:t>values</a:t>
            </a:r>
            <a:r>
              <a:rPr lang="en-US" dirty="0"/>
              <a:t> within a database are. Typically, SQL naming convention are as follows:</a:t>
            </a:r>
          </a:p>
          <a:p>
            <a:pPr lvl="1"/>
            <a:r>
              <a:rPr lang="en-US" b="1" dirty="0"/>
              <a:t>KEYWORDS</a:t>
            </a:r>
            <a:r>
              <a:rPr lang="en-US" dirty="0"/>
              <a:t> – All  Uppercase</a:t>
            </a:r>
          </a:p>
          <a:p>
            <a:pPr lvl="1"/>
            <a:r>
              <a:rPr lang="en-US" i="1" dirty="0"/>
              <a:t>table and column names </a:t>
            </a:r>
            <a:r>
              <a:rPr lang="en-US" dirty="0"/>
              <a:t>– All Lowercase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07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1C8AE-F940-279A-AD9E-30F14D8BB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80FCC5-FAC8-FF0F-E9AE-B6F2D27574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400B00E1-A849-63AE-20AC-1A20C3CB31D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99A9EC-A205-1DB2-3FCF-E04F88A31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53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35CB1-FC65-4AC7-83C5-D9E8749D9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51D0E-4D82-4BD3-A377-0C4E3AA74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Entity Relationship Diagram</a:t>
            </a:r>
          </a:p>
          <a:p>
            <a:r>
              <a:rPr lang="en-US" dirty="0"/>
              <a:t>Structural diagram used to visually describe the relationships between tables within a database, as well as the structure of the tables.</a:t>
            </a:r>
          </a:p>
          <a:p>
            <a:r>
              <a:rPr lang="en-US" dirty="0"/>
              <a:t>Within an ERD, each table represents a single type of entity.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A9BDE-83F8-4120-9B0A-D765603A17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88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35CB1-FC65-4AC7-83C5-D9E8749D9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A9BDE-83F8-4120-9B0A-D765603A17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A684F94-83A4-4E55-B32C-3589876A5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9658" y="1724761"/>
            <a:ext cx="5214770" cy="4627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1CC6B1-E0D5-4B16-B569-2603CABA5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19200"/>
            <a:ext cx="3670359" cy="5638800"/>
          </a:xfrm>
        </p:spPr>
        <p:txBody>
          <a:bodyPr/>
          <a:lstStyle/>
          <a:p>
            <a:r>
              <a:rPr lang="en-US" sz="1800" dirty="0"/>
              <a:t>Parents</a:t>
            </a:r>
          </a:p>
          <a:p>
            <a:pPr lvl="1"/>
            <a:r>
              <a:rPr lang="en-US" sz="1400" dirty="0"/>
              <a:t>PK – </a:t>
            </a:r>
            <a:r>
              <a:rPr lang="en-US" sz="1400" dirty="0" err="1"/>
              <a:t>parent_id</a:t>
            </a:r>
            <a:endParaRPr lang="en-US" sz="1400" dirty="0"/>
          </a:p>
          <a:p>
            <a:pPr lvl="1"/>
            <a:r>
              <a:rPr lang="en-US" sz="1400" dirty="0"/>
              <a:t>FK – </a:t>
            </a:r>
            <a:r>
              <a:rPr lang="en-US" sz="1400" dirty="0" err="1"/>
              <a:t>student_id</a:t>
            </a:r>
            <a:endParaRPr lang="en-US" sz="1400" dirty="0"/>
          </a:p>
          <a:p>
            <a:pPr lvl="1"/>
            <a:r>
              <a:rPr lang="en-US" sz="1400" dirty="0"/>
              <a:t>m:n relationship with Students</a:t>
            </a:r>
          </a:p>
          <a:p>
            <a:r>
              <a:rPr lang="en-US" sz="1800" dirty="0"/>
              <a:t>Students</a:t>
            </a:r>
          </a:p>
          <a:p>
            <a:pPr lvl="1"/>
            <a:r>
              <a:rPr lang="en-US" sz="1400" dirty="0"/>
              <a:t>PK – </a:t>
            </a:r>
            <a:r>
              <a:rPr lang="en-US" sz="1400" dirty="0" err="1"/>
              <a:t>student_id</a:t>
            </a:r>
            <a:endParaRPr lang="en-US" sz="1400" dirty="0"/>
          </a:p>
          <a:p>
            <a:pPr lvl="1"/>
            <a:r>
              <a:rPr lang="en-US" sz="1400" dirty="0"/>
              <a:t>FK – </a:t>
            </a:r>
            <a:r>
              <a:rPr lang="en-US" sz="1400" dirty="0" err="1"/>
              <a:t>school_id</a:t>
            </a:r>
            <a:endParaRPr lang="en-US" sz="1400" dirty="0"/>
          </a:p>
          <a:p>
            <a:pPr lvl="1"/>
            <a:r>
              <a:rPr lang="en-US" sz="1400" dirty="0"/>
              <a:t>m:n relationship with Parents</a:t>
            </a:r>
          </a:p>
          <a:p>
            <a:pPr lvl="1"/>
            <a:r>
              <a:rPr lang="en-US" sz="1400" dirty="0"/>
              <a:t>n:0 relationship with Schools</a:t>
            </a:r>
          </a:p>
          <a:p>
            <a:r>
              <a:rPr lang="en-US" sz="1800" dirty="0"/>
              <a:t>Schools</a:t>
            </a:r>
          </a:p>
          <a:p>
            <a:pPr lvl="1"/>
            <a:r>
              <a:rPr lang="en-US" sz="1400" dirty="0"/>
              <a:t>PK – </a:t>
            </a:r>
            <a:r>
              <a:rPr lang="en-US" sz="1400" dirty="0" err="1"/>
              <a:t>school_id</a:t>
            </a:r>
            <a:endParaRPr lang="en-US" sz="1400" dirty="0"/>
          </a:p>
          <a:p>
            <a:pPr lvl="1"/>
            <a:r>
              <a:rPr lang="en-US" sz="1400" dirty="0"/>
              <a:t>FK – </a:t>
            </a:r>
            <a:r>
              <a:rPr lang="en-US" sz="1400" dirty="0" err="1"/>
              <a:t>principal_id</a:t>
            </a:r>
            <a:endParaRPr lang="en-US" sz="1400" dirty="0"/>
          </a:p>
          <a:p>
            <a:pPr lvl="1"/>
            <a:r>
              <a:rPr lang="en-US" sz="1400" dirty="0"/>
              <a:t>0:n relationship with Students</a:t>
            </a:r>
          </a:p>
          <a:p>
            <a:pPr lvl="1"/>
            <a:r>
              <a:rPr lang="en-US" sz="1400" dirty="0"/>
              <a:t>1:1 relationship with principals</a:t>
            </a:r>
          </a:p>
          <a:p>
            <a:r>
              <a:rPr lang="en-US" sz="1800" dirty="0"/>
              <a:t>Principals</a:t>
            </a:r>
          </a:p>
          <a:p>
            <a:pPr lvl="1"/>
            <a:r>
              <a:rPr lang="en-US" sz="1400" dirty="0"/>
              <a:t>PK – </a:t>
            </a:r>
            <a:r>
              <a:rPr lang="en-US" sz="1400" dirty="0" err="1"/>
              <a:t>principal_id</a:t>
            </a:r>
            <a:endParaRPr lang="en-US" sz="1400" dirty="0"/>
          </a:p>
          <a:p>
            <a:pPr lvl="1"/>
            <a:r>
              <a:rPr lang="en-US" sz="1400" dirty="0"/>
              <a:t>FK – </a:t>
            </a:r>
            <a:r>
              <a:rPr lang="en-US" sz="1400" dirty="0" err="1"/>
              <a:t>school_id</a:t>
            </a:r>
            <a:endParaRPr lang="en-US" sz="1400" dirty="0"/>
          </a:p>
          <a:p>
            <a:pPr lvl="1"/>
            <a:r>
              <a:rPr lang="en-US" sz="1400" dirty="0"/>
              <a:t>1:1 relationship with Schools</a:t>
            </a:r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30384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EA560-46B7-A92D-36A2-A97120D80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CB1916-9FEB-D614-EAB6-18D1280CE44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45D6059B-415D-766A-987C-F0EE4D620EB4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 to SQL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4ED3F9-B555-BF96-C27F-741B474A3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76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B3321-D1A4-4382-85A5-94B3D4E5C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Query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5256-BE80-4E85-BD73-EFA302E85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04812"/>
          </a:xfrm>
        </p:spPr>
        <p:txBody>
          <a:bodyPr>
            <a:normAutofit/>
          </a:bodyPr>
          <a:lstStyle/>
          <a:p>
            <a:r>
              <a:rPr lang="en-US" dirty="0"/>
              <a:t>SQL is the standard language for relational database systems</a:t>
            </a:r>
          </a:p>
          <a:p>
            <a:pPr lvl="1"/>
            <a:r>
              <a:rPr lang="en-US" dirty="0"/>
              <a:t>All relational management systems like MySQL, MS Access, Oracle, etc… use SQL as a standard database language.</a:t>
            </a:r>
          </a:p>
          <a:p>
            <a:pPr lvl="1"/>
            <a:r>
              <a:rPr lang="en-US" dirty="0"/>
              <a:t>These have dialects. Oracle, for example, uses PL/SQL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65E22-2567-47D8-9E53-C70569259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519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9A199-FB78-9754-F055-B376C9E8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27581-3D6A-B1AB-3783-96E29FC65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6328-AD9C-E7D2-9A9F-137D8C5DA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04812"/>
          </a:xfrm>
        </p:spPr>
        <p:txBody>
          <a:bodyPr>
            <a:normAutofit/>
          </a:bodyPr>
          <a:lstStyle/>
          <a:p>
            <a:r>
              <a:rPr lang="en-US" dirty="0"/>
              <a:t>Allows users to:</a:t>
            </a:r>
          </a:p>
          <a:p>
            <a:pPr lvl="1"/>
            <a:r>
              <a:rPr lang="en-US" dirty="0"/>
              <a:t>Access data in RDBMS</a:t>
            </a:r>
          </a:p>
          <a:p>
            <a:pPr lvl="1"/>
            <a:r>
              <a:rPr lang="en-US" dirty="0"/>
              <a:t>Describe the data</a:t>
            </a:r>
          </a:p>
          <a:p>
            <a:pPr lvl="1"/>
            <a:r>
              <a:rPr lang="en-US" dirty="0"/>
              <a:t>Define the data in the Database</a:t>
            </a:r>
          </a:p>
          <a:p>
            <a:pPr lvl="1"/>
            <a:r>
              <a:rPr lang="en-US" dirty="0"/>
              <a:t>Manipulate data in a Database</a:t>
            </a:r>
          </a:p>
          <a:p>
            <a:pPr lvl="1"/>
            <a:r>
              <a:rPr lang="en-US" dirty="0"/>
              <a:t>Embed within other language using SQL modules, libraries, and pre-compilers (JDBC)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61E01-8325-5960-8472-8E81FC14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42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7A110-EF70-4389-B9B4-1787BC1C6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52E23D-5B6D-E64A-156D-1385D3828A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EE3A7933-1015-A012-AF39-5B8AD57D2500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Datatypes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A4A54A-33C5-3CBC-D835-AC16F3DD8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87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EBFDE-999C-4C61-AB30-5C1E6A211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5BA3D-6A28-42CC-8C7E-660D9E6B4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12354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Depends on the RDBMS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NUMERIC | DECIMAL | NUMBER | FLOAT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Integer or </a:t>
            </a:r>
            <a:r>
              <a:rPr lang="en-US" dirty="0" err="1"/>
              <a:t>Bigint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Varchar(n) | Text**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Char(n)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Boolean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Timestamp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With(or without) </a:t>
            </a:r>
            <a:r>
              <a:rPr lang="en-US" dirty="0" err="1"/>
              <a:t>timezone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Date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Time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With(or without) </a:t>
            </a:r>
            <a:r>
              <a:rPr lang="en-US" dirty="0" err="1"/>
              <a:t>timezone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Byte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Blob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6F2EC-DBE9-43FE-87AE-BC4E6B1E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122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1910-388A-7557-EA48-38CECF154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9926F4-28FF-789C-56A9-47F99338166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ED50CED8-7EB8-DEB9-38DC-7DC2BDD35616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Sublanguages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120FB0-3EC7-F0D8-92F7-FF80353F0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94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02BDF-5D39-FF07-42C8-4916E92B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512C5-D4BB-3FDE-277E-9E94D538C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Sublanguages of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63AA9-E54D-39BC-8097-BB89B6469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0481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DDL</a:t>
            </a:r>
          </a:p>
          <a:p>
            <a:pPr lvl="1"/>
            <a:r>
              <a:rPr lang="en-US" dirty="0"/>
              <a:t>Data definition language</a:t>
            </a:r>
          </a:p>
          <a:p>
            <a:pPr lvl="1"/>
            <a:r>
              <a:rPr lang="en-US" dirty="0"/>
              <a:t>Defining a schema (creating a table), etc. </a:t>
            </a:r>
          </a:p>
          <a:p>
            <a:r>
              <a:rPr lang="en-US" dirty="0"/>
              <a:t>DML</a:t>
            </a:r>
          </a:p>
          <a:p>
            <a:pPr lvl="1"/>
            <a:r>
              <a:rPr lang="en-US" dirty="0"/>
              <a:t>Data manipulation language</a:t>
            </a:r>
          </a:p>
          <a:p>
            <a:pPr lvl="1"/>
            <a:r>
              <a:rPr lang="en-US" dirty="0"/>
              <a:t>C.R.U.D.</a:t>
            </a:r>
          </a:p>
          <a:p>
            <a:r>
              <a:rPr lang="en-US" dirty="0"/>
              <a:t>DQL*</a:t>
            </a:r>
          </a:p>
          <a:p>
            <a:pPr lvl="1"/>
            <a:r>
              <a:rPr lang="en-US" dirty="0"/>
              <a:t>Data query language</a:t>
            </a:r>
          </a:p>
          <a:p>
            <a:pPr lvl="1"/>
            <a:r>
              <a:rPr lang="en-US" dirty="0"/>
              <a:t>Select</a:t>
            </a:r>
          </a:p>
          <a:p>
            <a:r>
              <a:rPr lang="en-US" dirty="0"/>
              <a:t>DCL</a:t>
            </a:r>
          </a:p>
          <a:p>
            <a:pPr lvl="1"/>
            <a:r>
              <a:rPr lang="en-US" dirty="0"/>
              <a:t>Data Control Language</a:t>
            </a:r>
          </a:p>
          <a:p>
            <a:pPr lvl="1"/>
            <a:r>
              <a:rPr lang="en-US" dirty="0"/>
              <a:t>Grant, Revoke</a:t>
            </a:r>
          </a:p>
          <a:p>
            <a:r>
              <a:rPr lang="en-US" dirty="0"/>
              <a:t>TCL</a:t>
            </a:r>
          </a:p>
          <a:p>
            <a:pPr lvl="1"/>
            <a:r>
              <a:rPr lang="en-US" dirty="0"/>
              <a:t>Transaction control language</a:t>
            </a:r>
          </a:p>
          <a:p>
            <a:pPr lvl="1"/>
            <a:r>
              <a:rPr lang="en-US" dirty="0" err="1"/>
              <a:t>Savepoint</a:t>
            </a:r>
            <a:r>
              <a:rPr lang="en-US" dirty="0"/>
              <a:t>, Rollback, Commit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3B221-1861-4604-35E8-98402D766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708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54B76-35BB-4700-81D6-CB06E1FA2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Helpful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70A4-CBEE-4759-8182-E0FE1BF59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https://www.postgresql.org/docs/10/datatype.html</a:t>
            </a:r>
          </a:p>
          <a:p>
            <a:r>
              <a:rPr lang="en-US" dirty="0">
                <a:hlinkClick r:id="rId3"/>
              </a:rPr>
              <a:t>https://www.techonthenet.com/postgresql/tables/create_table.php</a:t>
            </a:r>
            <a:endParaRPr lang="en-US" dirty="0"/>
          </a:p>
          <a:p>
            <a:r>
              <a:rPr lang="en-US" dirty="0">
                <a:hlinkClick r:id="rId4"/>
              </a:rPr>
              <a:t>https://www.postgresqltutorial.com/</a:t>
            </a:r>
            <a:endParaRPr lang="en-US" dirty="0"/>
          </a:p>
          <a:p>
            <a:r>
              <a:rPr lang="en-US" dirty="0">
                <a:hlinkClick r:id="rId5"/>
              </a:rPr>
              <a:t>https://www.tutorialspoint.com/postgresql/postgresql_syntax.htm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0AF48-57AC-4586-9417-6D31EDB0B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95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4834-BA89-F4D6-DE16-F9F92137D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056C18-4B5B-79E5-8055-CD85AEF0089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3305977-CF62-7CF0-6FC4-AC6D449A204B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Definition Language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0C8411-55AE-8B25-278C-226D2C073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541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B22A4-F8F5-41CA-9762-66518D4EB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8E8AB-E57B-4A0F-AF94-FA3ACB08B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CREATE</a:t>
            </a:r>
            <a:r>
              <a:rPr lang="en-US" dirty="0"/>
              <a:t> : Make a new entity (Schema, User, Table) for your database.</a:t>
            </a:r>
          </a:p>
          <a:p>
            <a:r>
              <a:rPr lang="en-US" b="1" dirty="0"/>
              <a:t>ALTER</a:t>
            </a:r>
            <a:r>
              <a:rPr lang="en-US" dirty="0"/>
              <a:t>: Modify an existing entity in your database.</a:t>
            </a:r>
          </a:p>
          <a:p>
            <a:r>
              <a:rPr lang="en-US" b="1" dirty="0"/>
              <a:t>DROP</a:t>
            </a:r>
            <a:r>
              <a:rPr lang="en-US" dirty="0"/>
              <a:t> : Remove an existing entity in your database.</a:t>
            </a:r>
          </a:p>
          <a:p>
            <a:pPr lvl="1"/>
            <a:r>
              <a:rPr lang="en-US" dirty="0"/>
              <a:t>Note: It is common to include an ‘IF EXISTS’ clause when using the drop command so that entities are only removed if you haven’t already removed them.</a:t>
            </a:r>
          </a:p>
          <a:p>
            <a:r>
              <a:rPr lang="en-US" b="1" dirty="0"/>
              <a:t>TRUNCATE</a:t>
            </a:r>
            <a:r>
              <a:rPr lang="en-US" dirty="0"/>
              <a:t> : Removes all records from a specified table, but leaves the structure of the table intact.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D860D-D52C-4DD3-AA21-4964446F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402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941B28-46D0-40A9-8329-09A6ADE7C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Example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93FBADA-2D88-4C7C-BF9F-2313ED2DFF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7076744"/>
              </p:ext>
            </p:extLst>
          </p:nvPr>
        </p:nvGraphicFramePr>
        <p:xfrm>
          <a:off x="380010" y="3002747"/>
          <a:ext cx="4010025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675">
                  <a:extLst>
                    <a:ext uri="{9D8B030D-6E8A-4147-A177-3AD203B41FA5}">
                      <a16:colId xmlns:a16="http://schemas.microsoft.com/office/drawing/2014/main" val="4046783494"/>
                    </a:ext>
                  </a:extLst>
                </a:gridCol>
                <a:gridCol w="1336675">
                  <a:extLst>
                    <a:ext uri="{9D8B030D-6E8A-4147-A177-3AD203B41FA5}">
                      <a16:colId xmlns:a16="http://schemas.microsoft.com/office/drawing/2014/main" val="120472998"/>
                    </a:ext>
                  </a:extLst>
                </a:gridCol>
                <a:gridCol w="1336675">
                  <a:extLst>
                    <a:ext uri="{9D8B030D-6E8A-4147-A177-3AD203B41FA5}">
                      <a16:colId xmlns:a16="http://schemas.microsoft.com/office/drawing/2014/main" val="14987941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gpa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09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‘Anne Smith’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485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‘Bob Johnson’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35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‘Nicoletta Doe’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738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‘Prakash Ali’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28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‘Xiao Tsung’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51269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973A7-FF11-4D93-8051-69E04BECD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7D105F-14F8-412B-A907-4996465BB17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sz="3200" dirty="0"/>
              <a:t>Data is organized in tables</a:t>
            </a:r>
          </a:p>
          <a:p>
            <a:r>
              <a:rPr lang="en-US" sz="3200" dirty="0"/>
              <a:t>Tables have rows and columns.</a:t>
            </a:r>
          </a:p>
          <a:p>
            <a:r>
              <a:rPr lang="en-US" sz="3200" dirty="0"/>
              <a:t>Columns define the type of information. </a:t>
            </a:r>
          </a:p>
          <a:p>
            <a:r>
              <a:rPr lang="en-US" sz="3200" dirty="0"/>
              <a:t>An individual record is stored in each row.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715AC1-0313-4752-989C-616F1B51D4E0}"/>
              </a:ext>
            </a:extLst>
          </p:cNvPr>
          <p:cNvSpPr txBox="1"/>
          <p:nvPr/>
        </p:nvSpPr>
        <p:spPr>
          <a:xfrm>
            <a:off x="461639" y="1748901"/>
            <a:ext cx="35599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3"/>
                </a:solidFill>
              </a:rPr>
              <a:t>Students</a:t>
            </a:r>
          </a:p>
        </p:txBody>
      </p:sp>
    </p:spTree>
    <p:extLst>
      <p:ext uri="{BB962C8B-B14F-4D97-AF65-F5344CB8AC3E}">
        <p14:creationId xmlns:p14="http://schemas.microsoft.com/office/powerpoint/2010/main" val="1566948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25330-57A0-4A2B-A79A-1DDAD21FF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93E8E-9097-452F-8B38-5310D9A9044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 anchor="ctr"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students(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id int,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name VARCHAR (13),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Decimal,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PRIMARY KEY(id)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2FE8F-8A06-4000-B7E7-E145B5D43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39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38F5F-9479-815C-325D-15B7BBEFD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725D20-B6E5-02C9-4CBC-F63CC40B8CA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52ADCCE-0CCE-D3A2-34BE-541DEC60CC4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Manipulation Language &amp; CRUD Operations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894B2-CB4F-56BF-1329-F2AB11280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391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45CA-6149-4B00-A550-2CCD29AEE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Manipulation Language</a:t>
            </a:r>
            <a:br>
              <a:rPr lang="en-US" dirty="0"/>
            </a:br>
            <a:r>
              <a:rPr lang="en-US" dirty="0"/>
              <a:t>Data Query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88B50-B820-44D0-B3EC-1980F96B4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90324"/>
            <a:ext cx="8383980" cy="495242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Manipulation Language (DML)</a:t>
            </a:r>
          </a:p>
          <a:p>
            <a:pPr lvl="1"/>
            <a:r>
              <a:rPr lang="en-US" b="1" u="sng" dirty="0"/>
              <a:t>C</a:t>
            </a:r>
            <a:r>
              <a:rPr lang="en-US" dirty="0"/>
              <a:t>reate | INSERT</a:t>
            </a:r>
          </a:p>
          <a:p>
            <a:pPr lvl="2"/>
            <a:r>
              <a:rPr lang="en-US" dirty="0"/>
              <a:t>Used to add new records to a table in your database</a:t>
            </a:r>
          </a:p>
          <a:p>
            <a:pPr lvl="1"/>
            <a:r>
              <a:rPr lang="en-US" b="1" u="sng" dirty="0"/>
              <a:t>R</a:t>
            </a:r>
            <a:r>
              <a:rPr lang="en-US" dirty="0"/>
              <a:t>ead | SELECT*</a:t>
            </a:r>
          </a:p>
          <a:p>
            <a:pPr lvl="2"/>
            <a:r>
              <a:rPr lang="en-US" dirty="0"/>
              <a:t>Used to query for and return result sets from your database</a:t>
            </a:r>
          </a:p>
          <a:p>
            <a:pPr lvl="1"/>
            <a:r>
              <a:rPr lang="en-US" b="1" u="sng" dirty="0"/>
              <a:t>U</a:t>
            </a:r>
            <a:r>
              <a:rPr lang="en-US" dirty="0"/>
              <a:t>pdate | UPDATE</a:t>
            </a:r>
          </a:p>
          <a:p>
            <a:pPr lvl="2"/>
            <a:r>
              <a:rPr lang="en-US" dirty="0"/>
              <a:t>Used to modify existing records in tables within your database</a:t>
            </a:r>
          </a:p>
          <a:p>
            <a:pPr lvl="1"/>
            <a:r>
              <a:rPr lang="en-US" b="1" u="sng" dirty="0"/>
              <a:t>D</a:t>
            </a:r>
            <a:r>
              <a:rPr lang="en-US" dirty="0"/>
              <a:t>elete | DELETE</a:t>
            </a:r>
          </a:p>
          <a:p>
            <a:pPr lvl="2"/>
            <a:r>
              <a:rPr lang="en-US" dirty="0"/>
              <a:t>Used to remove records from tables in your database</a:t>
            </a:r>
          </a:p>
          <a:p>
            <a:r>
              <a:rPr lang="en-US" dirty="0"/>
              <a:t>Data Query Language (DQL)</a:t>
            </a:r>
          </a:p>
          <a:p>
            <a:pPr lvl="1"/>
            <a:r>
              <a:rPr lang="en-US" b="1" u="sng" dirty="0"/>
              <a:t>R</a:t>
            </a:r>
            <a:r>
              <a:rPr lang="en-US" dirty="0"/>
              <a:t>ead | SELECT</a:t>
            </a:r>
          </a:p>
          <a:p>
            <a:pPr lvl="2"/>
            <a:r>
              <a:rPr lang="en-US" dirty="0"/>
              <a:t>Querying data is considered ‘non-transactional’ i.e. it does not change the state of data in your database.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B956D-02D8-4108-B3D8-2EB8D88B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44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25330-57A0-4A2B-A79A-1DDAD21FF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DML 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93E8E-9097-452F-8B38-5310D9A9044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 [col_1, col_2, etc…]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(val_1, val_2, etc…);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&lt;col_1&gt;, &lt;col_2&gt;, etc…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&gt;;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&lt;col_1&gt; = &lt;val_1&gt;,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&lt;col_2&gt; = &lt;val_2&gt;, etc…;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2FE8F-8A06-4000-B7E7-E145B5D43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781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DF6F3-6C75-5558-678A-7DAF69344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57825A-7E08-F49F-19EB-93E1B637A1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F649421-D89B-63BD-FEEC-DAD890A72628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Clauses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3DF773-0BA4-69B5-6469-EA433FD40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8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45CA-6149-4B00-A550-2CCD29AEE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88B50-B820-44D0-B3EC-1980F96B4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90324"/>
            <a:ext cx="8383980" cy="495242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Allows us to limit the rows returned or modified based on some criteria. </a:t>
            </a:r>
          </a:p>
          <a:p>
            <a:r>
              <a:rPr lang="en-US" dirty="0"/>
              <a:t>Used in commands:</a:t>
            </a:r>
          </a:p>
          <a:p>
            <a:pPr lvl="1"/>
            <a:r>
              <a:rPr lang="en-US" dirty="0"/>
              <a:t>UPDATE</a:t>
            </a:r>
          </a:p>
          <a:p>
            <a:pPr lvl="1"/>
            <a:r>
              <a:rPr lang="en-US" dirty="0"/>
              <a:t>DELETE</a:t>
            </a:r>
          </a:p>
          <a:p>
            <a:pPr lvl="1"/>
            <a:r>
              <a:rPr lang="en-US" dirty="0"/>
              <a:t>SELECT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In SELECT statement immediately follows the FROM clause</a:t>
            </a:r>
          </a:p>
          <a:p>
            <a:r>
              <a:rPr lang="en-US" dirty="0"/>
              <a:t>Can use various comparison and logical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B956D-02D8-4108-B3D8-2EB8D88B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643193-D3FF-43E9-8201-4B4CFAC17BB8}"/>
              </a:ext>
            </a:extLst>
          </p:cNvPr>
          <p:cNvSpPr txBox="1"/>
          <p:nvPr/>
        </p:nvSpPr>
        <p:spPr>
          <a:xfrm>
            <a:off x="380010" y="4015964"/>
            <a:ext cx="8469523" cy="38472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1000">
                <a:schemeClr val="bg1"/>
              </a:gs>
              <a:gs pos="35000">
                <a:schemeClr val="bg2"/>
              </a:gs>
              <a:gs pos="100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rtlCol="0">
            <a:spAutoFit/>
          </a:bodyPr>
          <a:lstStyle/>
          <a:p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students </a:t>
            </a:r>
            <a:r>
              <a:rPr lang="en-US" sz="19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graduation = ‘2021-06-01’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3432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41229-82EF-4F5C-A7A5-F188C9F76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31BF0-0210-41CD-BCED-FD070D86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8219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Comparison operators:</a:t>
            </a:r>
          </a:p>
          <a:p>
            <a:pPr lvl="1"/>
            <a:r>
              <a:rPr lang="en-US" dirty="0"/>
              <a:t> =, &gt;, &lt;, &gt;=, &lt;=, != </a:t>
            </a:r>
          </a:p>
          <a:p>
            <a:pPr lvl="1"/>
            <a:r>
              <a:rPr lang="en-US" dirty="0"/>
              <a:t>!= is the same as &lt;&gt;</a:t>
            </a:r>
          </a:p>
          <a:p>
            <a:r>
              <a:rPr lang="en-US" dirty="0"/>
              <a:t>Logical operators: </a:t>
            </a:r>
          </a:p>
          <a:p>
            <a:pPr lvl="1"/>
            <a:r>
              <a:rPr lang="en-US" dirty="0"/>
              <a:t>AND</a:t>
            </a:r>
          </a:p>
          <a:p>
            <a:pPr lvl="1"/>
            <a:r>
              <a:rPr lang="en-US" dirty="0"/>
              <a:t>OR</a:t>
            </a:r>
          </a:p>
          <a:p>
            <a:pPr lvl="1"/>
            <a:r>
              <a:rPr lang="en-US" dirty="0"/>
              <a:t>IN</a:t>
            </a:r>
          </a:p>
          <a:p>
            <a:pPr lvl="1"/>
            <a:r>
              <a:rPr lang="en-US" dirty="0"/>
              <a:t>BETWEEN</a:t>
            </a:r>
          </a:p>
          <a:p>
            <a:pPr lvl="1"/>
            <a:r>
              <a:rPr lang="en-US" dirty="0"/>
              <a:t>LIKE</a:t>
            </a:r>
          </a:p>
          <a:p>
            <a:pPr lvl="1"/>
            <a:r>
              <a:rPr lang="en-US" dirty="0"/>
              <a:t>IS NULL*</a:t>
            </a:r>
          </a:p>
          <a:p>
            <a:pPr lvl="2"/>
            <a:r>
              <a:rPr lang="en-US" dirty="0"/>
              <a:t>*’IS’ NULL would be a quirk of certain SQL dialects. Some allow you to check via ‘=‘ operator.</a:t>
            </a:r>
          </a:p>
          <a:p>
            <a:pPr lvl="1"/>
            <a:r>
              <a:rPr lang="en-US" dirty="0"/>
              <a:t>NOT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2B34F-EF28-4076-9A8A-93E9F34F9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546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625F3-E5F7-45D6-9AAA-2DEC713A8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DF9BB-997C-4F0A-A255-63E80AED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8A517499-CDBC-424F-A68E-1CE7DCEE9D5D}"/>
              </a:ext>
            </a:extLst>
          </p:cNvPr>
          <p:cNvSpPr txBox="1">
            <a:spLocks/>
          </p:cNvSpPr>
          <p:nvPr/>
        </p:nvSpPr>
        <p:spPr>
          <a:xfrm>
            <a:off x="379403" y="3868487"/>
            <a:ext cx="8385175" cy="64633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1000">
                <a:schemeClr val="bg1"/>
              </a:gs>
              <a:gs pos="35000">
                <a:schemeClr val="bg2"/>
              </a:gs>
              <a:gs pos="100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students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graduation BETWEEN </a:t>
            </a:r>
            <a:r>
              <a:rPr lang="en-US" sz="180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‘2021-06-01’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‘2022-05-31’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AD4C34CE-CC57-4BAD-A36A-E43C1FE78C3F}"/>
              </a:ext>
            </a:extLst>
          </p:cNvPr>
          <p:cNvSpPr txBox="1">
            <a:spLocks/>
          </p:cNvSpPr>
          <p:nvPr/>
        </p:nvSpPr>
        <p:spPr>
          <a:xfrm>
            <a:off x="379402" y="1759810"/>
            <a:ext cx="8385175" cy="64633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1000">
                <a:schemeClr val="bg1"/>
              </a:gs>
              <a:gs pos="35000">
                <a:schemeClr val="bg2"/>
              </a:gs>
              <a:gs pos="100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students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graduation = ‘2021-06-01’ AND </a:t>
            </a:r>
            <a:r>
              <a:rPr lang="en-US" sz="18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3.0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EB372E6-4559-4583-B913-0D15E4E32CD1}"/>
              </a:ext>
            </a:extLst>
          </p:cNvPr>
          <p:cNvSpPr txBox="1">
            <a:spLocks/>
          </p:cNvSpPr>
          <p:nvPr/>
        </p:nvSpPr>
        <p:spPr>
          <a:xfrm>
            <a:off x="379404" y="5071050"/>
            <a:ext cx="8385175" cy="369332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1000">
                <a:schemeClr val="bg1"/>
              </a:gs>
              <a:gs pos="35000">
                <a:schemeClr val="bg2"/>
              </a:gs>
              <a:gs pos="100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students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name LIKE ‘B%’;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9AFCC469-6886-4247-A4C5-03F745A9C9AE}"/>
              </a:ext>
            </a:extLst>
          </p:cNvPr>
          <p:cNvSpPr txBox="1">
            <a:spLocks/>
          </p:cNvSpPr>
          <p:nvPr/>
        </p:nvSpPr>
        <p:spPr>
          <a:xfrm>
            <a:off x="379411" y="2868126"/>
            <a:ext cx="8385175" cy="369332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1000">
                <a:schemeClr val="bg1"/>
              </a:gs>
              <a:gs pos="35000">
                <a:schemeClr val="bg2"/>
              </a:gs>
              <a:gs pos="100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students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name IN (‘A’, ‘B’, ‘C’); 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9F26963F-25F0-41B7-ACAF-E11FA7A75C92}"/>
              </a:ext>
            </a:extLst>
          </p:cNvPr>
          <p:cNvSpPr txBox="1">
            <a:spLocks/>
          </p:cNvSpPr>
          <p:nvPr/>
        </p:nvSpPr>
        <p:spPr>
          <a:xfrm>
            <a:off x="379406" y="5994380"/>
            <a:ext cx="8385175" cy="369332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1000">
                <a:schemeClr val="bg1"/>
              </a:gs>
              <a:gs pos="35000">
                <a:schemeClr val="bg2"/>
              </a:gs>
              <a:gs pos="100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students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graduation IS NULL;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70D7D6-E627-45CD-B57F-157A97F77C7D}"/>
              </a:ext>
            </a:extLst>
          </p:cNvPr>
          <p:cNvSpPr txBox="1"/>
          <p:nvPr/>
        </p:nvSpPr>
        <p:spPr>
          <a:xfrm>
            <a:off x="379405" y="5578641"/>
            <a:ext cx="8385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all the records that do not have a set graduation date.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815AC6-8929-4031-A59B-23749319A2BE}"/>
              </a:ext>
            </a:extLst>
          </p:cNvPr>
          <p:cNvSpPr txBox="1"/>
          <p:nvPr/>
        </p:nvSpPr>
        <p:spPr>
          <a:xfrm>
            <a:off x="379403" y="4592715"/>
            <a:ext cx="8385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all the students whose name starts with the letter B.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E7FFED-FE6D-4009-9A7D-930A55993A75}"/>
              </a:ext>
            </a:extLst>
          </p:cNvPr>
          <p:cNvSpPr txBox="1"/>
          <p:nvPr/>
        </p:nvSpPr>
        <p:spPr>
          <a:xfrm>
            <a:off x="379402" y="3297377"/>
            <a:ext cx="8385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all the students that will graduate between June of this year and May of next.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E2C661-EB1E-4275-BFD9-8F240A15BD32}"/>
              </a:ext>
            </a:extLst>
          </p:cNvPr>
          <p:cNvSpPr txBox="1"/>
          <p:nvPr/>
        </p:nvSpPr>
        <p:spPr>
          <a:xfrm>
            <a:off x="379402" y="2449879"/>
            <a:ext cx="8385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all the records that whose name is ‘A’, ‘B’ or ‘C’.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4B0DF1-E884-46E3-BBFB-68A248E83D49}"/>
              </a:ext>
            </a:extLst>
          </p:cNvPr>
          <p:cNvSpPr txBox="1"/>
          <p:nvPr/>
        </p:nvSpPr>
        <p:spPr>
          <a:xfrm>
            <a:off x="379401" y="1158970"/>
            <a:ext cx="8385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all the students that will graduate on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‘2021-06-01’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cs typeface="Courier New" panose="02070309020205020404" pitchFamily="49" charset="0"/>
              </a:rPr>
              <a:t>and have a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  <a:cs typeface="Courier New" panose="02070309020205020404" pitchFamily="49" charset="0"/>
              </a:rPr>
              <a:t>gpa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cs typeface="Courier New" panose="02070309020205020404" pitchFamily="49" charset="0"/>
              </a:rPr>
              <a:t> greater than 3.0.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55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6" grpId="0" uiExpand="1" build="p" animBg="1"/>
      <p:bldP spid="7" grpId="0" uiExpand="1" build="p" animBg="1"/>
      <p:bldP spid="8" grpId="0" uiExpand="1" build="p" animBg="1"/>
      <p:bldP spid="9" grpId="0" uiExpand="1" build="p" animBg="1"/>
      <p:bldP spid="10" grpId="0" uiExpand="1" build="p" animBg="1"/>
      <p:bldP spid="12" grpId="0" build="p"/>
      <p:bldP spid="15" grpId="0" build="p"/>
      <p:bldP spid="16" grpId="0" build="p"/>
      <p:bldP spid="17" grpId="0" build="p"/>
      <p:bldP spid="20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F9AAA-9B2E-4F16-882A-AC36E5501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0DE2E-51CF-4ECF-8FB3-115C0AB01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give alternative names for columns and tables.</a:t>
            </a:r>
          </a:p>
          <a:p>
            <a:r>
              <a:rPr lang="en-US" dirty="0"/>
              <a:t>May use the AS keyword. </a:t>
            </a:r>
          </a:p>
          <a:p>
            <a:r>
              <a:rPr lang="en-US" dirty="0"/>
              <a:t>Alternatively, may just specify the alias immediately after the database object name.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2D497-17D1-45A8-A498-3549C1DF9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6586F1-01B2-474E-97FD-927EBDC41065}"/>
              </a:ext>
            </a:extLst>
          </p:cNvPr>
          <p:cNvSpPr txBox="1">
            <a:spLocks/>
          </p:cNvSpPr>
          <p:nvPr/>
        </p:nvSpPr>
        <p:spPr>
          <a:xfrm>
            <a:off x="268624" y="3980248"/>
            <a:ext cx="8385175" cy="156966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1000">
                <a:schemeClr val="bg1"/>
              </a:gs>
              <a:gs pos="35000">
                <a:schemeClr val="bg2"/>
              </a:gs>
              <a:gs pos="100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SELECT MAX(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grades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graduation FROM students 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School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GROUP BY graduation HAVING MAX(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)&lt;= 2.0 ORDER BY graduation ASC; 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5FC240F-28D7-409A-BDD6-DB72150F22CC}"/>
              </a:ext>
            </a:extLst>
          </p:cNvPr>
          <p:cNvSpPr txBox="1">
            <a:spLocks/>
          </p:cNvSpPr>
          <p:nvPr/>
        </p:nvSpPr>
        <p:spPr>
          <a:xfrm>
            <a:off x="268625" y="5681031"/>
            <a:ext cx="8385175" cy="83099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1000">
                <a:schemeClr val="bg1"/>
              </a:gs>
              <a:gs pos="35000">
                <a:schemeClr val="bg2"/>
              </a:gs>
              <a:gs pos="100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SELECT MAX(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grades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graduation FROM students </a:t>
            </a:r>
            <a:r>
              <a:rPr lang="en-US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School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GROUP BY graduation;</a:t>
            </a:r>
            <a:endParaRPr lang="en-US" sz="2400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45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1880</TotalTime>
  <Words>1474</Words>
  <Application>Microsoft Office PowerPoint</Application>
  <PresentationFormat>On-screen Show (4:3)</PresentationFormat>
  <Paragraphs>264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Courier New</vt:lpstr>
      <vt:lpstr>Revature</vt:lpstr>
      <vt:lpstr>SQL Foundations</vt:lpstr>
      <vt:lpstr>Outline</vt:lpstr>
      <vt:lpstr>PowerPoint Presentation</vt:lpstr>
      <vt:lpstr>Databases</vt:lpstr>
      <vt:lpstr>PowerPoint Presentation</vt:lpstr>
      <vt:lpstr>RDBMS</vt:lpstr>
      <vt:lpstr>Database Structure</vt:lpstr>
      <vt:lpstr>More on Schemas</vt:lpstr>
      <vt:lpstr>SQL Naming Conventions</vt:lpstr>
      <vt:lpstr>PowerPoint Presentation</vt:lpstr>
      <vt:lpstr>ERD</vt:lpstr>
      <vt:lpstr>ERD</vt:lpstr>
      <vt:lpstr>PowerPoint Presentation</vt:lpstr>
      <vt:lpstr>Structured Query Language</vt:lpstr>
      <vt:lpstr>Benefits of SQL</vt:lpstr>
      <vt:lpstr>PowerPoint Presentation</vt:lpstr>
      <vt:lpstr>Datatypes</vt:lpstr>
      <vt:lpstr>PowerPoint Presentation</vt:lpstr>
      <vt:lpstr>Sublanguages of SQL</vt:lpstr>
      <vt:lpstr>Helpful Resources</vt:lpstr>
      <vt:lpstr>PowerPoint Presentation</vt:lpstr>
      <vt:lpstr>Data Definition Language</vt:lpstr>
      <vt:lpstr>Tables Example</vt:lpstr>
      <vt:lpstr>Create a Table</vt:lpstr>
      <vt:lpstr>PowerPoint Presentation</vt:lpstr>
      <vt:lpstr>Data Manipulation Language Data Query Language</vt:lpstr>
      <vt:lpstr>DML Keywords</vt:lpstr>
      <vt:lpstr>PowerPoint Presentation</vt:lpstr>
      <vt:lpstr>WHERE clause </vt:lpstr>
      <vt:lpstr>WHERE continued</vt:lpstr>
      <vt:lpstr>Examples</vt:lpstr>
      <vt:lpstr>ALIASES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Introduction</dc:title>
  <dc:creator>Bryn Portella</dc:creator>
  <cp:lastModifiedBy>Joseph Highe</cp:lastModifiedBy>
  <cp:revision>12</cp:revision>
  <dcterms:created xsi:type="dcterms:W3CDTF">2021-04-16T18:32:15Z</dcterms:created>
  <dcterms:modified xsi:type="dcterms:W3CDTF">2026-06-24T16:44:50Z</dcterms:modified>
</cp:coreProperties>
</file>